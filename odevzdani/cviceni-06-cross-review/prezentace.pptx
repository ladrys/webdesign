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s] Toto je metodická šablona, ne dokončené hodnocení cizího webu. Přidělený projekt ani jeho specifikace nebyly poskytnuty. Připravený je postup, dvě metody a struktura evidence; po skutečném hodnocení musíme doplnit identitu cizího projektu a tři až pět ověřených nálezů. Jeho hodnoty nenahrazujeme zjištěními z našeho festivalu. Následující poznámky slouží jako osnova pro přibližně čtyřminutovou prezentaci po vyplnění.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 po doplnění] Uveďte název cizího projektu a verzi, kterou jste opravdu hodnotili. Převezměte dva scénáře z jeho specifikace a řekněte, co mělo být výsledkem. Doplňte datum a podmínky provedení. Nepoužívejte dnešní datum nebo jména jako náhradu za neprovedené hodnocení. Připravená šablona je pouze současný výstup přípravy; po provedení tento bod nahraďte konkrétním pokrokem od minulého cvičení. Rozhodněte, které nálezy mají největší dopad na dokončení scénářů.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s] Heuristické hodnocení přiřazuje zjištění ke konkrétním pravidlům, ne k osobnímu vkusu. Při kognitivním průchodu se u každého kroku ptáme, zda uživatel zná cíl, najde správný prvek, spojí si ho s cílem a pozná správný výsledek. Metody se doplňují: první hledá opakující se problémy rozhraní, druhá překážky konkrétního úkolu. Do skutečné prezentace doplňte, kde každá metoda vedla k nálezu. Expertní průchod nezaměňujte za experiment s reprezentativním vzorkem uživatelů.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s] U každého nálezu doplňte reprodukovatelné kroky a důkaz, například screenshot s kontextem. Závažnost se odvozuje od dopadu: kritická chyba brání klíčovému úkolu bez rozumné náhrady, významná způsobuje chyby nebo nejistotu a drobná nebrání dosažení cíle. Samotné chybějící slovo bez kontextu není automaticky kritický problém. Každý návrh opravy spojte s příčinou. Rozlišujte mezi problémem použitelnosti a grafickou preferencí. Přesný formulář je připraven v 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[60–90 s po doplnění] Nahraďte tento snímek třemi až pěti skutečnými nálezy cizího projektu. Pro každý stručně řekněte, co se stalo, proč to uživateli vadí a jak problém opravit. Nejzávažnější příklad podpořte krátkou ukázkou nebo screenshotem; pokud potřebujete, použijte více místa a zkraťte ostatní snímky. V této šabloně žádné nálezy nejsou a R01 až R05 nejsou tvrzením o existenci chyb. Celý projev včetně ukázek má zůstat do pěti minut.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 s po doplnění] AI pomohla připravit tuto metodiku a formulář. Nenahrazuje pozorování cizího projektu a v tuto chvíli z ní nepochází ověřené nálezy. Při skutečném review uveďte konkrétní návrh AI, jeho kontrolu a přijetí či odmítnutí. Například domnělý problém můžete odmítnout, pokud opakovaný průchod ukáže správnou cestu. Na závěr doporučte pořadí oprav podle dopadu. Před odevzdáním šablonu nahraďte skutečným review a zkontrolujte důkazy i čas prezentace.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55000" y="0"/>
            <a:ext cx="3937000" cy="6858000"/>
          </a:xfrm>
          <a:prstGeom prst="rect">
            <a:avLst/>
          </a:prstGeom>
          <a:solidFill>
            <a:srgbClr val="1D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55000" y="0"/>
            <a:ext cx="39370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4610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400" b="1">
                <a:solidFill>
                  <a:srgbClr val="FF885D"/>
                </a:solidFill>
                <a:latin typeface="Arial"/>
              </a:defRPr>
            </a:pPr>
            <a:r>
              <a:t>CVIČENÍ 06 · K DOPLNĚNÍ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193800"/>
            <a:ext cx="10985500" cy="187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6467"/>
              </a:lnSpc>
              <a:spcAft>
                <a:spcPts val="0"/>
              </a:spcAft>
              <a:defRPr sz="6600" b="1">
                <a:solidFill>
                  <a:srgbClr val="F5F6FA"/>
                </a:solidFill>
                <a:latin typeface="Arial"/>
              </a:defRPr>
            </a:pPr>
            <a:r>
              <a:t>PRAGUE</a:t>
            </a:r>
          </a:p>
          <a:p>
            <a:pPr>
              <a:lnSpc>
                <a:spcPts val="6467"/>
              </a:lnSpc>
              <a:spcAft>
                <a:spcPts val="0"/>
              </a:spcAft>
              <a:defRPr sz="6600" b="1">
                <a:solidFill>
                  <a:srgbClr val="F5F6FA"/>
                </a:solidFill>
                <a:latin typeface="Arial"/>
              </a:defRPr>
            </a:pPr>
            <a:r>
              <a:t>PULSE FEST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492500"/>
            <a:ext cx="10858500" cy="1092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28"/>
              </a:lnSpc>
              <a:spcAft>
                <a:spcPts val="0"/>
              </a:spcAft>
              <a:defRPr sz="3800" b="1">
                <a:solidFill>
                  <a:srgbClr val="FF885D"/>
                </a:solidFill>
                <a:latin typeface="Arial"/>
              </a:defRPr>
            </a:pPr>
            <a:r>
              <a:t>Cross-review: šablona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889500"/>
            <a:ext cx="10858500" cy="825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13"/>
              </a:lnSpc>
              <a:spcAft>
                <a:spcPts val="0"/>
              </a:spcAft>
              <a:defRPr sz="2300" b="0">
                <a:solidFill>
                  <a:srgbClr val="B7BFCC"/>
                </a:solidFill>
                <a:latin typeface="Arial"/>
              </a:defRPr>
            </a:pPr>
            <a:r>
              <a:t>Prague Pulse Fest · 1.–3. srpna 2027</a:t>
            </a:r>
          </a:p>
          <a:p>
            <a:pPr>
              <a:lnSpc>
                <a:spcPts val="2713"/>
              </a:lnSpc>
              <a:spcAft>
                <a:spcPts val="0"/>
              </a:spcAft>
              <a:defRPr sz="2300" b="0">
                <a:solidFill>
                  <a:srgbClr val="B7BFCC"/>
                </a:solidFill>
                <a:latin typeface="Arial"/>
              </a:defRPr>
            </a:pPr>
            <a:r>
              <a:t>Výstaviště Praha · fiktivní festival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880100"/>
            <a:ext cx="10972800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24"/>
              </a:lnSpc>
              <a:spcAft>
                <a:spcPts val="0"/>
              </a:spcAft>
              <a:defRPr sz="1800" b="0">
                <a:solidFill>
                  <a:srgbClr val="F5F6FA"/>
                </a:solidFill>
                <a:latin typeface="Arial"/>
              </a:defRPr>
            </a:pPr>
            <a:r>
              <a:t>Michal Ladra · Matěj Mlejnek · Jan Martínek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6273800"/>
            <a:ext cx="10972800" cy="12700"/>
          </a:xfrm>
          <a:prstGeom prst="rect">
            <a:avLst/>
          </a:prstGeom>
          <a:solidFill>
            <a:srgbClr val="3D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6464300"/>
            <a:ext cx="9906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0">
                <a:solidFill>
                  <a:srgbClr val="B7BFCC"/>
                </a:solidFill>
                <a:latin typeface="Arial"/>
              </a:defRPr>
            </a:pPr>
            <a:r>
              <a:t>ŠABLONA · doplnit skutečný cizí projekt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8900"/>
            <a:ext cx="6096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0">
                <a:solidFill>
                  <a:srgbClr val="B7BFCC"/>
                </a:solidFill>
                <a:latin typeface="Arial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44500"/>
            <a:ext cx="109728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1">
                <a:solidFill>
                  <a:srgbClr val="B7BFCC"/>
                </a:solidFill>
                <a:latin typeface="Arial"/>
              </a:defRPr>
            </a:pPr>
            <a:r>
              <a:t>VYPLNIT PODLE SKUTEČNÉHO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76300"/>
            <a:ext cx="685800" cy="508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4200" y="1206500"/>
            <a:ext cx="10998200" cy="1130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32"/>
              </a:lnSpc>
              <a:spcAft>
                <a:spcPts val="0"/>
              </a:spcAft>
              <a:defRPr sz="3600" b="1">
                <a:solidFill>
                  <a:srgbClr val="F5F6FA"/>
                </a:solidFill>
                <a:latin typeface="Arial"/>
              </a:defRPr>
            </a:pPr>
            <a:r>
              <a:t>Podklady a podmínky hodnocení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200" y="23368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800" y="22098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Hodnocený projekt, tým a přesná verze: doplnit.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1200" y="30099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28829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Dva scénáře z jeho specifikace: doplnit.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200" y="36830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800" y="35560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Datum, hodnotitelé, prohlížeč a rozlišení: doplnit.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200" y="43561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6800" y="42291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Od minula: připravena metodika a záznamový formulář.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6273800"/>
            <a:ext cx="10972800" cy="12700"/>
          </a:xfrm>
          <a:prstGeom prst="rect">
            <a:avLst/>
          </a:prstGeom>
          <a:solidFill>
            <a:srgbClr val="3D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6464300"/>
            <a:ext cx="9906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0">
                <a:solidFill>
                  <a:srgbClr val="B7BFCC"/>
                </a:solidFill>
                <a:latin typeface="Arial"/>
              </a:defRPr>
            </a:pPr>
            <a:r>
              <a:t>ŠABLONA · doplnit skutečný cizí projekt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38900"/>
            <a:ext cx="6096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0">
                <a:solidFill>
                  <a:srgbClr val="B7BFCC"/>
                </a:solidFill>
                <a:latin typeface="Arial"/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44500"/>
            <a:ext cx="109728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1">
                <a:solidFill>
                  <a:srgbClr val="B7BFCC"/>
                </a:solidFill>
                <a:latin typeface="Arial"/>
              </a:defRPr>
            </a:pPr>
            <a:r>
              <a:t>JAK HODNOCENÍ PROVÉST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76300"/>
            <a:ext cx="685800" cy="508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4200" y="1206500"/>
            <a:ext cx="10998200" cy="1130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32"/>
              </a:lnSpc>
              <a:spcAft>
                <a:spcPts val="0"/>
              </a:spcAft>
              <a:defRPr sz="3600" b="1">
                <a:solidFill>
                  <a:srgbClr val="F5F6FA"/>
                </a:solidFill>
                <a:latin typeface="Arial"/>
              </a:defRPr>
            </a:pPr>
            <a:r>
              <a:t>Dvě formalizované metody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200" y="23368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800" y="22098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Nielsenovy heuristiky: stav, konzistence a prevence chyb.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1200" y="30099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28829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Kognitivní průchod: dva scénáře krok za krokem.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200" y="36830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800" y="35560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U kroku: cíl → nalezení ovládání → akce → zpětná vazba.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200" y="43561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6800" y="42291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Doplnit mobil, klávesnici a prázdné či chybové stavy.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6273800"/>
            <a:ext cx="10972800" cy="12700"/>
          </a:xfrm>
          <a:prstGeom prst="rect">
            <a:avLst/>
          </a:prstGeom>
          <a:solidFill>
            <a:srgbClr val="3D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6464300"/>
            <a:ext cx="9906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0">
                <a:solidFill>
                  <a:srgbClr val="B7BFCC"/>
                </a:solidFill>
                <a:latin typeface="Arial"/>
              </a:defRPr>
            </a:pPr>
            <a:r>
              <a:t>ŠABLONA · doplnit skutečný cizí projekt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38900"/>
            <a:ext cx="6096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0">
                <a:solidFill>
                  <a:srgbClr val="B7BFCC"/>
                </a:solidFill>
                <a:latin typeface="Arial"/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44500"/>
            <a:ext cx="109728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1">
                <a:solidFill>
                  <a:srgbClr val="B7BFCC"/>
                </a:solidFill>
                <a:latin typeface="Arial"/>
              </a:defRPr>
            </a:pPr>
            <a:r>
              <a:t>POŽADOVANÁ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76300"/>
            <a:ext cx="685800" cy="508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4200" y="1206500"/>
            <a:ext cx="10998200" cy="1130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32"/>
              </a:lnSpc>
              <a:spcAft>
                <a:spcPts val="0"/>
              </a:spcAft>
              <a:defRPr sz="3600" b="1">
                <a:solidFill>
                  <a:srgbClr val="F5F6FA"/>
                </a:solidFill>
                <a:latin typeface="Arial"/>
              </a:defRPr>
            </a:pPr>
            <a:r>
              <a:t>Jak zapsat nález a jeho závažnost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200" y="23368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800" y="22098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Stránka a kroky → očekávaný a skutečný výsledek.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1200" y="30099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28829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Metoda, důkaz a dopad na uživatelův cíl.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200" y="36830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800" y="35560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Kritický: blokuje cíl; významný: zásadně komplikuje cestu.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200" y="43561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6800" y="42291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Drobný: místní problém; vždy připojit návrh opravy.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6273800"/>
            <a:ext cx="10972800" cy="12700"/>
          </a:xfrm>
          <a:prstGeom prst="rect">
            <a:avLst/>
          </a:prstGeom>
          <a:solidFill>
            <a:srgbClr val="3D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6464300"/>
            <a:ext cx="9906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0">
                <a:solidFill>
                  <a:srgbClr val="B7BFCC"/>
                </a:solidFill>
                <a:latin typeface="Arial"/>
              </a:defRPr>
            </a:pPr>
            <a:r>
              <a:t>ŠABLONA · doplnit skutečný cizí projekt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38900"/>
            <a:ext cx="6096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0">
                <a:solidFill>
                  <a:srgbClr val="B7BFCC"/>
                </a:solidFill>
                <a:latin typeface="Arial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44500"/>
            <a:ext cx="109728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1">
                <a:solidFill>
                  <a:srgbClr val="B7BFCC"/>
                </a:solidFill>
                <a:latin typeface="Arial"/>
              </a:defRPr>
            </a:pPr>
            <a:r>
              <a:t>DOPLNIT SKUTEČNÉ VÝSLEDKY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76300"/>
            <a:ext cx="685800" cy="508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4200" y="1206500"/>
            <a:ext cx="10998200" cy="1130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32"/>
              </a:lnSpc>
              <a:spcAft>
                <a:spcPts val="0"/>
              </a:spcAft>
              <a:defRPr sz="3600" b="1">
                <a:solidFill>
                  <a:srgbClr val="F5F6FA"/>
                </a:solidFill>
                <a:latin typeface="Arial"/>
              </a:defRPr>
            </a:pPr>
            <a:r>
              <a:t>Tři až pět hlavních nálezů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200" y="23368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800" y="22098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R01: problém, závažnost, důkaz a doporučení — doplnit.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1200" y="30099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28829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R02: problém, závažnost, důkaz a doporučení — doplnit.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200" y="36830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800" y="35560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R03: problém, závažnost, důkaz a doporučení — doplnit.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200" y="43561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6800" y="42291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R04–R05: přidat pouze ověřené a podstatné nálezy.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6273800"/>
            <a:ext cx="10972800" cy="12700"/>
          </a:xfrm>
          <a:prstGeom prst="rect">
            <a:avLst/>
          </a:prstGeom>
          <a:solidFill>
            <a:srgbClr val="3D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6464300"/>
            <a:ext cx="9906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0">
                <a:solidFill>
                  <a:srgbClr val="B7BFCC"/>
                </a:solidFill>
                <a:latin typeface="Arial"/>
              </a:defRPr>
            </a:pPr>
            <a:r>
              <a:t>ŠABLONA · doplnit skutečný cizí projekt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38900"/>
            <a:ext cx="6096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0">
                <a:solidFill>
                  <a:srgbClr val="B7BFCC"/>
                </a:solidFill>
                <a:latin typeface="Arial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44500"/>
            <a:ext cx="109728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1">
                <a:solidFill>
                  <a:srgbClr val="B7BFCC"/>
                </a:solidFill>
                <a:latin typeface="Arial"/>
              </a:defRPr>
            </a:pPr>
            <a:r>
              <a:t>DOPLNIT PODLE PROVEDENÉ PRÁCE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76300"/>
            <a:ext cx="685800" cy="508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4200" y="1206500"/>
            <a:ext cx="10998200" cy="1130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32"/>
              </a:lnSpc>
              <a:spcAft>
                <a:spcPts val="0"/>
              </a:spcAft>
              <a:defRPr sz="3600" b="1">
                <a:solidFill>
                  <a:srgbClr val="F5F6FA"/>
                </a:solidFill>
                <a:latin typeface="Arial"/>
              </a:defRPr>
            </a:pPr>
            <a:r>
              <a:t>AI a vlastní ověření nálezů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200" y="23368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800" y="22098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AI nyní: návrh metodiky a struktury formuláře.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1200" y="30099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28829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Každý budoucí nález zopakovat na hodnoceném webu.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200" y="36830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800" y="35560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Zapsat přijatý, upravený i odmítnutý návrh AI a důvod.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200" y="43561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6800" y="42291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Závěr po doplnění: doporučit priority oprav cizímu týmu.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6273800"/>
            <a:ext cx="10972800" cy="12700"/>
          </a:xfrm>
          <a:prstGeom prst="rect">
            <a:avLst/>
          </a:prstGeom>
          <a:solidFill>
            <a:srgbClr val="3D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6464300"/>
            <a:ext cx="9906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0">
                <a:solidFill>
                  <a:srgbClr val="B7BFCC"/>
                </a:solidFill>
                <a:latin typeface="Arial"/>
              </a:defRPr>
            </a:pPr>
            <a:r>
              <a:t>ŠABLONA · doplnit skutečný cizí projekt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38900"/>
            <a:ext cx="6096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0">
                <a:solidFill>
                  <a:srgbClr val="B7BFCC"/>
                </a:solidFill>
                <a:latin typeface="Arial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Prague Pulse Fest — cvičení 06: Cross-review — šablona k doplnění</dc:title>
  <dc:subject>Dodatečně připravený milník podle zadání; nikoli doložená historie semestru.</dc:subject>
  <dc:creator>Michal Ladra, Matěj Mlejnek, Jan Martínek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