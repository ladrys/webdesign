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Tato prezentace je metodická příprava. Nemáme přidělený cizí web ani jeho specifikaci, a proto nemůžeme poctivě uvést skutečné nálezy. Před prezentací výsledků je nutné doplnit hodnocený projekt, verzi, podmínky a reálně provedené scénáře. Šablona ukazuje, jak použijeme dvě formalizované metody a jak budeme posuzovat závažnost. Není vhodné ji odevzdat jako hotové splnění cvičení šest bez doplnění výsledků. Na závěr jasně odlišíme příklady vlastního ověření od peer review. Audiozpětná vazba našeho zadavatele není hodnocením přiděleného cizího projektu a chybějící posudek nenahrazuje.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Heuristická evaluace posoudí obecné principy použitelnosti, například viditelnost stavu, konzistenci a prevenci chyb. Každý hodnotitel projde web samostatně a nálezy poté sjednotíme. Kognitivní průchod sleduje konkrétní úkol: zda uživatel ví, co chce udělat, všimne si správného ovládání, spojí jej s cílem a pozná úspěch. Vybereme dva scénáře z cizí specifikace, nikoli z našeho festivalu. Doplníme mobilní zobrazení a klávesnici. Expertní odhad nevydáváme za test s reprezentativními uživateli.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Stupnici je vhodné sjednotit před hodnocením. Kritický problém znemožní důležitý úkol, významný způsobuje chyby nebo zásadní nejistotu, drobný má omezený místní dopad. Nestačí každé nepohodlí označit za kritické. U nálezu vysvětlíme, komu brání, v jaké situaci a zda existuje obcházení. Pokud se neshodneme, vrátíme se ke scénáři a důkazu. Doporučení se pak řadí podle dopadu a ne podle toho, který problém nejvíce zaujal na screenshotu.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Každý nález potřebuje stránku a přesné kroky. Doplníme očekávaný a skutečný stav a screenshot nebo jiný důkaz. Propojíme jej s heuristikou nebo konkrétní otázkou kognitivního průchodu. Závažnost zdůvodníme dopadem na úkol a navrhneme změnu, která problém řeší. U prezentace vybereme tři až pět nejsilnějších reálných nálezů. V této připravené verzi jejich místa zůstávají nedoplněná, protože cizí projekt nebyl předán. Prázdné výsledky nelze nahradit věrohodně znějícími domněnkami.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vlastním projektu lze ukázat rozdíl mezi důkazem a tvrzením. Datový validátor skutečně spočítá entity a ověří reference, ale nezměří srozumitelnost rozhraní. Architektura localStorage dokládá místní ukládání, nikoli sdílené účty. A absence cizího webu znamená, že peer review není provedeno. Tyto příklady jsou označené jako vlastní ověření Prague Pulse Fest a nesmějí se objevit v tabulce nálezů jiného týmu. Po přidělení projektu je nahradíme skutečně pozorovanými případy.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dokončení potřebujeme skutečný cizí projekt, jeho specifikaci a klíčové scénáře. Potom doplníme identifikaci verze, podmínky, dva průchody a tři až pět reálných nálezů. Zkontrolujeme shodu tabulky review a prezentace. AI může pomoci se stručností, strukturou a návrhem otázek, ale nesmí vytvářet neověřené problémy ani výpovědi testerů. Hodnotitel má každý nález osobně zopakovat. Takto připravené review bude konkrétní, spravedlivé a použitelné pro změny hodnoceného projektu.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851900" y="0"/>
            <a:ext cx="3340100" cy="68580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3400" y="381000"/>
            <a:ext cx="2476500" cy="350113"/>
          </a:xfrm>
          <a:prstGeom prst="rect">
            <a:avLst/>
          </a:prstGeom>
          <a:noFill/>
        </p:spPr>
        <p:txBody>
          <a:bodyPr wrap="none" lIns="0" rIns="0" tIns="0" bIns="0">
            <a:spAutoFit/>
          </a:bodyPr>
          <a:lstStyle/>
          <a:p>
            <a:pPr>
              <a:lnSpc>
                <a:spcPts val="2256"/>
              </a:lnSpc>
              <a:spcAft>
                <a:spcPts val="0"/>
              </a:spcAft>
              <a:defRPr sz="1820" b="1">
                <a:solidFill>
                  <a:srgbClr val="F4F0E7"/>
                </a:solidFill>
                <a:latin typeface="Arial"/>
              </a:defRPr>
            </a:pPr>
            <a:r>
              <a:t>PRAGUE</a:t>
            </a:r>
          </a:p>
        </p:txBody>
      </p:sp>
      <p:sp>
        <p:nvSpPr>
          <p:cNvPr id="5" name="TextBox 4"/>
          <p:cNvSpPr txBox="1"/>
          <p:nvPr/>
        </p:nvSpPr>
        <p:spPr>
          <a:xfrm>
            <a:off x="533400" y="628650"/>
            <a:ext cx="2476500" cy="513892"/>
          </a:xfrm>
          <a:prstGeom prst="rect">
            <a:avLst/>
          </a:prstGeom>
          <a:noFill/>
        </p:spPr>
        <p:txBody>
          <a:bodyPr wrap="none" lIns="0" rIns="0" tIns="0" bIns="0">
            <a:spAutoFit/>
          </a:bodyPr>
          <a:lstStyle/>
          <a:p>
            <a:pPr>
              <a:lnSpc>
                <a:spcPts val="3546"/>
              </a:lnSpc>
              <a:spcAft>
                <a:spcPts val="0"/>
              </a:spcAft>
              <a:defRPr sz="2860" b="1">
                <a:solidFill>
                  <a:srgbClr val="F4F0E7"/>
                </a:solidFill>
                <a:latin typeface="Arial"/>
              </a:defRPr>
            </a:pPr>
            <a:r>
              <a:t>PULSE</a:t>
            </a:r>
          </a:p>
        </p:txBody>
      </p:sp>
      <p:sp>
        <p:nvSpPr>
          <p:cNvPr id="6" name="TextBox 5"/>
          <p:cNvSpPr txBox="1"/>
          <p:nvPr/>
        </p:nvSpPr>
        <p:spPr>
          <a:xfrm>
            <a:off x="533400" y="1041400"/>
            <a:ext cx="2641600" cy="196570"/>
          </a:xfrm>
          <a:prstGeom prst="rect">
            <a:avLst/>
          </a:prstGeom>
          <a:noFill/>
        </p:spPr>
        <p:txBody>
          <a:bodyPr wrap="none" lIns="0" rIns="0" tIns="0" bIns="0">
            <a:spAutoFit/>
          </a:bodyPr>
          <a:lstStyle/>
          <a:p>
            <a:pPr>
              <a:lnSpc>
                <a:spcPts val="1047"/>
              </a:lnSpc>
              <a:spcAft>
                <a:spcPts val="0"/>
              </a:spcAft>
              <a:defRPr sz="845" b="1">
                <a:solidFill>
                  <a:srgbClr val="F4F0E7"/>
                </a:solidFill>
                <a:latin typeface="Arial"/>
              </a:defRPr>
            </a:pPr>
            <a:r>
              <a:t>FEST / 2027</a:t>
            </a:r>
          </a:p>
        </p:txBody>
      </p:sp>
      <p:sp>
        <p:nvSpPr>
          <p:cNvPr id="7" name="TextBox 6"/>
          <p:cNvSpPr txBox="1"/>
          <p:nvPr/>
        </p:nvSpPr>
        <p:spPr>
          <a:xfrm>
            <a:off x="533400" y="1536700"/>
            <a:ext cx="7874000" cy="236728"/>
          </a:xfrm>
          <a:prstGeom prst="rect">
            <a:avLst/>
          </a:prstGeom>
          <a:noFill/>
        </p:spPr>
        <p:txBody>
          <a:bodyPr wrap="none" lIns="0" rIns="0" tIns="0" bIns="0">
            <a:spAutoFit/>
          </a:bodyPr>
          <a:lstStyle/>
          <a:p>
            <a:pPr>
              <a:lnSpc>
                <a:spcPts val="1364"/>
              </a:lnSpc>
              <a:spcAft>
                <a:spcPts val="0"/>
              </a:spcAft>
              <a:defRPr sz="1100" b="1">
                <a:solidFill>
                  <a:srgbClr val="F4F0E7"/>
                </a:solidFill>
                <a:latin typeface="Arial"/>
              </a:defRPr>
            </a:pPr>
            <a:r>
              <a:t>CVIČENÍ 06 / METODICKÁ ŠABLONA</a:t>
            </a:r>
          </a:p>
        </p:txBody>
      </p:sp>
      <p:sp>
        <p:nvSpPr>
          <p:cNvPr id="8" name="TextBox 7"/>
          <p:cNvSpPr txBox="1"/>
          <p:nvPr/>
        </p:nvSpPr>
        <p:spPr>
          <a:xfrm>
            <a:off x="482600" y="2133600"/>
            <a:ext cx="8001000" cy="2095500"/>
          </a:xfrm>
          <a:prstGeom prst="rect">
            <a:avLst/>
          </a:prstGeom>
          <a:noFill/>
        </p:spPr>
        <p:txBody>
          <a:bodyPr wrap="none" lIns="0" rIns="0" tIns="0" bIns="0">
            <a:spAutoFit/>
          </a:bodyPr>
          <a:lstStyle/>
          <a:p>
            <a:pPr>
              <a:lnSpc>
                <a:spcPts val="5830"/>
              </a:lnSpc>
              <a:spcAft>
                <a:spcPts val="0"/>
              </a:spcAft>
              <a:defRPr sz="5500" b="1">
                <a:solidFill>
                  <a:srgbClr val="F4F0E7"/>
                </a:solidFill>
                <a:latin typeface="Arial"/>
              </a:defRPr>
            </a:pPr>
            <a:r>
              <a:t>Review potřebuje</a:t>
            </a:r>
          </a:p>
          <a:p>
            <a:pPr>
              <a:lnSpc>
                <a:spcPts val="5830"/>
              </a:lnSpc>
              <a:spcAft>
                <a:spcPts val="0"/>
              </a:spcAft>
              <a:defRPr sz="5500" b="1">
                <a:solidFill>
                  <a:srgbClr val="F4F0E7"/>
                </a:solidFill>
                <a:latin typeface="Arial"/>
              </a:defRPr>
            </a:pPr>
            <a:r>
              <a:t>skutečný důkaz.</a:t>
            </a:r>
          </a:p>
        </p:txBody>
      </p:sp>
      <p:sp>
        <p:nvSpPr>
          <p:cNvPr id="9" name="TextBox 8"/>
          <p:cNvSpPr txBox="1"/>
          <p:nvPr/>
        </p:nvSpPr>
        <p:spPr>
          <a:xfrm>
            <a:off x="533400" y="4724400"/>
            <a:ext cx="7747000" cy="1104900"/>
          </a:xfrm>
          <a:prstGeom prst="rect">
            <a:avLst/>
          </a:prstGeom>
          <a:noFill/>
        </p:spPr>
        <p:txBody>
          <a:bodyPr wrap="none" lIns="0" rIns="0" tIns="0" bIns="0">
            <a:spAutoFit/>
          </a:bodyPr>
          <a:lstStyle/>
          <a:p>
            <a:pPr>
              <a:lnSpc>
                <a:spcPts val="2356"/>
              </a:lnSpc>
              <a:spcAft>
                <a:spcPts val="0"/>
              </a:spcAft>
              <a:defRPr sz="1900" b="0">
                <a:solidFill>
                  <a:srgbClr val="F4F0E7"/>
                </a:solidFill>
                <a:latin typeface="Arial"/>
              </a:defRPr>
            </a:pPr>
            <a:r>
              <a:t>Cizí projekt dosud nebyl poskytnut.</a:t>
            </a:r>
          </a:p>
          <a:p>
            <a:pPr>
              <a:lnSpc>
                <a:spcPts val="2356"/>
              </a:lnSpc>
              <a:spcAft>
                <a:spcPts val="0"/>
              </a:spcAft>
              <a:defRPr sz="1900" b="0">
                <a:solidFill>
                  <a:srgbClr val="F4F0E7"/>
                </a:solidFill>
                <a:latin typeface="Arial"/>
              </a:defRPr>
            </a:pPr>
            <a:r>
              <a:t>Toto nejsou hotové výsledky peer review.</a:t>
            </a:r>
          </a:p>
        </p:txBody>
      </p:sp>
      <p:sp>
        <p:nvSpPr>
          <p:cNvPr id="10" name="TextBox 9"/>
          <p:cNvSpPr txBox="1"/>
          <p:nvPr/>
        </p:nvSpPr>
        <p:spPr>
          <a:xfrm>
            <a:off x="9220200" y="889000"/>
            <a:ext cx="2667000" cy="961135"/>
          </a:xfrm>
          <a:prstGeom prst="rect">
            <a:avLst/>
          </a:prstGeom>
          <a:noFill/>
        </p:spPr>
        <p:txBody>
          <a:bodyPr wrap="none" lIns="0" rIns="0" tIns="0" bIns="0">
            <a:spAutoFit/>
          </a:bodyPr>
          <a:lstStyle/>
          <a:p>
            <a:pPr>
              <a:lnSpc>
                <a:spcPts val="7067"/>
              </a:lnSpc>
              <a:spcAft>
                <a:spcPts val="0"/>
              </a:spcAft>
              <a:defRPr sz="5700" b="1">
                <a:solidFill>
                  <a:srgbClr val="181817"/>
                </a:solidFill>
                <a:latin typeface="Arial"/>
              </a:defRPr>
            </a:pPr>
            <a:r>
              <a:t>1—3</a:t>
            </a:r>
          </a:p>
        </p:txBody>
      </p:sp>
      <p:sp>
        <p:nvSpPr>
          <p:cNvPr id="11" name="TextBox 10"/>
          <p:cNvSpPr txBox="1"/>
          <p:nvPr/>
        </p:nvSpPr>
        <p:spPr>
          <a:xfrm>
            <a:off x="9220200" y="1765300"/>
            <a:ext cx="2667000" cy="551688"/>
          </a:xfrm>
          <a:prstGeom prst="rect">
            <a:avLst/>
          </a:prstGeom>
          <a:noFill/>
        </p:spPr>
        <p:txBody>
          <a:bodyPr wrap="none" lIns="0" rIns="0" tIns="0" bIns="0">
            <a:spAutoFit/>
          </a:bodyPr>
          <a:lstStyle/>
          <a:p>
            <a:pPr>
              <a:lnSpc>
                <a:spcPts val="3844"/>
              </a:lnSpc>
              <a:spcAft>
                <a:spcPts val="0"/>
              </a:spcAft>
              <a:defRPr sz="3100" b="1">
                <a:solidFill>
                  <a:srgbClr val="181817"/>
                </a:solidFill>
                <a:latin typeface="Arial"/>
              </a:defRPr>
            </a:pPr>
            <a:r>
              <a:t>SRPEN</a:t>
            </a:r>
          </a:p>
        </p:txBody>
      </p:sp>
      <p:sp>
        <p:nvSpPr>
          <p:cNvPr id="12" name="TextBox 11"/>
          <p:cNvSpPr txBox="1"/>
          <p:nvPr/>
        </p:nvSpPr>
        <p:spPr>
          <a:xfrm>
            <a:off x="9220200" y="2247900"/>
            <a:ext cx="2667000" cy="724916"/>
          </a:xfrm>
          <a:prstGeom prst="rect">
            <a:avLst/>
          </a:prstGeom>
          <a:noFill/>
        </p:spPr>
        <p:txBody>
          <a:bodyPr wrap="none" lIns="0" rIns="0" tIns="0" bIns="0">
            <a:spAutoFit/>
          </a:bodyPr>
          <a:lstStyle/>
          <a:p>
            <a:pPr>
              <a:lnSpc>
                <a:spcPts val="5208"/>
              </a:lnSpc>
              <a:spcAft>
                <a:spcPts val="0"/>
              </a:spcAft>
              <a:defRPr sz="4200" b="1">
                <a:solidFill>
                  <a:srgbClr val="181817"/>
                </a:solidFill>
                <a:latin typeface="Arial"/>
              </a:defRPr>
            </a:pPr>
            <a:r>
              <a:t>2027</a:t>
            </a:r>
          </a:p>
        </p:txBody>
      </p:sp>
      <p:sp>
        <p:nvSpPr>
          <p:cNvPr id="13" name="TextBox 12"/>
          <p:cNvSpPr txBox="1"/>
          <p:nvPr/>
        </p:nvSpPr>
        <p:spPr>
          <a:xfrm>
            <a:off x="9220200" y="3619500"/>
            <a:ext cx="2540000" cy="598932"/>
          </a:xfrm>
          <a:prstGeom prst="rect">
            <a:avLst/>
          </a:prstGeom>
          <a:noFill/>
        </p:spPr>
        <p:txBody>
          <a:bodyPr wrap="none" lIns="0" rIns="0" tIns="0" bIns="0">
            <a:spAutoFit/>
          </a:bodyPr>
          <a:lstStyle/>
          <a:p>
            <a:pPr>
              <a:lnSpc>
                <a:spcPts val="2108"/>
              </a:lnSpc>
              <a:spcAft>
                <a:spcPts val="0"/>
              </a:spcAft>
              <a:defRPr sz="1700" b="1">
                <a:solidFill>
                  <a:srgbClr val="181817"/>
                </a:solidFill>
                <a:latin typeface="Arial"/>
              </a:defRPr>
            </a:pPr>
            <a:r>
              <a:t>PRAHA</a:t>
            </a:r>
          </a:p>
          <a:p>
            <a:pPr>
              <a:lnSpc>
                <a:spcPts val="2108"/>
              </a:lnSpc>
              <a:spcAft>
                <a:spcPts val="0"/>
              </a:spcAft>
              <a:defRPr sz="1700" b="1">
                <a:solidFill>
                  <a:srgbClr val="181817"/>
                </a:solidFill>
                <a:latin typeface="Arial"/>
              </a:defRPr>
            </a:pPr>
            <a:r>
              <a:t>VLTAVA PARK</a:t>
            </a:r>
          </a:p>
        </p:txBody>
      </p:sp>
      <p:sp>
        <p:nvSpPr>
          <p:cNvPr id="14" name="TextBox 13"/>
          <p:cNvSpPr txBox="1"/>
          <p:nvPr/>
        </p:nvSpPr>
        <p:spPr>
          <a:xfrm>
            <a:off x="9220200" y="5054600"/>
            <a:ext cx="2540000" cy="882396"/>
          </a:xfrm>
          <a:prstGeom prst="rect">
            <a:avLst/>
          </a:prstGeom>
          <a:noFill/>
        </p:spPr>
        <p:txBody>
          <a:bodyPr wrap="none" lIns="0" rIns="0" tIns="0" bIns="0">
            <a:spAutoFit/>
          </a:bodyPr>
          <a:lstStyle/>
          <a:p>
            <a:pPr>
              <a:lnSpc>
                <a:spcPts val="3224"/>
              </a:lnSpc>
              <a:spcAft>
                <a:spcPts val="0"/>
              </a:spcAft>
              <a:defRPr sz="2600" b="1">
                <a:solidFill>
                  <a:srgbClr val="181817"/>
                </a:solidFill>
                <a:latin typeface="Arial"/>
              </a:defRPr>
            </a:pPr>
            <a:r>
              <a:t>CVIČENÍ</a:t>
            </a:r>
          </a:p>
          <a:p>
            <a:pPr>
              <a:lnSpc>
                <a:spcPts val="3224"/>
              </a:lnSpc>
              <a:spcAft>
                <a:spcPts val="0"/>
              </a:spcAft>
              <a:defRPr sz="2600" b="1">
                <a:solidFill>
                  <a:srgbClr val="181817"/>
                </a:solidFill>
                <a:latin typeface="Arial"/>
              </a:defRPr>
            </a:pPr>
            <a:r>
              <a:t>06</a:t>
            </a:r>
          </a:p>
        </p:txBody>
      </p:sp>
      <p:sp>
        <p:nvSpPr>
          <p:cNvPr id="15" name="TextBox 14"/>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F4F0E7"/>
                </a:solidFill>
                <a:latin typeface="Arial"/>
              </a:defRPr>
            </a:pPr>
            <a:r>
              <a:t>METODICKÁ ŠABLONA — DOPLNIT CIZÍ PROJEKT</a:t>
            </a:r>
          </a:p>
        </p:txBody>
      </p:sp>
      <p:sp>
        <p:nvSpPr>
          <p:cNvPr id="16" name="TextBox 15"/>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F4F0E7"/>
                </a:solidFill>
                <a:latin typeface="Arial"/>
              </a:defRPr>
            </a:pPr>
            <a:r>
              <a:t>06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PLÁN EXPERTNÍHO HODNOCENÍ</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Dvě metody, odlišný pohled.</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Nielsenovy heuristiky</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Stav systému, konzistence, prevence chyb, kontrola</a:t>
            </a:r>
          </a:p>
          <a:p>
            <a:pPr>
              <a:lnSpc>
                <a:spcPts val="1689"/>
              </a:lnSpc>
              <a:spcAft>
                <a:spcPts val="0"/>
              </a:spcAft>
              <a:defRPr sz="1420" b="0">
                <a:solidFill>
                  <a:srgbClr val="F4F0E7"/>
                </a:solidFill>
                <a:latin typeface="Arial"/>
              </a:defRPr>
            </a:pPr>
            <a:r>
              <a:t>uživatele a srozumitelná pomoc.</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Nález přiřadit konkrétnímu pravidlu.</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Kognitivní průchod</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Dva scénáře z cizí specifikace, krok po kroku.</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Ví uživatel co udělat, najde ovládání a pozná výsledek?</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Doplněk: úzký viewport, klávesnice, navigace a interaktivní stavy.</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METODICKÁ ŠABLONA — DOPLNIT CIZÍ PROJEKT</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PŘEDEM SJEDNOCENÁ STUPNICE</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Závažnost určuje dopad.</a:t>
            </a:r>
          </a:p>
        </p:txBody>
      </p:sp>
      <p:sp>
        <p:nvSpPr>
          <p:cNvPr id="9" name="Rectangle 8"/>
          <p:cNvSpPr/>
          <p:nvPr/>
        </p:nvSpPr>
        <p:spPr>
          <a:xfrm>
            <a:off x="533400" y="2768600"/>
            <a:ext cx="35560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31242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Kritický</a:t>
            </a:r>
          </a:p>
        </p:txBody>
      </p:sp>
      <p:sp>
        <p:nvSpPr>
          <p:cNvPr id="12" name="TextBox 11"/>
          <p:cNvSpPr txBox="1"/>
          <p:nvPr/>
        </p:nvSpPr>
        <p:spPr>
          <a:xfrm>
            <a:off x="749300" y="3733800"/>
            <a:ext cx="31242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Klíčový scénář nelze dokončit a</a:t>
            </a:r>
          </a:p>
          <a:p>
            <a:pPr>
              <a:lnSpc>
                <a:spcPts val="1689"/>
              </a:lnSpc>
              <a:spcAft>
                <a:spcPts val="0"/>
              </a:spcAft>
              <a:defRPr sz="1420" b="0">
                <a:solidFill>
                  <a:srgbClr val="F4F0E7"/>
                </a:solidFill>
                <a:latin typeface="Arial"/>
              </a:defRPr>
            </a:pPr>
            <a:r>
              <a:t>neexistuje rozumná náhradní</a:t>
            </a:r>
          </a:p>
          <a:p>
            <a:pPr>
              <a:lnSpc>
                <a:spcPts val="1689"/>
              </a:lnSpc>
              <a:spcAft>
                <a:spcPts val="0"/>
              </a:spcAft>
              <a:defRPr sz="1420" b="0">
                <a:solidFill>
                  <a:srgbClr val="F4F0E7"/>
                </a:solidFill>
                <a:latin typeface="Arial"/>
              </a:defRPr>
            </a:pPr>
            <a:r>
              <a:t>cesta.</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Doložit konkrétní blokující krok.</a:t>
            </a:r>
          </a:p>
        </p:txBody>
      </p:sp>
      <p:sp>
        <p:nvSpPr>
          <p:cNvPr id="13" name="Rectangle 12"/>
          <p:cNvSpPr/>
          <p:nvPr/>
        </p:nvSpPr>
        <p:spPr>
          <a:xfrm>
            <a:off x="43180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80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39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Významný</a:t>
            </a:r>
          </a:p>
        </p:txBody>
      </p:sp>
      <p:sp>
        <p:nvSpPr>
          <p:cNvPr id="16" name="TextBox 15"/>
          <p:cNvSpPr txBox="1"/>
          <p:nvPr/>
        </p:nvSpPr>
        <p:spPr>
          <a:xfrm>
            <a:off x="45339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Cesta existuje, ale opakovaně</a:t>
            </a:r>
          </a:p>
          <a:p>
            <a:pPr>
              <a:lnSpc>
                <a:spcPts val="1689"/>
              </a:lnSpc>
              <a:spcAft>
                <a:spcPts val="0"/>
              </a:spcAft>
              <a:defRPr sz="1420" b="0">
                <a:solidFill>
                  <a:srgbClr val="181817"/>
                </a:solidFill>
                <a:latin typeface="Arial"/>
              </a:defRPr>
            </a:pPr>
            <a:r>
              <a:t>vede k chybám nebo zásadní</a:t>
            </a:r>
          </a:p>
          <a:p>
            <a:pPr>
              <a:lnSpc>
                <a:spcPts val="1689"/>
              </a:lnSpc>
              <a:spcAft>
                <a:spcPts val="0"/>
              </a:spcAft>
              <a:defRPr sz="1420" b="0">
                <a:solidFill>
                  <a:srgbClr val="181817"/>
                </a:solidFill>
                <a:latin typeface="Arial"/>
              </a:defRPr>
            </a:pPr>
            <a:r>
              <a:t>nejistotě.</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Popsat náklady a četnost</a:t>
            </a:r>
          </a:p>
          <a:p>
            <a:pPr>
              <a:lnSpc>
                <a:spcPts val="1689"/>
              </a:lnSpc>
              <a:spcAft>
                <a:spcPts val="0"/>
              </a:spcAft>
              <a:defRPr sz="1420" b="0">
                <a:solidFill>
                  <a:srgbClr val="181817"/>
                </a:solidFill>
                <a:latin typeface="Arial"/>
              </a:defRPr>
            </a:pPr>
            <a:r>
              <a:t>problému.</a:t>
            </a:r>
          </a:p>
        </p:txBody>
      </p:sp>
      <p:sp>
        <p:nvSpPr>
          <p:cNvPr id="17" name="Rectangle 16"/>
          <p:cNvSpPr/>
          <p:nvPr/>
        </p:nvSpPr>
        <p:spPr>
          <a:xfrm>
            <a:off x="81026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26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85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Drobný</a:t>
            </a:r>
          </a:p>
        </p:txBody>
      </p:sp>
      <p:sp>
        <p:nvSpPr>
          <p:cNvPr id="20" name="TextBox 19"/>
          <p:cNvSpPr txBox="1"/>
          <p:nvPr/>
        </p:nvSpPr>
        <p:spPr>
          <a:xfrm>
            <a:off x="83185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Lokální nesrovnalost či čitelnost;</a:t>
            </a:r>
          </a:p>
          <a:p>
            <a:pPr>
              <a:lnSpc>
                <a:spcPts val="1689"/>
              </a:lnSpc>
              <a:spcAft>
                <a:spcPts val="0"/>
              </a:spcAft>
              <a:defRPr sz="1420" b="0">
                <a:solidFill>
                  <a:srgbClr val="181817"/>
                </a:solidFill>
                <a:latin typeface="Arial"/>
              </a:defRPr>
            </a:pPr>
            <a:r>
              <a:t>cíl zůstává dosažitelný.</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Oddělit od pouhé preference.</a:t>
            </a:r>
          </a:p>
        </p:txBody>
      </p:sp>
      <p:sp>
        <p:nvSpPr>
          <p:cNvPr id="21" name="TextBox 20"/>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METODICKÁ ŠABLONA — DOPLNIT CIZÍ PROJEKT</a:t>
            </a:r>
          </a:p>
        </p:txBody>
      </p:sp>
      <p:sp>
        <p:nvSpPr>
          <p:cNvPr id="22" name="TextBox 21"/>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ŠABLONA SKUTEČNÉHO NÁLEZU</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Od pozorování k doporučení.</a:t>
            </a:r>
          </a:p>
        </p:txBody>
      </p:sp>
      <p:sp>
        <p:nvSpPr>
          <p:cNvPr id="9" name="Rectangle 8"/>
          <p:cNvSpPr/>
          <p:nvPr/>
        </p:nvSpPr>
        <p:spPr>
          <a:xfrm>
            <a:off x="533400" y="2946400"/>
            <a:ext cx="2552700" cy="17653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3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01</a:t>
            </a:r>
          </a:p>
        </p:txBody>
      </p:sp>
      <p:sp>
        <p:nvSpPr>
          <p:cNvPr id="11" name="TextBox 10"/>
          <p:cNvSpPr txBox="1"/>
          <p:nvPr/>
        </p:nvSpPr>
        <p:spPr>
          <a:xfrm>
            <a:off x="723900" y="3568700"/>
            <a:ext cx="2133600" cy="444500"/>
          </a:xfrm>
          <a:prstGeom prst="rect">
            <a:avLst/>
          </a:prstGeom>
          <a:noFill/>
        </p:spPr>
        <p:txBody>
          <a:bodyPr wrap="none" lIns="0" rIns="0" tIns="0" bIns="0">
            <a:spAutoFit/>
          </a:bodyPr>
          <a:lstStyle/>
          <a:p>
            <a:pPr>
              <a:lnSpc>
                <a:spcPts val="2728"/>
              </a:lnSpc>
              <a:spcAft>
                <a:spcPts val="0"/>
              </a:spcAft>
              <a:defRPr sz="2200" b="1">
                <a:solidFill>
                  <a:srgbClr val="F4F0E7"/>
                </a:solidFill>
                <a:latin typeface="Arial"/>
              </a:defRPr>
            </a:pPr>
            <a:r>
              <a:t>Kroky</a:t>
            </a:r>
          </a:p>
        </p:txBody>
      </p:sp>
      <p:sp>
        <p:nvSpPr>
          <p:cNvPr id="12" name="TextBox 11"/>
          <p:cNvSpPr txBox="1"/>
          <p:nvPr/>
        </p:nvSpPr>
        <p:spPr>
          <a:xfrm>
            <a:off x="723900" y="4140200"/>
            <a:ext cx="2133600" cy="406400"/>
          </a:xfrm>
          <a:prstGeom prst="rect">
            <a:avLst/>
          </a:prstGeom>
          <a:noFill/>
        </p:spPr>
        <p:txBody>
          <a:bodyPr wrap="none" lIns="0" rIns="0" tIns="0" bIns="0">
            <a:spAutoFit/>
          </a:bodyPr>
          <a:lstStyle/>
          <a:p>
            <a:pPr>
              <a:lnSpc>
                <a:spcPts val="1488"/>
              </a:lnSpc>
              <a:spcAft>
                <a:spcPts val="0"/>
              </a:spcAft>
              <a:defRPr sz="1200" b="0">
                <a:solidFill>
                  <a:srgbClr val="F4F0E7"/>
                </a:solidFill>
                <a:latin typeface="Arial"/>
              </a:defRPr>
            </a:pPr>
            <a:r>
              <a:t>Stránka + akce</a:t>
            </a:r>
          </a:p>
        </p:txBody>
      </p:sp>
      <p:sp>
        <p:nvSpPr>
          <p:cNvPr id="13" name="TextBox 12"/>
          <p:cNvSpPr txBox="1"/>
          <p:nvPr/>
        </p:nvSpPr>
        <p:spPr>
          <a:xfrm>
            <a:off x="3098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4" name="Rectangle 13"/>
          <p:cNvSpPr/>
          <p:nvPr/>
        </p:nvSpPr>
        <p:spPr>
          <a:xfrm>
            <a:off x="3390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1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02</a:t>
            </a:r>
          </a:p>
        </p:txBody>
      </p:sp>
      <p:sp>
        <p:nvSpPr>
          <p:cNvPr id="16" name="TextBox 15"/>
          <p:cNvSpPr txBox="1"/>
          <p:nvPr/>
        </p:nvSpPr>
        <p:spPr>
          <a:xfrm>
            <a:off x="3581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Důkaz</a:t>
            </a:r>
          </a:p>
        </p:txBody>
      </p:sp>
      <p:sp>
        <p:nvSpPr>
          <p:cNvPr id="17" name="TextBox 16"/>
          <p:cNvSpPr txBox="1"/>
          <p:nvPr/>
        </p:nvSpPr>
        <p:spPr>
          <a:xfrm>
            <a:off x="3581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Skutečný stav</a:t>
            </a:r>
          </a:p>
        </p:txBody>
      </p:sp>
      <p:sp>
        <p:nvSpPr>
          <p:cNvPr id="18" name="TextBox 17"/>
          <p:cNvSpPr txBox="1"/>
          <p:nvPr/>
        </p:nvSpPr>
        <p:spPr>
          <a:xfrm>
            <a:off x="59563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9" name="Rectangle 18"/>
          <p:cNvSpPr/>
          <p:nvPr/>
        </p:nvSpPr>
        <p:spPr>
          <a:xfrm>
            <a:off x="62484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8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03</a:t>
            </a:r>
          </a:p>
        </p:txBody>
      </p:sp>
      <p:sp>
        <p:nvSpPr>
          <p:cNvPr id="21" name="TextBox 20"/>
          <p:cNvSpPr txBox="1"/>
          <p:nvPr/>
        </p:nvSpPr>
        <p:spPr>
          <a:xfrm>
            <a:off x="64389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Dopad</a:t>
            </a:r>
          </a:p>
        </p:txBody>
      </p:sp>
      <p:sp>
        <p:nvSpPr>
          <p:cNvPr id="22" name="TextBox 21"/>
          <p:cNvSpPr txBox="1"/>
          <p:nvPr/>
        </p:nvSpPr>
        <p:spPr>
          <a:xfrm>
            <a:off x="64389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Cíl + závažnost</a:t>
            </a:r>
          </a:p>
        </p:txBody>
      </p:sp>
      <p:sp>
        <p:nvSpPr>
          <p:cNvPr id="23" name="TextBox 22"/>
          <p:cNvSpPr txBox="1"/>
          <p:nvPr/>
        </p:nvSpPr>
        <p:spPr>
          <a:xfrm>
            <a:off x="8813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24" name="Rectangle 23"/>
          <p:cNvSpPr/>
          <p:nvPr/>
        </p:nvSpPr>
        <p:spPr>
          <a:xfrm>
            <a:off x="9105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6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04</a:t>
            </a:r>
          </a:p>
        </p:txBody>
      </p:sp>
      <p:sp>
        <p:nvSpPr>
          <p:cNvPr id="26" name="TextBox 25"/>
          <p:cNvSpPr txBox="1"/>
          <p:nvPr/>
        </p:nvSpPr>
        <p:spPr>
          <a:xfrm>
            <a:off x="9296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Návrh</a:t>
            </a:r>
          </a:p>
        </p:txBody>
      </p:sp>
      <p:sp>
        <p:nvSpPr>
          <p:cNvPr id="27" name="TextBox 26"/>
          <p:cNvSpPr txBox="1"/>
          <p:nvPr/>
        </p:nvSpPr>
        <p:spPr>
          <a:xfrm>
            <a:off x="9296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Konkrétní oprava</a:t>
            </a:r>
          </a:p>
        </p:txBody>
      </p:sp>
      <p:sp>
        <p:nvSpPr>
          <p:cNvPr id="28" name="TextBox 27"/>
          <p:cNvSpPr txBox="1"/>
          <p:nvPr/>
        </p:nvSpPr>
        <p:spPr>
          <a:xfrm>
            <a:off x="533400" y="5207000"/>
            <a:ext cx="11125200" cy="1016000"/>
          </a:xfrm>
          <a:prstGeom prst="rect">
            <a:avLst/>
          </a:prstGeom>
          <a:noFill/>
        </p:spPr>
        <p:txBody>
          <a:bodyPr wrap="none" lIns="0" rIns="0" tIns="0" bIns="0">
            <a:spAutoFit/>
          </a:bodyPr>
          <a:lstStyle/>
          <a:p>
            <a:pPr>
              <a:lnSpc>
                <a:spcPts val="2108"/>
              </a:lnSpc>
              <a:spcAft>
                <a:spcPts val="0"/>
              </a:spcAft>
              <a:defRPr sz="1700" b="0">
                <a:solidFill>
                  <a:srgbClr val="181817"/>
                </a:solidFill>
                <a:latin typeface="Arial"/>
              </a:defRPr>
            </a:pPr>
            <a:r>
              <a:t>R01–R05: doplnit až po průchodu skutečným cizím projektem.</a:t>
            </a:r>
          </a:p>
          <a:p>
            <a:pPr>
              <a:lnSpc>
                <a:spcPts val="2108"/>
              </a:lnSpc>
              <a:spcAft>
                <a:spcPts val="0"/>
              </a:spcAft>
              <a:defRPr sz="1700" b="0">
                <a:solidFill>
                  <a:srgbClr val="181817"/>
                </a:solidFill>
                <a:latin typeface="Arial"/>
              </a:defRPr>
            </a:pPr>
            <a:r>
              <a:t>Screenshot bez vysvětlení dopadu nestačí.</a:t>
            </a:r>
          </a:p>
        </p:txBody>
      </p:sp>
      <p:sp>
        <p:nvSpPr>
          <p:cNvPr id="29" name="TextBox 28"/>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METODICKÁ ŠABLONA — DOPLNIT CIZÍ PROJEKT</a:t>
            </a:r>
          </a:p>
        </p:txBody>
      </p:sp>
      <p:sp>
        <p:nvSpPr>
          <p:cNvPr id="30" name="TextBox 29"/>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VLASTNÍ OVĚŘENÍ / PRAGUE PULSE FEST</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Příklady nejsou cizí review.</a:t>
            </a:r>
          </a:p>
        </p:txBody>
      </p:sp>
      <p:sp>
        <p:nvSpPr>
          <p:cNvPr id="9" name="Rectangle 8"/>
          <p:cNvSpPr/>
          <p:nvPr/>
        </p:nvSpPr>
        <p:spPr>
          <a:xfrm>
            <a:off x="533400" y="2768600"/>
            <a:ext cx="35560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31242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Datové minimum</a:t>
            </a:r>
          </a:p>
        </p:txBody>
      </p:sp>
      <p:sp>
        <p:nvSpPr>
          <p:cNvPr id="12" name="TextBox 11"/>
          <p:cNvSpPr txBox="1"/>
          <p:nvPr/>
        </p:nvSpPr>
        <p:spPr>
          <a:xfrm>
            <a:off x="749300" y="3733800"/>
            <a:ext cx="31242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Builder kontroluje 3 dny, 3 scény,</a:t>
            </a:r>
          </a:p>
          <a:p>
            <a:pPr>
              <a:lnSpc>
                <a:spcPts val="1689"/>
              </a:lnSpc>
              <a:spcAft>
                <a:spcPts val="0"/>
              </a:spcAft>
              <a:defRPr sz="1420" b="0">
                <a:solidFill>
                  <a:srgbClr val="F4F0E7"/>
                </a:solidFill>
                <a:latin typeface="Arial"/>
              </a:defRPr>
            </a:pPr>
            <a:r>
              <a:t>60 interpretů a 60 akcí.</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Důkaz rozsahu, nikoli kvality UX.</a:t>
            </a:r>
          </a:p>
        </p:txBody>
      </p:sp>
      <p:sp>
        <p:nvSpPr>
          <p:cNvPr id="13" name="Rectangle 12"/>
          <p:cNvSpPr/>
          <p:nvPr/>
        </p:nvSpPr>
        <p:spPr>
          <a:xfrm>
            <a:off x="43180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80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39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Místní úložiště</a:t>
            </a:r>
          </a:p>
        </p:txBody>
      </p:sp>
      <p:sp>
        <p:nvSpPr>
          <p:cNvPr id="16" name="TextBox 15"/>
          <p:cNvSpPr txBox="1"/>
          <p:nvPr/>
        </p:nvSpPr>
        <p:spPr>
          <a:xfrm>
            <a:off x="45339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Stav patří jednomu prohlížeči;</a:t>
            </a:r>
          </a:p>
          <a:p>
            <a:pPr>
              <a:lnSpc>
                <a:spcPts val="1689"/>
              </a:lnSpc>
              <a:spcAft>
                <a:spcPts val="0"/>
              </a:spcAft>
              <a:defRPr sz="1420" b="0">
                <a:solidFill>
                  <a:srgbClr val="181817"/>
                </a:solidFill>
                <a:latin typeface="Arial"/>
              </a:defRPr>
            </a:pPr>
            <a:r>
              <a:t>není sdílený JSON na serveru.</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Hranice klientského zadání.</a:t>
            </a:r>
          </a:p>
        </p:txBody>
      </p:sp>
      <p:sp>
        <p:nvSpPr>
          <p:cNvPr id="17" name="Rectangle 16"/>
          <p:cNvSpPr/>
          <p:nvPr/>
        </p:nvSpPr>
        <p:spPr>
          <a:xfrm>
            <a:off x="81026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26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85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Chybějící podklady</a:t>
            </a:r>
          </a:p>
        </p:txBody>
      </p:sp>
      <p:sp>
        <p:nvSpPr>
          <p:cNvPr id="20" name="TextBox 19"/>
          <p:cNvSpPr txBox="1"/>
          <p:nvPr/>
        </p:nvSpPr>
        <p:spPr>
          <a:xfrm>
            <a:off x="83185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Cizí web a přijaté review nebyly</a:t>
            </a:r>
          </a:p>
          <a:p>
            <a:pPr>
              <a:lnSpc>
                <a:spcPts val="1689"/>
              </a:lnSpc>
              <a:spcAft>
                <a:spcPts val="0"/>
              </a:spcAft>
              <a:defRPr sz="1420" b="0">
                <a:solidFill>
                  <a:srgbClr val="181817"/>
                </a:solidFill>
                <a:latin typeface="Arial"/>
              </a:defRPr>
            </a:pPr>
            <a:r>
              <a:t>dodány.</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Nelze tvrdit nálezy ani jejich</a:t>
            </a:r>
          </a:p>
          <a:p>
            <a:pPr>
              <a:lnSpc>
                <a:spcPts val="1689"/>
              </a:lnSpc>
              <a:spcAft>
                <a:spcPts val="0"/>
              </a:spcAft>
              <a:defRPr sz="1420" b="0">
                <a:solidFill>
                  <a:srgbClr val="181817"/>
                </a:solidFill>
                <a:latin typeface="Arial"/>
              </a:defRPr>
            </a:pPr>
            <a:r>
              <a:t>zapracování.</a:t>
            </a:r>
          </a:p>
        </p:txBody>
      </p:sp>
      <p:sp>
        <p:nvSpPr>
          <p:cNvPr id="21" name="TextBox 20"/>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METODICKÁ ŠABLONA — DOPLNIT CIZÍ PROJEKT</a:t>
            </a:r>
          </a:p>
        </p:txBody>
      </p:sp>
      <p:sp>
        <p:nvSpPr>
          <p:cNvPr id="22" name="TextBox 21"/>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PULSE</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 / 2027</a:t>
            </a:r>
          </a:p>
        </p:txBody>
      </p:sp>
      <p:sp>
        <p:nvSpPr>
          <p:cNvPr id="6" name="TextBox 5"/>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VÝSLEDKY, OVĚŘENÍ A AI</a:t>
            </a:r>
          </a:p>
        </p:txBody>
      </p:sp>
      <p:sp>
        <p:nvSpPr>
          <p:cNvPr id="7" name="Rectangle 6"/>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Před odevzdáním doplnit.</a:t>
            </a:r>
          </a:p>
        </p:txBody>
      </p:sp>
      <p:sp>
        <p:nvSpPr>
          <p:cNvPr id="9" name="Rectangle 8"/>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Povinné podklady</a:t>
            </a:r>
          </a:p>
        </p:txBody>
      </p:sp>
      <p:sp>
        <p:nvSpPr>
          <p:cNvPr id="12" name="TextBox 11"/>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Hodnocený web + specifikace. Dva průchody. 3–5</a:t>
            </a:r>
          </a:p>
          <a:p>
            <a:pPr>
              <a:lnSpc>
                <a:spcPts val="1689"/>
              </a:lnSpc>
              <a:spcAft>
                <a:spcPts val="0"/>
              </a:spcAft>
              <a:defRPr sz="1420" b="0">
                <a:solidFill>
                  <a:srgbClr val="F4F0E7"/>
                </a:solidFill>
                <a:latin typeface="Arial"/>
              </a:defRPr>
            </a:pPr>
            <a:r>
              <a:t>skutečných nálezů.</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Důkazy, závažnost a doporučení.</a:t>
            </a:r>
          </a:p>
        </p:txBody>
      </p:sp>
      <p:sp>
        <p:nvSpPr>
          <p:cNvPr id="13" name="Rectangle 12"/>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AI a odpovědnost</a:t>
            </a:r>
          </a:p>
        </p:txBody>
      </p:sp>
      <p:sp>
        <p:nvSpPr>
          <p:cNvPr id="16" name="TextBox 15"/>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AI pomohla připravit metodiku a strukturu zápisu.</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Každý nález hodnotitel osobně ověří a obhájí.</a:t>
            </a:r>
          </a:p>
        </p:txBody>
      </p:sp>
      <p:sp>
        <p:nvSpPr>
          <p:cNvPr id="17" name="TextBox 16"/>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review.md i tyto snímky musí odrážet stejné skutečné výsledky.</a:t>
            </a:r>
          </a:p>
        </p:txBody>
      </p:sp>
      <p:sp>
        <p:nvSpPr>
          <p:cNvPr id="18" name="TextBox 17"/>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METODICKÁ ŠABLONA — DOPLNIT CIZÍ PROJEKT</a:t>
            </a:r>
          </a:p>
        </p:txBody>
      </p:sp>
      <p:sp>
        <p:nvSpPr>
          <p:cNvPr id="19" name="TextBox 18"/>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Prague Pulse Fest — cvičení 06: Metodika cross-review — nutno doplnit</dc:title>
  <dc:subject>Dodatečně připravený milník podle zadání; nikoli doložená historie semestru.</dc:subject>
  <dc:creator>Prague Pulse Fest — projektové podklady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