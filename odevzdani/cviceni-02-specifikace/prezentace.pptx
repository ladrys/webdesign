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s] Prague Pulse Fest je návrh fiktivního třídenního festivalu v Praze. První výstup tvoří projektová specifikace a XML datová základna. Od výchozího námětu jsme přešli k identitě, cílovým skupinám, struktuře webu a pěti scénářům. Hlavní úkol návštěvníka je zjistit kdo, kdy a kde vystupuje, uložit si vlastní program a naplánovat návštěvu. Autoři jsou Michal Ladra, Matěj Mlejnek a Jan Martínek. Skuteční interpreti jsou návrhem line-upu, jejich účast nepotvrzujeme. Tyto podklady popisují současný návrh, nikoli nedoloženou historii odevzdání.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[35 s] Cílové skupiny rozlišujeme podle úkolu. Návštěvník v areálu potřebuje rychlý program v telefonu. Fanoušek hledá známé jméno a jeho koncert. Přijíždějící návštěvník potřebuje dopravu, mapu a případně angličtinu. Každé potřebě odpovídá konkrétní obsah nebo funkce, ne pouze propagační text. Samostatně počítáme i s vracejícím se uživatelem a historií objednávek. Účet není podmínkou nákupu. Tato návaznost potřeb a funkcí je hlavní rozhodnutí návrhu.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[40 s] XML obsahuje tři dny, tři scény, šedesát interpretů a šedesát vystoupení. Každé vystoupení jednoznačně odkazuje na existující den, scénu a interpreta. Názvy nejsou spojovací klíč. Main Hall má návrhovou kapacitu pět tisíc osob: šestnáct VIP sedadel, třicet dva Regular a čtyři tisíce devět set padesát dva stojících. River a Club jsou pouze na stání, s kapacitami tři tisíce a patnáct set. Vstup jde zvolit na jednu scénu nebo společně. Společný vstup spotřebuje kapacitu na všech scénách, proto zaručený přístup omezuje i nejmenší Club. Nejde o oficiální kapacity Výstaviště. Program zachovává plné sety, po sobě jdou tři závěrečné koncerty denně; ostatní sety se mohou překrývat.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[35 s] Úvod představí festival a hlavní navigace vede k programu, účinkujícím, scénám a praktickým informacím. Hledání má vlastní stránku s výsledky napříč obsahem. Detail interpreta vede ke koncertu a scéna do svého filtrovaného programu. Návštěvník tak nemusí stále začínat od úvodu. Nákup má samostatnou cestu od výběru ke košíku a PDF. Účet a historie jsou volitelné. Novinky, soukromí, podmínky a kredity jsou doplňkové části v patičce; úplný sitemap je ve specifikaci.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s] Scénář S1 má konkrétního uživatele, cíl, výchozí situaci a očekávaný výsledek. Na mobilu vybereme první srpen a River Stage, uložíme koncert a otevřeme osobní program. Po obnovení musí výběr zůstat. V S2 fanoušek zná DARKZY, ale ne jeho termín. Přes hledání a detail najde konkrétní vystoupení v Club Stage. Při ověření porovnáme datum, čas a scénu s XML. První dva průchody podporuje také samostatný wireframe. Třetí klíčový scénář specifikace je nákup hosta na první a třetí srpen s ručním sedadlem a PDF. Nevyžaduje účet.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[40 s] Codex a ChatGPT pomohly s rozborem zadání, návrhem struktury, texty a datovým modelem. Přijali jsme stabilní ID, upravili scénáře, kapacity a program podle účelu návštěvy. Odmítli jsme vlastní backend, protože zadání požaduje čistě klientský web. Konkrétní ověření tvoří XML/XSD validace, počty entit, jedinečná ID a reference a porovnání exportu pro prohlížeč s XML. Výsledek je reprodukovatelný validátorem a uložený ve validačním reportu. Testy nenahrazují použitelnost s návštěvníky, nepotvrzují účast interpretů ani oficiální kapacity. Skutečné fotografie mají zdroje a licence; odchylku od požadavku na AI obrázky uvádíme v dokumentaci. Za odevzdání a vysvětlení odpovídá tým.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2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55000" y="0"/>
            <a:ext cx="3937000" cy="6858000"/>
          </a:xfrm>
          <a:prstGeom prst="rect">
            <a:avLst/>
          </a:prstGeom>
          <a:solidFill>
            <a:srgbClr val="1D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55000" y="0"/>
            <a:ext cx="39370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4610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652"/>
              </a:lnSpc>
              <a:spcAft>
                <a:spcPts val="0"/>
              </a:spcAft>
              <a:defRPr sz="1400" b="1">
                <a:solidFill>
                  <a:srgbClr val="FF885D"/>
                </a:solidFill>
                <a:latin typeface="Arial"/>
              </a:defRPr>
            </a:pPr>
            <a:r>
              <a:t>CVIČENÍ 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1193800"/>
            <a:ext cx="10985500" cy="1879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6467"/>
              </a:lnSpc>
              <a:spcAft>
                <a:spcPts val="0"/>
              </a:spcAft>
              <a:defRPr sz="6600" b="1">
                <a:solidFill>
                  <a:srgbClr val="F5F6FA"/>
                </a:solidFill>
                <a:latin typeface="Arial"/>
              </a:defRPr>
            </a:pPr>
            <a:r>
              <a:t>PRAGUE</a:t>
            </a:r>
          </a:p>
          <a:p>
            <a:pPr>
              <a:lnSpc>
                <a:spcPts val="6467"/>
              </a:lnSpc>
              <a:spcAft>
                <a:spcPts val="0"/>
              </a:spcAft>
              <a:defRPr sz="6600" b="1">
                <a:solidFill>
                  <a:srgbClr val="F5F6FA"/>
                </a:solidFill>
                <a:latin typeface="Arial"/>
              </a:defRPr>
            </a:pPr>
            <a:r>
              <a:t>PULSE FEST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3492500"/>
            <a:ext cx="10858500" cy="1092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4028"/>
              </a:lnSpc>
              <a:spcAft>
                <a:spcPts val="0"/>
              </a:spcAft>
              <a:defRPr sz="3800" b="1">
                <a:solidFill>
                  <a:srgbClr val="FF885D"/>
                </a:solidFill>
                <a:latin typeface="Arial"/>
              </a:defRPr>
            </a:pPr>
            <a:r>
              <a:t>Projektová</a:t>
            </a:r>
          </a:p>
          <a:p>
            <a:pPr>
              <a:lnSpc>
                <a:spcPts val="4028"/>
              </a:lnSpc>
              <a:spcAft>
                <a:spcPts val="0"/>
              </a:spcAft>
              <a:defRPr sz="3800" b="1">
                <a:solidFill>
                  <a:srgbClr val="FF885D"/>
                </a:solidFill>
                <a:latin typeface="Arial"/>
              </a:defRPr>
            </a:pPr>
            <a:r>
              <a:t>specifikace a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4889500"/>
            <a:ext cx="10858500" cy="825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0">
                <a:solidFill>
                  <a:srgbClr val="B7BFCC"/>
                </a:solidFill>
                <a:latin typeface="Arial"/>
              </a:defRPr>
            </a:pPr>
            <a:r>
              <a:t>1.–3. srpna 2027 · Výstaviště Praha</a:t>
            </a:r>
          </a:p>
          <a:p>
            <a:pPr>
              <a:lnSpc>
                <a:spcPts val="2713"/>
              </a:lnSpc>
              <a:spcAft>
                <a:spcPts val="0"/>
              </a:spcAft>
              <a:defRPr sz="2300" b="0">
                <a:solidFill>
                  <a:srgbClr val="B7BFCC"/>
                </a:solidFill>
                <a:latin typeface="Arial"/>
              </a:defRPr>
            </a:pPr>
            <a:r>
              <a:t>Rock · pop · rap · klubová elektronika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5880100"/>
            <a:ext cx="10972800" cy="330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124"/>
              </a:lnSpc>
              <a:spcAft>
                <a:spcPts val="0"/>
              </a:spcAft>
              <a:defRPr sz="1800" b="0">
                <a:solidFill>
                  <a:srgbClr val="F5F6FA"/>
                </a:solidFill>
                <a:latin typeface="Arial"/>
              </a:defRPr>
            </a:pPr>
            <a:r>
              <a:t>Michal Ladra · Matěj Mlejnek · Jan Martínek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6273800"/>
            <a:ext cx="10972800" cy="12700"/>
          </a:xfrm>
          <a:prstGeom prst="rect">
            <a:avLst/>
          </a:prstGeom>
          <a:solidFill>
            <a:srgbClr val="3D4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600" y="6464300"/>
            <a:ext cx="9906000" cy="203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97"/>
              </a:lnSpc>
              <a:spcAft>
                <a:spcPts val="0"/>
              </a:spcAft>
              <a:defRPr sz="1100" b="0">
                <a:solidFill>
                  <a:srgbClr val="B7BFCC"/>
                </a:solidFill>
                <a:latin typeface="Arial"/>
              </a:defRPr>
            </a:pPr>
            <a:r>
              <a:t>Prague Pulse Fest · Výstaviště Praha · 2027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38900"/>
            <a:ext cx="609600" cy="215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416"/>
              </a:lnSpc>
              <a:spcAft>
                <a:spcPts val="0"/>
              </a:spcAft>
              <a:defRPr sz="1200" b="0">
                <a:solidFill>
                  <a:srgbClr val="B7BFCC"/>
                </a:solidFill>
                <a:latin typeface="Arial"/>
              </a:defRPr>
            </a:pPr>
            <a:r>
              <a:t>1 /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2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44500"/>
            <a:ext cx="10972800" cy="279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534"/>
              </a:lnSpc>
              <a:spcAft>
                <a:spcPts val="0"/>
              </a:spcAft>
              <a:defRPr sz="1300" b="1">
                <a:solidFill>
                  <a:srgbClr val="B7BFCC"/>
                </a:solidFill>
                <a:latin typeface="Arial"/>
              </a:defRPr>
            </a:pPr>
            <a:r>
              <a:t>ÚČEL WEBU A CÍLOVÉ SKUPINY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76300"/>
            <a:ext cx="685800" cy="508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4200" y="1206500"/>
            <a:ext cx="10998200" cy="1130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4032"/>
              </a:lnSpc>
              <a:spcAft>
                <a:spcPts val="0"/>
              </a:spcAft>
              <a:defRPr sz="3600" b="1">
                <a:solidFill>
                  <a:srgbClr val="F5F6FA"/>
                </a:solidFill>
                <a:latin typeface="Arial"/>
              </a:defRPr>
            </a:pPr>
            <a:r>
              <a:t>Od otázky k hotovému plánu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09800"/>
            <a:ext cx="3505200" cy="3162300"/>
          </a:xfrm>
          <a:prstGeom prst="rect">
            <a:avLst/>
          </a:prstGeom>
          <a:solidFill>
            <a:srgbClr val="1D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9600" y="2209800"/>
            <a:ext cx="3505200" cy="508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8200" y="2438400"/>
            <a:ext cx="3048000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770"/>
              </a:lnSpc>
              <a:spcAft>
                <a:spcPts val="0"/>
              </a:spcAft>
              <a:defRPr sz="1500" b="1">
                <a:solidFill>
                  <a:srgbClr val="FF885D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2844800"/>
            <a:ext cx="3048000" cy="774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32"/>
              </a:lnSpc>
              <a:spcAft>
                <a:spcPts val="0"/>
              </a:spcAft>
              <a:defRPr sz="2400" b="1">
                <a:solidFill>
                  <a:srgbClr val="F5F6FA"/>
                </a:solidFill>
                <a:latin typeface="Arial"/>
              </a:defRPr>
            </a:pPr>
            <a:r>
              <a:t>Návštěvník na</a:t>
            </a:r>
          </a:p>
          <a:p>
            <a:pPr>
              <a:lnSpc>
                <a:spcPts val="2832"/>
              </a:lnSpc>
              <a:spcAft>
                <a:spcPts val="0"/>
              </a:spcAft>
              <a:defRPr sz="2400" b="1">
                <a:solidFill>
                  <a:srgbClr val="F5F6FA"/>
                </a:solidFill>
                <a:latin typeface="Arial"/>
              </a:defRPr>
            </a:pPr>
            <a:r>
              <a:t>mobilu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3746500"/>
            <a:ext cx="3048000" cy="711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360"/>
              </a:lnSpc>
              <a:spcAft>
                <a:spcPts val="0"/>
              </a:spcAft>
              <a:defRPr sz="2000" b="0">
                <a:solidFill>
                  <a:srgbClr val="ADE6D5"/>
                </a:solidFill>
                <a:latin typeface="Arial"/>
              </a:defRPr>
            </a:pPr>
            <a:r>
              <a:t>Co hraje dnes a kde?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4546600"/>
            <a:ext cx="3048000" cy="711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242"/>
              </a:lnSpc>
              <a:spcAft>
                <a:spcPts val="0"/>
              </a:spcAft>
              <a:defRPr sz="1900" b="0">
                <a:solidFill>
                  <a:srgbClr val="B7BFCC"/>
                </a:solidFill>
                <a:latin typeface="Arial"/>
              </a:defRPr>
            </a:pPr>
            <a:r>
              <a:t>Filtr dne a scény</a:t>
            </a:r>
          </a:p>
          <a:p>
            <a:pPr>
              <a:lnSpc>
                <a:spcPts val="2242"/>
              </a:lnSpc>
              <a:spcAft>
                <a:spcPts val="0"/>
              </a:spcAft>
              <a:defRPr sz="1900" b="0">
                <a:solidFill>
                  <a:srgbClr val="B7BFCC"/>
                </a:solidFill>
                <a:latin typeface="Arial"/>
              </a:defRPr>
            </a:pPr>
            <a:r>
              <a:t>Uložený osobní program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2209800"/>
            <a:ext cx="3505200" cy="3162300"/>
          </a:xfrm>
          <a:prstGeom prst="rect">
            <a:avLst/>
          </a:prstGeom>
          <a:solidFill>
            <a:srgbClr val="1D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43400" y="2209800"/>
            <a:ext cx="3505200" cy="50800"/>
          </a:xfrm>
          <a:prstGeom prst="rect">
            <a:avLst/>
          </a:prstGeom>
          <a:solidFill>
            <a:srgbClr val="ADE6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2438400"/>
            <a:ext cx="3048000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770"/>
              </a:lnSpc>
              <a:spcAft>
                <a:spcPts val="0"/>
              </a:spcAft>
              <a:defRPr sz="1500" b="1">
                <a:solidFill>
                  <a:srgbClr val="FF885D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844800"/>
            <a:ext cx="3048000" cy="774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32"/>
              </a:lnSpc>
              <a:spcAft>
                <a:spcPts val="0"/>
              </a:spcAft>
              <a:defRPr sz="2400" b="1">
                <a:solidFill>
                  <a:srgbClr val="F5F6FA"/>
                </a:solidFill>
                <a:latin typeface="Arial"/>
              </a:defRPr>
            </a:pPr>
            <a:r>
              <a:t>Fanoušek interpreta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746500"/>
            <a:ext cx="3048000" cy="711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360"/>
              </a:lnSpc>
              <a:spcAft>
                <a:spcPts val="0"/>
              </a:spcAft>
              <a:defRPr sz="2000" b="0">
                <a:solidFill>
                  <a:srgbClr val="ADE6D5"/>
                </a:solidFill>
                <a:latin typeface="Arial"/>
              </a:defRPr>
            </a:pPr>
            <a:r>
              <a:t>Kdy vystoupí moje jméno?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4546600"/>
            <a:ext cx="3048000" cy="711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242"/>
              </a:lnSpc>
              <a:spcAft>
                <a:spcPts val="0"/>
              </a:spcAft>
              <a:defRPr sz="1900" b="0">
                <a:solidFill>
                  <a:srgbClr val="B7BFCC"/>
                </a:solidFill>
                <a:latin typeface="Arial"/>
              </a:defRPr>
            </a:pPr>
            <a:r>
              <a:t>Hledání → detail</a:t>
            </a:r>
          </a:p>
          <a:p>
            <a:pPr>
              <a:lnSpc>
                <a:spcPts val="2242"/>
              </a:lnSpc>
              <a:spcAft>
                <a:spcPts val="0"/>
              </a:spcAft>
              <a:defRPr sz="1900" b="0">
                <a:solidFill>
                  <a:srgbClr val="B7BFCC"/>
                </a:solidFill>
                <a:latin typeface="Arial"/>
              </a:defRPr>
            </a:pPr>
            <a:r>
              <a:t>Koncert a hudební odkazy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77200" y="2209800"/>
            <a:ext cx="3505200" cy="3162300"/>
          </a:xfrm>
          <a:prstGeom prst="rect">
            <a:avLst/>
          </a:prstGeom>
          <a:solidFill>
            <a:srgbClr val="1D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77200" y="2209800"/>
            <a:ext cx="3505200" cy="508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05800" y="2438400"/>
            <a:ext cx="3048000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770"/>
              </a:lnSpc>
              <a:spcAft>
                <a:spcPts val="0"/>
              </a:spcAft>
              <a:defRPr sz="1500" b="1">
                <a:solidFill>
                  <a:srgbClr val="FF885D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05800" y="2844800"/>
            <a:ext cx="3048000" cy="774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32"/>
              </a:lnSpc>
              <a:spcAft>
                <a:spcPts val="0"/>
              </a:spcAft>
              <a:defRPr sz="2400" b="1">
                <a:solidFill>
                  <a:srgbClr val="F5F6FA"/>
                </a:solidFill>
                <a:latin typeface="Arial"/>
              </a:defRPr>
            </a:pPr>
            <a:r>
              <a:t>Návštěvník Prahy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5800" y="3746500"/>
            <a:ext cx="3048000" cy="711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360"/>
              </a:lnSpc>
              <a:spcAft>
                <a:spcPts val="0"/>
              </a:spcAft>
              <a:defRPr sz="2000" b="0">
                <a:solidFill>
                  <a:srgbClr val="ADE6D5"/>
                </a:solidFill>
                <a:latin typeface="Arial"/>
              </a:defRPr>
            </a:pPr>
            <a:r>
              <a:t>Jak se dostanu do areálu?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5800" y="4546600"/>
            <a:ext cx="3048000" cy="711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242"/>
              </a:lnSpc>
              <a:spcAft>
                <a:spcPts val="0"/>
              </a:spcAft>
              <a:defRPr sz="1900" b="0">
                <a:solidFill>
                  <a:srgbClr val="B7BFCC"/>
                </a:solidFill>
                <a:latin typeface="Arial"/>
              </a:defRPr>
            </a:pPr>
            <a:r>
              <a:t>Doprava a plánek</a:t>
            </a:r>
          </a:p>
          <a:p>
            <a:pPr>
              <a:lnSpc>
                <a:spcPts val="2242"/>
              </a:lnSpc>
              <a:spcAft>
                <a:spcPts val="0"/>
              </a:spcAft>
              <a:defRPr sz="1900" b="0">
                <a:solidFill>
                  <a:srgbClr val="B7BFCC"/>
                </a:solidFill>
                <a:latin typeface="Arial"/>
              </a:defRPr>
            </a:pPr>
            <a:r>
              <a:t>Čeština / angličtina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600" y="5600700"/>
            <a:ext cx="10972800" cy="482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124"/>
              </a:lnSpc>
              <a:spcAft>
                <a:spcPts val="0"/>
              </a:spcAft>
              <a:defRPr sz="1800" b="0">
                <a:solidFill>
                  <a:srgbClr val="B7BFCC"/>
                </a:solidFill>
                <a:latin typeface="Arial"/>
              </a:defRPr>
            </a:pPr>
            <a:r>
              <a:t>Hlavní akce: najít koncert → uložit program → vybrat vstupenku.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9600" y="6273800"/>
            <a:ext cx="10972800" cy="12700"/>
          </a:xfrm>
          <a:prstGeom prst="rect">
            <a:avLst/>
          </a:prstGeom>
          <a:solidFill>
            <a:srgbClr val="3D4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9600" y="6464300"/>
            <a:ext cx="9906000" cy="203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97"/>
              </a:lnSpc>
              <a:spcAft>
                <a:spcPts val="0"/>
              </a:spcAft>
              <a:defRPr sz="1100" b="0">
                <a:solidFill>
                  <a:srgbClr val="B7BFCC"/>
                </a:solidFill>
                <a:latin typeface="Arial"/>
              </a:defRPr>
            </a:pPr>
            <a:r>
              <a:t>Prague Pulse Fest · Výstaviště Praha · 2027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38900"/>
            <a:ext cx="609600" cy="215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416"/>
              </a:lnSpc>
              <a:spcAft>
                <a:spcPts val="0"/>
              </a:spcAft>
              <a:defRPr sz="1200" b="0">
                <a:solidFill>
                  <a:srgbClr val="B7BFCC"/>
                </a:solidFill>
                <a:latin typeface="Arial"/>
              </a:defRPr>
            </a:pPr>
            <a:r>
              <a:t>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2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44500"/>
            <a:ext cx="10972800" cy="279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534"/>
              </a:lnSpc>
              <a:spcAft>
                <a:spcPts val="0"/>
              </a:spcAft>
              <a:defRPr sz="1300" b="1">
                <a:solidFill>
                  <a:srgbClr val="B7BFCC"/>
                </a:solidFill>
                <a:latin typeface="Arial"/>
              </a:defRPr>
            </a:pPr>
            <a:r>
              <a:t>XML · ENTITY · KAPACITY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76300"/>
            <a:ext cx="685800" cy="508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4200" y="1206500"/>
            <a:ext cx="10998200" cy="1130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4032"/>
              </a:lnSpc>
              <a:spcAft>
                <a:spcPts val="0"/>
              </a:spcAft>
              <a:defRPr sz="3600" b="1">
                <a:solidFill>
                  <a:srgbClr val="F5F6FA"/>
                </a:solidFill>
                <a:latin typeface="Arial"/>
              </a:defRPr>
            </a:pPr>
            <a:r>
              <a:t>Jedna datová základna, tři scény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209800"/>
            <a:ext cx="2540000" cy="863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6725"/>
              </a:lnSpc>
              <a:spcAft>
                <a:spcPts val="0"/>
              </a:spcAft>
              <a:defRPr sz="5700" b="1">
                <a:solidFill>
                  <a:srgbClr val="FF885D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3048000"/>
            <a:ext cx="2540000" cy="368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477"/>
              </a:lnSpc>
              <a:spcAft>
                <a:spcPts val="0"/>
              </a:spcAft>
              <a:defRPr sz="2100" b="0">
                <a:solidFill>
                  <a:srgbClr val="F5F6FA"/>
                </a:solidFill>
                <a:latin typeface="Arial"/>
              </a:defRPr>
            </a:pPr>
            <a:r>
              <a:t>dny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16300" y="2209800"/>
            <a:ext cx="2540000" cy="863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6725"/>
              </a:lnSpc>
              <a:spcAft>
                <a:spcPts val="0"/>
              </a:spcAft>
              <a:defRPr sz="5700" b="1">
                <a:solidFill>
                  <a:srgbClr val="FF885D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16300" y="3048000"/>
            <a:ext cx="2540000" cy="368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477"/>
              </a:lnSpc>
              <a:spcAft>
                <a:spcPts val="0"/>
              </a:spcAft>
              <a:defRPr sz="2100" b="0">
                <a:solidFill>
                  <a:srgbClr val="F5F6FA"/>
                </a:solidFill>
                <a:latin typeface="Arial"/>
              </a:defRPr>
            </a:pPr>
            <a:r>
              <a:t>scény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23000" y="2209800"/>
            <a:ext cx="2540000" cy="863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6725"/>
              </a:lnSpc>
              <a:spcAft>
                <a:spcPts val="0"/>
              </a:spcAft>
              <a:defRPr sz="5700" b="1">
                <a:solidFill>
                  <a:srgbClr val="FF885D"/>
                </a:solidFill>
                <a:latin typeface="Arial"/>
              </a:defRPr>
            </a:pPr>
            <a:r>
              <a:t>60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23000" y="3048000"/>
            <a:ext cx="2540000" cy="368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477"/>
              </a:lnSpc>
              <a:spcAft>
                <a:spcPts val="0"/>
              </a:spcAft>
              <a:defRPr sz="2100" b="0">
                <a:solidFill>
                  <a:srgbClr val="F5F6FA"/>
                </a:solidFill>
                <a:latin typeface="Arial"/>
              </a:defRPr>
            </a:pPr>
            <a:r>
              <a:t>účinkujících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29700" y="2209800"/>
            <a:ext cx="2540000" cy="863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6725"/>
              </a:lnSpc>
              <a:spcAft>
                <a:spcPts val="0"/>
              </a:spcAft>
              <a:defRPr sz="5700" b="1">
                <a:solidFill>
                  <a:srgbClr val="FF885D"/>
                </a:solidFill>
                <a:latin typeface="Arial"/>
              </a:defRPr>
            </a:pPr>
            <a:r>
              <a:t>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29700" y="3048000"/>
            <a:ext cx="2540000" cy="368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477"/>
              </a:lnSpc>
              <a:spcAft>
                <a:spcPts val="0"/>
              </a:spcAft>
              <a:defRPr sz="2100" b="0">
                <a:solidFill>
                  <a:srgbClr val="F5F6FA"/>
                </a:solidFill>
                <a:latin typeface="Arial"/>
              </a:defRPr>
            </a:pPr>
            <a:r>
              <a:t>vystoupení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" y="3771900"/>
            <a:ext cx="3505200" cy="1422400"/>
          </a:xfrm>
          <a:prstGeom prst="rect">
            <a:avLst/>
          </a:prstGeom>
          <a:solidFill>
            <a:srgbClr val="1D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09600" y="3771900"/>
            <a:ext cx="50800" cy="14224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8200" y="3949700"/>
            <a:ext cx="3048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32"/>
              </a:lnSpc>
              <a:spcAft>
                <a:spcPts val="0"/>
              </a:spcAft>
              <a:defRPr sz="2400" b="1">
                <a:solidFill>
                  <a:srgbClr val="F5F6FA"/>
                </a:solidFill>
                <a:latin typeface="Arial"/>
              </a:defRPr>
            </a:pPr>
            <a:r>
              <a:t>Main Hall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8200" y="4406900"/>
            <a:ext cx="3048000" cy="406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32"/>
              </a:lnSpc>
              <a:spcAft>
                <a:spcPts val="0"/>
              </a:spcAft>
              <a:defRPr sz="2400" b="1">
                <a:solidFill>
                  <a:srgbClr val="ADE6D5"/>
                </a:solidFill>
                <a:latin typeface="Arial"/>
              </a:defRPr>
            </a:pPr>
            <a:r>
              <a:t>5 000 osob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200" y="4864100"/>
            <a:ext cx="3048000" cy="279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770"/>
              </a:lnSpc>
              <a:spcAft>
                <a:spcPts val="0"/>
              </a:spcAft>
              <a:defRPr sz="1500" b="0">
                <a:solidFill>
                  <a:srgbClr val="B7BFCC"/>
                </a:solidFill>
                <a:latin typeface="Arial"/>
              </a:defRPr>
            </a:pPr>
            <a:r>
              <a:t>VIP / Regular sedadla + stání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43400" y="3771900"/>
            <a:ext cx="3505200" cy="1422400"/>
          </a:xfrm>
          <a:prstGeom prst="rect">
            <a:avLst/>
          </a:prstGeom>
          <a:solidFill>
            <a:srgbClr val="1D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43400" y="3771900"/>
            <a:ext cx="50800" cy="1422400"/>
          </a:xfrm>
          <a:prstGeom prst="rect">
            <a:avLst/>
          </a:prstGeom>
          <a:solidFill>
            <a:srgbClr val="ADE6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0" y="3949700"/>
            <a:ext cx="3048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32"/>
              </a:lnSpc>
              <a:spcAft>
                <a:spcPts val="0"/>
              </a:spcAft>
              <a:defRPr sz="2400" b="1">
                <a:solidFill>
                  <a:srgbClr val="F5F6FA"/>
                </a:solidFill>
                <a:latin typeface="Arial"/>
              </a:defRPr>
            </a:pPr>
            <a:r>
              <a:t>River Stage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4406900"/>
            <a:ext cx="3048000" cy="406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32"/>
              </a:lnSpc>
              <a:spcAft>
                <a:spcPts val="0"/>
              </a:spcAft>
              <a:defRPr sz="2400" b="1">
                <a:solidFill>
                  <a:srgbClr val="ADE6D5"/>
                </a:solidFill>
                <a:latin typeface="Arial"/>
              </a:defRPr>
            </a:pPr>
            <a:r>
              <a:t>3 000 osob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4864100"/>
            <a:ext cx="3048000" cy="279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770"/>
              </a:lnSpc>
              <a:spcAft>
                <a:spcPts val="0"/>
              </a:spcAft>
              <a:defRPr sz="1500" b="0">
                <a:solidFill>
                  <a:srgbClr val="B7BFCC"/>
                </a:solidFill>
                <a:latin typeface="Arial"/>
              </a:defRPr>
            </a:pPr>
            <a:r>
              <a:t>Pouze stání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77200" y="3771900"/>
            <a:ext cx="3505200" cy="1422400"/>
          </a:xfrm>
          <a:prstGeom prst="rect">
            <a:avLst/>
          </a:prstGeom>
          <a:solidFill>
            <a:srgbClr val="1D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77200" y="3771900"/>
            <a:ext cx="50800" cy="14224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5800" y="3949700"/>
            <a:ext cx="3048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32"/>
              </a:lnSpc>
              <a:spcAft>
                <a:spcPts val="0"/>
              </a:spcAft>
              <a:defRPr sz="2400" b="1">
                <a:solidFill>
                  <a:srgbClr val="F5F6FA"/>
                </a:solidFill>
                <a:latin typeface="Arial"/>
              </a:defRPr>
            </a:pPr>
            <a:r>
              <a:t>Club Stage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05800" y="4406900"/>
            <a:ext cx="3048000" cy="406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32"/>
              </a:lnSpc>
              <a:spcAft>
                <a:spcPts val="0"/>
              </a:spcAft>
              <a:defRPr sz="2400" b="1">
                <a:solidFill>
                  <a:srgbClr val="ADE6D5"/>
                </a:solidFill>
                <a:latin typeface="Arial"/>
              </a:defRPr>
            </a:pPr>
            <a:r>
              <a:t>1 500 osob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5800" y="4864100"/>
            <a:ext cx="3048000" cy="279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770"/>
              </a:lnSpc>
              <a:spcAft>
                <a:spcPts val="0"/>
              </a:spcAft>
              <a:defRPr sz="1500" b="0">
                <a:solidFill>
                  <a:srgbClr val="B7BFCC"/>
                </a:solidFill>
                <a:latin typeface="Arial"/>
              </a:defRPr>
            </a:pPr>
            <a:r>
              <a:t>Pouze stání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5499100"/>
            <a:ext cx="10972800" cy="482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124"/>
              </a:lnSpc>
              <a:spcAft>
                <a:spcPts val="0"/>
              </a:spcAft>
              <a:defRPr sz="1800" b="0">
                <a:solidFill>
                  <a:srgbClr val="B7BFCC"/>
                </a:solidFill>
                <a:latin typeface="Arial"/>
              </a:defRPr>
            </a:pPr>
            <a:r>
              <a:t>Vystoupení → ID dne, scény a interpreta. Kapacity jsou návrhové.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9600" y="6273800"/>
            <a:ext cx="10972800" cy="12700"/>
          </a:xfrm>
          <a:prstGeom prst="rect">
            <a:avLst/>
          </a:prstGeom>
          <a:solidFill>
            <a:srgbClr val="3D4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9600" y="6464300"/>
            <a:ext cx="9906000" cy="203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97"/>
              </a:lnSpc>
              <a:spcAft>
                <a:spcPts val="0"/>
              </a:spcAft>
              <a:defRPr sz="1100" b="0">
                <a:solidFill>
                  <a:srgbClr val="B7BFCC"/>
                </a:solidFill>
                <a:latin typeface="Arial"/>
              </a:defRPr>
            </a:pPr>
            <a:r>
              <a:t>Prague Pulse Fest · Výstaviště Praha · 2027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6438900"/>
            <a:ext cx="609600" cy="215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416"/>
              </a:lnSpc>
              <a:spcAft>
                <a:spcPts val="0"/>
              </a:spcAft>
              <a:defRPr sz="1200" b="0">
                <a:solidFill>
                  <a:srgbClr val="B7BFCC"/>
                </a:solidFill>
                <a:latin typeface="Arial"/>
              </a:defRPr>
            </a:pPr>
            <a:r>
              <a:t>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2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44500"/>
            <a:ext cx="10972800" cy="279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534"/>
              </a:lnSpc>
              <a:spcAft>
                <a:spcPts val="0"/>
              </a:spcAft>
              <a:defRPr sz="1300" b="1">
                <a:solidFill>
                  <a:srgbClr val="B7BFCC"/>
                </a:solidFill>
                <a:latin typeface="Arial"/>
              </a:defRPr>
            </a:pPr>
            <a:r>
              <a:t>INFORMAČNÍ ARCHITEKTURA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76300"/>
            <a:ext cx="685800" cy="508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4200" y="1206500"/>
            <a:ext cx="10998200" cy="1130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4032"/>
              </a:lnSpc>
              <a:spcAft>
                <a:spcPts val="0"/>
              </a:spcAft>
              <a:defRPr sz="3600" b="1">
                <a:solidFill>
                  <a:srgbClr val="F5F6FA"/>
                </a:solidFill>
                <a:latin typeface="Arial"/>
              </a:defRPr>
            </a:pPr>
            <a:r>
              <a:t>Obsah se propojuje podle úkolu</a:t>
            </a:r>
          </a:p>
        </p:txBody>
      </p:sp>
      <p:sp>
        <p:nvSpPr>
          <p:cNvPr id="7" name="Rectangle 6"/>
          <p:cNvSpPr/>
          <p:nvPr/>
        </p:nvSpPr>
        <p:spPr>
          <a:xfrm>
            <a:off x="4470400" y="2120900"/>
            <a:ext cx="3251200" cy="5207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99000" y="2209800"/>
            <a:ext cx="2794000" cy="368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1">
                <a:solidFill>
                  <a:srgbClr val="101217"/>
                </a:solidFill>
                <a:latin typeface="Arial"/>
              </a:defRPr>
            </a:pPr>
            <a:r>
              <a:t>Úvod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96000" y="2641600"/>
            <a:ext cx="0" cy="165100"/>
          </a:xfrm>
          <a:prstGeom prst="line">
            <a:avLst/>
          </a:prstGeom>
          <a:ln w="19050">
            <a:solidFill>
              <a:srgbClr val="3D45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82600" y="2806700"/>
            <a:ext cx="7467600" cy="0"/>
          </a:xfrm>
          <a:prstGeom prst="line">
            <a:avLst/>
          </a:prstGeom>
          <a:ln w="19050">
            <a:solidFill>
              <a:srgbClr val="3D45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82600" y="2806700"/>
            <a:ext cx="0" cy="1765300"/>
          </a:xfrm>
          <a:prstGeom prst="line">
            <a:avLst/>
          </a:prstGeom>
          <a:ln w="19050">
            <a:solidFill>
              <a:srgbClr val="3D45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216400" y="2806700"/>
            <a:ext cx="0" cy="1765300"/>
          </a:xfrm>
          <a:prstGeom prst="line">
            <a:avLst/>
          </a:prstGeom>
          <a:ln w="19050">
            <a:solidFill>
              <a:srgbClr val="3D45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950200" y="2806700"/>
            <a:ext cx="0" cy="1765300"/>
          </a:xfrm>
          <a:prstGeom prst="line">
            <a:avLst/>
          </a:prstGeom>
          <a:ln w="19050">
            <a:solidFill>
              <a:srgbClr val="3D45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82600" y="3479800"/>
            <a:ext cx="127000" cy="0"/>
          </a:xfrm>
          <a:prstGeom prst="line">
            <a:avLst/>
          </a:prstGeom>
          <a:ln w="19050">
            <a:solidFill>
              <a:srgbClr val="3D45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609600" y="2997200"/>
            <a:ext cx="3505200" cy="977900"/>
          </a:xfrm>
          <a:prstGeom prst="rect">
            <a:avLst/>
          </a:prstGeom>
          <a:solidFill>
            <a:srgbClr val="1D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" y="3124200"/>
            <a:ext cx="3124200" cy="431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32"/>
              </a:lnSpc>
              <a:spcAft>
                <a:spcPts val="0"/>
              </a:spcAft>
              <a:defRPr sz="2400" b="1">
                <a:solidFill>
                  <a:srgbClr val="F5F6FA"/>
                </a:solidFill>
                <a:latin typeface="Arial"/>
              </a:defRPr>
            </a:pPr>
            <a:r>
              <a:t>Program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" y="3606800"/>
            <a:ext cx="3124200" cy="317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888"/>
              </a:lnSpc>
              <a:spcAft>
                <a:spcPts val="0"/>
              </a:spcAft>
              <a:defRPr sz="1600" b="0">
                <a:solidFill>
                  <a:srgbClr val="B7BFCC"/>
                </a:solidFill>
                <a:latin typeface="Arial"/>
              </a:defRPr>
            </a:pPr>
            <a:r>
              <a:t>Den · čas · osobní výběr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216400" y="3479800"/>
            <a:ext cx="127000" cy="0"/>
          </a:xfrm>
          <a:prstGeom prst="line">
            <a:avLst/>
          </a:prstGeom>
          <a:ln w="19050">
            <a:solidFill>
              <a:srgbClr val="3D45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4343400" y="2997200"/>
            <a:ext cx="3505200" cy="977900"/>
          </a:xfrm>
          <a:prstGeom prst="rect">
            <a:avLst/>
          </a:prstGeom>
          <a:solidFill>
            <a:srgbClr val="1D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33900" y="3124200"/>
            <a:ext cx="3124200" cy="431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32"/>
              </a:lnSpc>
              <a:spcAft>
                <a:spcPts val="0"/>
              </a:spcAft>
              <a:defRPr sz="2400" b="1">
                <a:solidFill>
                  <a:srgbClr val="F5F6FA"/>
                </a:solidFill>
                <a:latin typeface="Arial"/>
              </a:defRPr>
            </a:pPr>
            <a:r>
              <a:t>Účinkující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33900" y="3606800"/>
            <a:ext cx="3124200" cy="317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888"/>
              </a:lnSpc>
              <a:spcAft>
                <a:spcPts val="0"/>
              </a:spcAft>
              <a:defRPr sz="1600" b="0">
                <a:solidFill>
                  <a:srgbClr val="B7BFCC"/>
                </a:solidFill>
                <a:latin typeface="Arial"/>
              </a:defRPr>
            </a:pPr>
            <a:r>
              <a:t>Seznam → detail → koncert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950200" y="3479800"/>
            <a:ext cx="127000" cy="0"/>
          </a:xfrm>
          <a:prstGeom prst="line">
            <a:avLst/>
          </a:prstGeom>
          <a:ln w="19050">
            <a:solidFill>
              <a:srgbClr val="3D45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8077200" y="2997200"/>
            <a:ext cx="3505200" cy="977900"/>
          </a:xfrm>
          <a:prstGeom prst="rect">
            <a:avLst/>
          </a:prstGeom>
          <a:solidFill>
            <a:srgbClr val="1D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67700" y="3124200"/>
            <a:ext cx="3124200" cy="431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32"/>
              </a:lnSpc>
              <a:spcAft>
                <a:spcPts val="0"/>
              </a:spcAft>
              <a:defRPr sz="2400" b="1">
                <a:solidFill>
                  <a:srgbClr val="F5F6FA"/>
                </a:solidFill>
                <a:latin typeface="Arial"/>
              </a:defRPr>
            </a:pPr>
            <a:r>
              <a:t>Scény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67700" y="3606800"/>
            <a:ext cx="3124200" cy="317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888"/>
              </a:lnSpc>
              <a:spcAft>
                <a:spcPts val="0"/>
              </a:spcAft>
              <a:defRPr sz="1600" b="0">
                <a:solidFill>
                  <a:srgbClr val="B7BFCC"/>
                </a:solidFill>
                <a:latin typeface="Arial"/>
              </a:defRPr>
            </a:pPr>
            <a:r>
              <a:t>Místo → jeho program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82600" y="4572000"/>
            <a:ext cx="127000" cy="0"/>
          </a:xfrm>
          <a:prstGeom prst="line">
            <a:avLst/>
          </a:prstGeom>
          <a:ln w="19050">
            <a:solidFill>
              <a:srgbClr val="3D45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609600" y="4089400"/>
            <a:ext cx="3505200" cy="977900"/>
          </a:xfrm>
          <a:prstGeom prst="rect">
            <a:avLst/>
          </a:prstGeom>
          <a:solidFill>
            <a:srgbClr val="1D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0100" y="4216400"/>
            <a:ext cx="3124200" cy="431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32"/>
              </a:lnSpc>
              <a:spcAft>
                <a:spcPts val="0"/>
              </a:spcAft>
              <a:defRPr sz="2400" b="1">
                <a:solidFill>
                  <a:srgbClr val="F5F6FA"/>
                </a:solidFill>
                <a:latin typeface="Arial"/>
              </a:defRPr>
            </a:pPr>
            <a:r>
              <a:t>Info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100" y="4699000"/>
            <a:ext cx="3124200" cy="317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888"/>
              </a:lnSpc>
              <a:spcAft>
                <a:spcPts val="0"/>
              </a:spcAft>
              <a:defRPr sz="1600" b="0">
                <a:solidFill>
                  <a:srgbClr val="B7BFCC"/>
                </a:solidFill>
                <a:latin typeface="Arial"/>
              </a:defRPr>
            </a:pPr>
            <a:r>
              <a:t>Doprava · plánek · pobyt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216400" y="4572000"/>
            <a:ext cx="127000" cy="0"/>
          </a:xfrm>
          <a:prstGeom prst="line">
            <a:avLst/>
          </a:prstGeom>
          <a:ln w="19050">
            <a:solidFill>
              <a:srgbClr val="3D45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4343400" y="4089400"/>
            <a:ext cx="3505200" cy="977900"/>
          </a:xfrm>
          <a:prstGeom prst="rect">
            <a:avLst/>
          </a:prstGeom>
          <a:solidFill>
            <a:srgbClr val="1D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33900" y="4216400"/>
            <a:ext cx="3124200" cy="431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32"/>
              </a:lnSpc>
              <a:spcAft>
                <a:spcPts val="0"/>
              </a:spcAft>
              <a:defRPr sz="2400" b="1">
                <a:solidFill>
                  <a:srgbClr val="F5F6FA"/>
                </a:solidFill>
                <a:latin typeface="Arial"/>
              </a:defRPr>
            </a:pPr>
            <a:r>
              <a:t>Hledání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33900" y="4699000"/>
            <a:ext cx="3124200" cy="317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888"/>
              </a:lnSpc>
              <a:spcAft>
                <a:spcPts val="0"/>
              </a:spcAft>
              <a:defRPr sz="1600" b="0">
                <a:solidFill>
                  <a:srgbClr val="B7BFCC"/>
                </a:solidFill>
                <a:latin typeface="Arial"/>
              </a:defRPr>
            </a:pPr>
            <a:r>
              <a:t>Dotaz → výsledky → obsah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950200" y="4572000"/>
            <a:ext cx="127000" cy="0"/>
          </a:xfrm>
          <a:prstGeom prst="line">
            <a:avLst/>
          </a:prstGeom>
          <a:ln w="19050">
            <a:solidFill>
              <a:srgbClr val="3D45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8077200" y="4089400"/>
            <a:ext cx="3505200" cy="977900"/>
          </a:xfrm>
          <a:prstGeom prst="rect">
            <a:avLst/>
          </a:prstGeom>
          <a:solidFill>
            <a:srgbClr val="1D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67700" y="4216400"/>
            <a:ext cx="3124200" cy="431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32"/>
              </a:lnSpc>
              <a:spcAft>
                <a:spcPts val="0"/>
              </a:spcAft>
              <a:defRPr sz="2400" b="1">
                <a:solidFill>
                  <a:srgbClr val="F5F6FA"/>
                </a:solidFill>
                <a:latin typeface="Arial"/>
              </a:defRPr>
            </a:pPr>
            <a:r>
              <a:t>Vstupenky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67700" y="4699000"/>
            <a:ext cx="3124200" cy="317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888"/>
              </a:lnSpc>
              <a:spcAft>
                <a:spcPts val="0"/>
              </a:spcAft>
              <a:defRPr sz="1600" b="0">
                <a:solidFill>
                  <a:srgbClr val="B7BFCC"/>
                </a:solidFill>
                <a:latin typeface="Arial"/>
              </a:defRPr>
            </a:pPr>
            <a:r>
              <a:t>Výběr → košík → PDF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5499100"/>
            <a:ext cx="10972800" cy="482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124"/>
              </a:lnSpc>
              <a:spcAft>
                <a:spcPts val="0"/>
              </a:spcAft>
              <a:defRPr sz="1800" b="0">
                <a:solidFill>
                  <a:srgbClr val="B7BFCC"/>
                </a:solidFill>
                <a:latin typeface="Arial"/>
              </a:defRPr>
            </a:pPr>
            <a:r>
              <a:t>Koncert ↔ interpret ↔ scéna · Účet a historie jsou volitelné.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9600" y="6273800"/>
            <a:ext cx="10972800" cy="12700"/>
          </a:xfrm>
          <a:prstGeom prst="rect">
            <a:avLst/>
          </a:prstGeom>
          <a:solidFill>
            <a:srgbClr val="3D4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09600" y="6464300"/>
            <a:ext cx="9906000" cy="203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97"/>
              </a:lnSpc>
              <a:spcAft>
                <a:spcPts val="0"/>
              </a:spcAft>
              <a:defRPr sz="1100" b="0">
                <a:solidFill>
                  <a:srgbClr val="B7BFCC"/>
                </a:solidFill>
                <a:latin typeface="Arial"/>
              </a:defRPr>
            </a:pPr>
            <a:r>
              <a:t>Prague Pulse Fest · Výstaviště Praha · 2027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72800" y="6438900"/>
            <a:ext cx="609600" cy="215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416"/>
              </a:lnSpc>
              <a:spcAft>
                <a:spcPts val="0"/>
              </a:spcAft>
              <a:defRPr sz="1200" b="0">
                <a:solidFill>
                  <a:srgbClr val="B7BFCC"/>
                </a:solidFill>
                <a:latin typeface="Arial"/>
              </a:defRPr>
            </a:pPr>
            <a:r>
              <a:t>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2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44500"/>
            <a:ext cx="10972800" cy="279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534"/>
              </a:lnSpc>
              <a:spcAft>
                <a:spcPts val="0"/>
              </a:spcAft>
              <a:defRPr sz="1300" b="1">
                <a:solidFill>
                  <a:srgbClr val="B7BFCC"/>
                </a:solidFill>
                <a:latin typeface="Arial"/>
              </a:defRPr>
            </a:pPr>
            <a:r>
              <a:t>KLÍČOVÉ UŽIVATELSKÉ SCÉNÁŘE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76300"/>
            <a:ext cx="685800" cy="508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4200" y="1206500"/>
            <a:ext cx="10998200" cy="1130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4032"/>
              </a:lnSpc>
              <a:spcAft>
                <a:spcPts val="0"/>
              </a:spcAft>
              <a:defRPr sz="3600" b="1">
                <a:solidFill>
                  <a:srgbClr val="F5F6FA"/>
                </a:solidFill>
                <a:latin typeface="Arial"/>
              </a:defRPr>
            </a:pPr>
            <a:r>
              <a:t>Dva průchody, které ověříme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09800"/>
            <a:ext cx="5359400" cy="3251200"/>
          </a:xfrm>
          <a:prstGeom prst="rect">
            <a:avLst/>
          </a:prstGeom>
          <a:solidFill>
            <a:srgbClr val="1D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9600" y="2209800"/>
            <a:ext cx="660400" cy="4953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6600" y="2298700"/>
            <a:ext cx="482600" cy="368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477"/>
              </a:lnSpc>
              <a:spcAft>
                <a:spcPts val="0"/>
              </a:spcAft>
              <a:defRPr sz="2100" b="1">
                <a:solidFill>
                  <a:srgbClr val="101217"/>
                </a:solidFill>
                <a:latin typeface="Arial"/>
              </a:defRPr>
            </a:pPr>
            <a:r>
              <a:t>S1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7800" y="2311400"/>
            <a:ext cx="4305300" cy="431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1">
                <a:solidFill>
                  <a:srgbClr val="F5F6FA"/>
                </a:solidFill>
                <a:latin typeface="Arial"/>
              </a:defRPr>
            </a:pPr>
            <a:r>
              <a:t>Sestavit vlastní program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3009900"/>
            <a:ext cx="4902200" cy="368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360"/>
              </a:lnSpc>
              <a:spcAft>
                <a:spcPts val="0"/>
              </a:spcAft>
              <a:defRPr sz="2000" b="1">
                <a:solidFill>
                  <a:srgbClr val="ADE6D5"/>
                </a:solidFill>
                <a:latin typeface="Arial"/>
              </a:defRPr>
            </a:pPr>
            <a:r>
              <a:t>Návštěvník na telefonu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3492500"/>
            <a:ext cx="4902200" cy="406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242"/>
              </a:lnSpc>
              <a:spcAft>
                <a:spcPts val="0"/>
              </a:spcAft>
              <a:defRPr sz="1900" b="0">
                <a:solidFill>
                  <a:srgbClr val="B7BFCC"/>
                </a:solidFill>
                <a:latin typeface="Arial"/>
              </a:defRPr>
            </a:pPr>
            <a:r>
              <a:t>Zná den a scénu, hledá koncerty.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4089400"/>
            <a:ext cx="4902200" cy="736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477"/>
              </a:lnSpc>
              <a:spcAft>
                <a:spcPts val="0"/>
              </a:spcAft>
              <a:defRPr sz="2100" b="0">
                <a:solidFill>
                  <a:srgbClr val="F5F6FA"/>
                </a:solidFill>
                <a:latin typeface="Arial"/>
              </a:defRPr>
            </a:pPr>
            <a:r>
              <a:t>Program → 1. srpna → River</a:t>
            </a:r>
          </a:p>
          <a:p>
            <a:pPr>
              <a:lnSpc>
                <a:spcPts val="2477"/>
              </a:lnSpc>
              <a:spcAft>
                <a:spcPts val="0"/>
              </a:spcAft>
              <a:defRPr sz="2100" b="0">
                <a:solidFill>
                  <a:srgbClr val="F5F6FA"/>
                </a:solidFill>
                <a:latin typeface="Arial"/>
              </a:defRPr>
            </a:pPr>
            <a:r>
              <a:t>→ uložit → osobní program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8200" y="4991100"/>
            <a:ext cx="4902200" cy="12700"/>
          </a:xfrm>
          <a:prstGeom prst="rect">
            <a:avLst/>
          </a:prstGeom>
          <a:solidFill>
            <a:srgbClr val="3D4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200" y="5143500"/>
            <a:ext cx="4902200" cy="317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124"/>
              </a:lnSpc>
              <a:spcAft>
                <a:spcPts val="0"/>
              </a:spcAft>
              <a:defRPr sz="1800" b="0">
                <a:solidFill>
                  <a:srgbClr val="FF885D"/>
                </a:solidFill>
                <a:latin typeface="Arial"/>
              </a:defRPr>
            </a:pPr>
            <a:r>
              <a:t>Výběr zůstane i po obnovení.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23000" y="2209800"/>
            <a:ext cx="5359400" cy="3251200"/>
          </a:xfrm>
          <a:prstGeom prst="rect">
            <a:avLst/>
          </a:prstGeom>
          <a:solidFill>
            <a:srgbClr val="1D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23000" y="2209800"/>
            <a:ext cx="660400" cy="495300"/>
          </a:xfrm>
          <a:prstGeom prst="rect">
            <a:avLst/>
          </a:prstGeom>
          <a:solidFill>
            <a:srgbClr val="ADE6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0000" y="2298700"/>
            <a:ext cx="482600" cy="368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477"/>
              </a:lnSpc>
              <a:spcAft>
                <a:spcPts val="0"/>
              </a:spcAft>
              <a:defRPr sz="2100" b="1">
                <a:solidFill>
                  <a:srgbClr val="101217"/>
                </a:solidFill>
                <a:latin typeface="Arial"/>
              </a:defRPr>
            </a:pPr>
            <a:r>
              <a:t>S2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61200" y="2311400"/>
            <a:ext cx="4305300" cy="431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1">
                <a:solidFill>
                  <a:srgbClr val="F5F6FA"/>
                </a:solidFill>
                <a:latin typeface="Arial"/>
              </a:defRPr>
            </a:pPr>
            <a:r>
              <a:t>Najít známého interpreta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1600" y="3009900"/>
            <a:ext cx="4902200" cy="368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360"/>
              </a:lnSpc>
              <a:spcAft>
                <a:spcPts val="0"/>
              </a:spcAft>
              <a:defRPr sz="2000" b="1">
                <a:solidFill>
                  <a:srgbClr val="ADE6D5"/>
                </a:solidFill>
                <a:latin typeface="Arial"/>
              </a:defRPr>
            </a:pPr>
            <a:r>
              <a:t>Fanoušek DARKZY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51600" y="3492500"/>
            <a:ext cx="4902200" cy="406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242"/>
              </a:lnSpc>
              <a:spcAft>
                <a:spcPts val="0"/>
              </a:spcAft>
              <a:defRPr sz="1900" b="0">
                <a:solidFill>
                  <a:srgbClr val="B7BFCC"/>
                </a:solidFill>
                <a:latin typeface="Arial"/>
              </a:defRPr>
            </a:pPr>
            <a:r>
              <a:t>Zná jméno, nezná čas a scénu.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51600" y="4089400"/>
            <a:ext cx="4902200" cy="736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477"/>
              </a:lnSpc>
              <a:spcAft>
                <a:spcPts val="0"/>
              </a:spcAft>
              <a:defRPr sz="2100" b="0">
                <a:solidFill>
                  <a:srgbClr val="F5F6FA"/>
                </a:solidFill>
                <a:latin typeface="Arial"/>
              </a:defRPr>
            </a:pPr>
            <a:r>
              <a:t>Hledání → DARKZY → detail</a:t>
            </a:r>
          </a:p>
          <a:p>
            <a:pPr>
              <a:lnSpc>
                <a:spcPts val="2477"/>
              </a:lnSpc>
              <a:spcAft>
                <a:spcPts val="0"/>
              </a:spcAft>
              <a:defRPr sz="2100" b="0">
                <a:solidFill>
                  <a:srgbClr val="F5F6FA"/>
                </a:solidFill>
                <a:latin typeface="Arial"/>
              </a:defRPr>
            </a:pPr>
            <a:r>
              <a:t>→ související vystoupení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51600" y="4991100"/>
            <a:ext cx="4902200" cy="12700"/>
          </a:xfrm>
          <a:prstGeom prst="rect">
            <a:avLst/>
          </a:prstGeom>
          <a:solidFill>
            <a:srgbClr val="3D4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51600" y="5143500"/>
            <a:ext cx="4902200" cy="317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124"/>
              </a:lnSpc>
              <a:spcAft>
                <a:spcPts val="0"/>
              </a:spcAft>
              <a:defRPr sz="1800" b="0">
                <a:solidFill>
                  <a:srgbClr val="FF885D"/>
                </a:solidFill>
                <a:latin typeface="Arial"/>
              </a:defRPr>
            </a:pPr>
            <a:r>
              <a:t>Zjistí datum, čas a Club Stage.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600" y="5689600"/>
            <a:ext cx="109728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124"/>
              </a:lnSpc>
              <a:spcAft>
                <a:spcPts val="0"/>
              </a:spcAft>
              <a:defRPr sz="1800" b="0">
                <a:solidFill>
                  <a:srgbClr val="B7BFCC"/>
                </a:solidFill>
                <a:latin typeface="Arial"/>
              </a:defRPr>
            </a:pPr>
            <a:r>
              <a:t>Specifikace dále definuje S3: objednávka hosta se stažením PDF.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9600" y="6273800"/>
            <a:ext cx="10972800" cy="12700"/>
          </a:xfrm>
          <a:prstGeom prst="rect">
            <a:avLst/>
          </a:prstGeom>
          <a:solidFill>
            <a:srgbClr val="3D4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9600" y="6464300"/>
            <a:ext cx="9906000" cy="203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97"/>
              </a:lnSpc>
              <a:spcAft>
                <a:spcPts val="0"/>
              </a:spcAft>
              <a:defRPr sz="1100" b="0">
                <a:solidFill>
                  <a:srgbClr val="B7BFCC"/>
                </a:solidFill>
                <a:latin typeface="Arial"/>
              </a:defRPr>
            </a:pPr>
            <a:r>
              <a:t>Prague Pulse Fest · Výstaviště Praha · 2027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38900"/>
            <a:ext cx="609600" cy="215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416"/>
              </a:lnSpc>
              <a:spcAft>
                <a:spcPts val="0"/>
              </a:spcAft>
              <a:defRPr sz="1200" b="0">
                <a:solidFill>
                  <a:srgbClr val="B7BFCC"/>
                </a:solidFill>
                <a:latin typeface="Arial"/>
              </a:defRPr>
            </a:pPr>
            <a:r>
              <a:t>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2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44500"/>
            <a:ext cx="10972800" cy="279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534"/>
              </a:lnSpc>
              <a:spcAft>
                <a:spcPts val="0"/>
              </a:spcAft>
              <a:defRPr sz="1300" b="1">
                <a:solidFill>
                  <a:srgbClr val="B7BFCC"/>
                </a:solidFill>
                <a:latin typeface="Arial"/>
              </a:defRPr>
            </a:pPr>
            <a:r>
              <a:t>POUŽITÍ AI · ROZHODNUTÍ · KONTROLA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76300"/>
            <a:ext cx="685800" cy="508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4200" y="1206500"/>
            <a:ext cx="10998200" cy="1130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4032"/>
              </a:lnSpc>
              <a:spcAft>
                <a:spcPts val="0"/>
              </a:spcAft>
              <a:defRPr sz="3600" b="1">
                <a:solidFill>
                  <a:srgbClr val="F5F6FA"/>
                </a:solidFill>
                <a:latin typeface="Arial"/>
              </a:defRPr>
            </a:pPr>
            <a:r>
              <a:t>AI navrhuje. Výsledek ověřujeme.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09800"/>
            <a:ext cx="3505200" cy="1435100"/>
          </a:xfrm>
          <a:prstGeom prst="rect">
            <a:avLst/>
          </a:prstGeom>
          <a:solidFill>
            <a:srgbClr val="1D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200" y="2413000"/>
            <a:ext cx="3048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1">
                <a:solidFill>
                  <a:srgbClr val="FF885D"/>
                </a:solidFill>
                <a:latin typeface="Arial"/>
              </a:defRPr>
            </a:pPr>
            <a:r>
              <a:t>Přijato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2959100"/>
            <a:ext cx="3048000" cy="622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360"/>
              </a:lnSpc>
              <a:spcAft>
                <a:spcPts val="0"/>
              </a:spcAft>
              <a:defRPr sz="2000" b="0">
                <a:solidFill>
                  <a:srgbClr val="F5F6FA"/>
                </a:solidFill>
                <a:latin typeface="Arial"/>
              </a:defRPr>
            </a:pPr>
            <a:r>
              <a:t>Struktura, texty a vazby</a:t>
            </a:r>
          </a:p>
          <a:p>
            <a:pPr>
              <a:lnSpc>
                <a:spcPts val="2360"/>
              </a:lnSpc>
              <a:spcAft>
                <a:spcPts val="0"/>
              </a:spcAft>
              <a:defRPr sz="2000" b="0">
                <a:solidFill>
                  <a:srgbClr val="F5F6FA"/>
                </a:solidFill>
                <a:latin typeface="Arial"/>
              </a:defRPr>
            </a:pPr>
            <a:r>
              <a:t>přes ID.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209800"/>
            <a:ext cx="3505200" cy="1435100"/>
          </a:xfrm>
          <a:prstGeom prst="rect">
            <a:avLst/>
          </a:prstGeom>
          <a:solidFill>
            <a:srgbClr val="1D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2413000"/>
            <a:ext cx="3048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1">
                <a:solidFill>
                  <a:srgbClr val="FF885D"/>
                </a:solidFill>
                <a:latin typeface="Arial"/>
              </a:defRPr>
            </a:pPr>
            <a:r>
              <a:t>Upraveno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959100"/>
            <a:ext cx="3048000" cy="622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360"/>
              </a:lnSpc>
              <a:spcAft>
                <a:spcPts val="0"/>
              </a:spcAft>
              <a:defRPr sz="2000" b="0">
                <a:solidFill>
                  <a:srgbClr val="F5F6FA"/>
                </a:solidFill>
                <a:latin typeface="Arial"/>
              </a:defRPr>
            </a:pPr>
            <a:r>
              <a:t>Scénáře, kapacity a</a:t>
            </a:r>
          </a:p>
          <a:p>
            <a:pPr>
              <a:lnSpc>
                <a:spcPts val="2360"/>
              </a:lnSpc>
              <a:spcAft>
                <a:spcPts val="0"/>
              </a:spcAft>
              <a:defRPr sz="2000" b="0">
                <a:solidFill>
                  <a:srgbClr val="F5F6FA"/>
                </a:solidFill>
                <a:latin typeface="Arial"/>
              </a:defRPr>
            </a:pPr>
            <a:r>
              <a:t>program.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77200" y="2209800"/>
            <a:ext cx="3505200" cy="1435100"/>
          </a:xfrm>
          <a:prstGeom prst="rect">
            <a:avLst/>
          </a:prstGeom>
          <a:solidFill>
            <a:srgbClr val="1D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05800" y="2413000"/>
            <a:ext cx="3048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1">
                <a:solidFill>
                  <a:srgbClr val="FF885D"/>
                </a:solidFill>
                <a:latin typeface="Arial"/>
              </a:defRPr>
            </a:pPr>
            <a:r>
              <a:t>Odmítnuto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05800" y="2959100"/>
            <a:ext cx="3048000" cy="622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360"/>
              </a:lnSpc>
              <a:spcAft>
                <a:spcPts val="0"/>
              </a:spcAft>
              <a:defRPr sz="2000" b="0">
                <a:solidFill>
                  <a:srgbClr val="F5F6FA"/>
                </a:solidFill>
                <a:latin typeface="Arial"/>
              </a:defRPr>
            </a:pPr>
            <a:r>
              <a:t>Backend mimo klientské</a:t>
            </a:r>
          </a:p>
          <a:p>
            <a:pPr>
              <a:lnSpc>
                <a:spcPts val="2360"/>
              </a:lnSpc>
              <a:spcAft>
                <a:spcPts val="0"/>
              </a:spcAft>
              <a:defRPr sz="2000" b="0">
                <a:solidFill>
                  <a:srgbClr val="F5F6FA"/>
                </a:solidFill>
                <a:latin typeface="Arial"/>
              </a:defRPr>
            </a:pPr>
            <a:r>
              <a:t>zadání.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4051300"/>
            <a:ext cx="10972800" cy="406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595"/>
              </a:lnSpc>
              <a:spcAft>
                <a:spcPts val="0"/>
              </a:spcAft>
              <a:defRPr sz="2200" b="1">
                <a:solidFill>
                  <a:srgbClr val="ADE6D5"/>
                </a:solidFill>
                <a:latin typeface="Arial"/>
              </a:defRPr>
            </a:pPr>
            <a:r>
              <a:t>Konkrétní ověření dat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4660900"/>
            <a:ext cx="393700" cy="393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477"/>
              </a:lnSpc>
              <a:spcAft>
                <a:spcPts val="0"/>
              </a:spcAft>
              <a:defRPr sz="2100" b="1">
                <a:solidFill>
                  <a:srgbClr val="FF885D"/>
                </a:solidFill>
                <a:latin typeface="Arial"/>
              </a:defRPr>
            </a:pPr>
            <a:r>
              <a:t>1.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1400" y="4660900"/>
            <a:ext cx="3073400" cy="711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477"/>
              </a:lnSpc>
              <a:spcAft>
                <a:spcPts val="0"/>
              </a:spcAft>
              <a:defRPr sz="2100" b="0">
                <a:solidFill>
                  <a:srgbClr val="F5F6FA"/>
                </a:solidFill>
                <a:latin typeface="Arial"/>
              </a:defRPr>
            </a:pPr>
            <a:r>
              <a:t>XML / XSD a počty entit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4660900"/>
            <a:ext cx="393700" cy="393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477"/>
              </a:lnSpc>
              <a:spcAft>
                <a:spcPts val="0"/>
              </a:spcAft>
              <a:defRPr sz="2100" b="1">
                <a:solidFill>
                  <a:srgbClr val="FF885D"/>
                </a:solidFill>
                <a:latin typeface="Arial"/>
              </a:defRPr>
            </a:pPr>
            <a:r>
              <a:t>2.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75200" y="4660900"/>
            <a:ext cx="3073400" cy="711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477"/>
              </a:lnSpc>
              <a:spcAft>
                <a:spcPts val="0"/>
              </a:spcAft>
              <a:defRPr sz="2100" b="0">
                <a:solidFill>
                  <a:srgbClr val="F5F6FA"/>
                </a:solidFill>
                <a:latin typeface="Arial"/>
              </a:defRPr>
            </a:pPr>
            <a:r>
              <a:t>Existující ID a reference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77200" y="4660900"/>
            <a:ext cx="393700" cy="393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477"/>
              </a:lnSpc>
              <a:spcAft>
                <a:spcPts val="0"/>
              </a:spcAft>
              <a:defRPr sz="2100" b="1">
                <a:solidFill>
                  <a:srgbClr val="FF885D"/>
                </a:solidFill>
                <a:latin typeface="Arial"/>
              </a:defRPr>
            </a:pPr>
            <a:r>
              <a:t>3.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9000" y="4660900"/>
            <a:ext cx="3073400" cy="711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477"/>
              </a:lnSpc>
              <a:spcAft>
                <a:spcPts val="0"/>
              </a:spcAft>
              <a:defRPr sz="2100" b="0">
                <a:solidFill>
                  <a:srgbClr val="F5F6FA"/>
                </a:solidFill>
                <a:latin typeface="Arial"/>
              </a:defRPr>
            </a:pPr>
            <a:r>
              <a:t>Shoda XML → export pro</a:t>
            </a:r>
          </a:p>
          <a:p>
            <a:pPr>
              <a:lnSpc>
                <a:spcPts val="2477"/>
              </a:lnSpc>
              <a:spcAft>
                <a:spcPts val="0"/>
              </a:spcAft>
              <a:defRPr sz="2100" b="0">
                <a:solidFill>
                  <a:srgbClr val="F5F6FA"/>
                </a:solidFill>
                <a:latin typeface="Arial"/>
              </a:defRPr>
            </a:pPr>
            <a:r>
              <a:t>web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5626100"/>
            <a:ext cx="109728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124"/>
              </a:lnSpc>
              <a:spcAft>
                <a:spcPts val="0"/>
              </a:spcAft>
              <a:defRPr sz="1800" b="0">
                <a:solidFill>
                  <a:srgbClr val="B7BFCC"/>
                </a:solidFill>
                <a:latin typeface="Arial"/>
              </a:defRPr>
            </a:pPr>
            <a:r>
              <a:t>Limit: datová validace nenahrazuje test s návštěvníky.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9600" y="6273800"/>
            <a:ext cx="10972800" cy="12700"/>
          </a:xfrm>
          <a:prstGeom prst="rect">
            <a:avLst/>
          </a:prstGeom>
          <a:solidFill>
            <a:srgbClr val="3D4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9600" y="6464300"/>
            <a:ext cx="9906000" cy="203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97"/>
              </a:lnSpc>
              <a:spcAft>
                <a:spcPts val="0"/>
              </a:spcAft>
              <a:defRPr sz="1100" b="0">
                <a:solidFill>
                  <a:srgbClr val="B7BFCC"/>
                </a:solidFill>
                <a:latin typeface="Arial"/>
              </a:defRPr>
            </a:pPr>
            <a:r>
              <a:t>Prague Pulse Fest · Výstaviště Praha · 2027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438900"/>
            <a:ext cx="609600" cy="215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416"/>
              </a:lnSpc>
              <a:spcAft>
                <a:spcPts val="0"/>
              </a:spcAft>
              <a:defRPr sz="1200" b="0">
                <a:solidFill>
                  <a:srgbClr val="B7BFCC"/>
                </a:solidFill>
                <a:latin typeface="Arial"/>
              </a:defRPr>
            </a:pPr>
            <a:r>
              <a:t>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Prague Pulse Fest — cvičení 02: Projektová specifikace a data</dc:title>
  <dc:subject>Dodatečně připravený milník podle zadání; nikoli doložená historie semestru.</dc:subject>
  <dc:creator>Michal Ladra, Matěj Mlejnek, Jan Martínek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