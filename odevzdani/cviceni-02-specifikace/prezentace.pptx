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Představujeme Prague Pulse Fest, fiktivní třídenní hudební festival v Praze. Cílem webu je umožnit návštěvníkovi rychle zjistit, kdy a kde hrají oblíbené kapely, a připravit si vlastní program. Jde o aktuálně připravený podklad k milníku, ne doklad historického odevzdání. Základem je specifikace a XML datová základna. Zachováváme tři dny, tři scény a šedesát účinkujících; původní název, posun termínu na srpen 2027 a výraznější grafický směr vznikly z požadavku zadavatele. Současná datová základna obsahuje skutečné interprety jako navržený line-up; nejde o potvrzení jejich účasti.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Festival trvá od prvního do třetího srpna 2027 ve fiktivně uspořádaném areálu u reálného Výstaviště Praha. XML obsahuje tři dny, tři scény, šedesát skutečných interpretů a šedesát vystoupení. Každá scéna má dvacet jmen a jasné zaměření: Main Hall velká mezinárodní jména, River Stage českou scénu a Club Stage klubovou elektroniku. Každý interpret má jedno vystoupení, program je chronologický a scény nemají kolize. Skutečná jména ale neznamenají potvrzenou účast. Vztahy kontrolujeme podle jednoznačných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Hlavní skupiny definujeme podle konkrétní potřeby, nikoli jen věku. Návštěvník na telefonu potřebuje najít nejbližší koncert; fanoušek konkrétní kapely hledá známé jméno a čas. Lidé přijíždějící do Prahy potřebují praktické informace a zahraniční návštěvníci angličtinu. Pro každou potřebu máme jasnou funkci. Vedlejší tok umožní porovnat vstupenky a projít lokální objednávku. Na úvodu má být hned vidět název, datum a hlavní cesta do programu.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úvodní stránky vedeme do programu, účinkujících a praktických informací. Detail interpreta neukončuje cestu: odkazuje na příslušný koncert, kde je datum a scéna. Scéna naopak propojuje lokalitu s jejím programem. Vyhledávání má samostatné výsledky, které míří na správný obsah. Objednávka je oddělená souvislá cesta od porovnání tarifů přes košík k PDF. Účet není podmínkou objednávky. Takto vzniká struktura podle úkolů uživatele, nikoli podle technických souborů.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První scénář řeší návštěvníka na telefonu, který zná den a scénu. Filtrovaný seznam mu umožní uložit koncert a později se vrátit k vlastnímu programu. Ve druhém scénáři návštěvník zadá jen název DARKZY, otevře DARKZY a zjistí čas i scénu koncertu. Očekávané výsledky jsou měřitelné: filtry nesmějí vracet jiné dny a oblíbené musí vydržet obnovení. Třetím scénářem ve specifikaci je objednávka hosta s výstupem PDF. Třetí scénář nově dovoluje dva libovolné dny včetně prvního a třetího, vlastní sedadlo a kemp. Není nutné kupovat celý festival.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pomohla analyzovat zadání a připravit strukturu, texty i návrh datového propojení. Přijali jsme propojení podle ID a mobile-first přístup. Odmítli jsme vlastní backend, protože finální zadání vyžaduje čistě klientské řešení, a kopírování cizí značky. Builder kontroluje počty, unikátní identifikátory a existenci vazeb. Samotná AI kontrola ale nic nedokazuje, proto máme konkrétní validátory a navazující scénáře. Chybějící skutečné konzultace, schválení změn a týmovou historii nesmíme nahrazovat vymyšlenými tvrzeními.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51900" y="0"/>
            <a:ext cx="3340100" cy="68580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2476500" cy="350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6"/>
              </a:lnSpc>
              <a:spcAft>
                <a:spcPts val="0"/>
              </a:spcAft>
              <a:defRPr sz="1820" b="1">
                <a:solidFill>
                  <a:srgbClr val="F4F0E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"/>
            <a:ext cx="2476500" cy="513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46"/>
              </a:lnSpc>
              <a:spcAft>
                <a:spcPts val="0"/>
              </a:spcAft>
              <a:defRPr sz="2860" b="1">
                <a:solidFill>
                  <a:srgbClr val="F4F0E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041400"/>
            <a:ext cx="2641600" cy="196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7"/>
              </a:lnSpc>
              <a:spcAft>
                <a:spcPts val="0"/>
              </a:spcAft>
              <a:defRPr sz="845" b="1">
                <a:solidFill>
                  <a:srgbClr val="F4F0E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536700"/>
            <a:ext cx="7874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F0E7"/>
                </a:solidFill>
                <a:latin typeface="Arial"/>
              </a:defRPr>
            </a:pPr>
            <a:r>
              <a:t>CVIČENÍ 02 / SPECIFIKACE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133600"/>
            <a:ext cx="8001000" cy="2095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830"/>
              </a:lnSpc>
              <a:spcAft>
                <a:spcPts val="0"/>
              </a:spcAft>
              <a:defRPr sz="5500" b="1">
                <a:solidFill>
                  <a:srgbClr val="F4F0E7"/>
                </a:solidFill>
                <a:latin typeface="Arial"/>
              </a:defRPr>
            </a:pPr>
            <a:r>
              <a:t>Festival začíná</a:t>
            </a:r>
          </a:p>
          <a:p>
            <a:pPr>
              <a:lnSpc>
                <a:spcPts val="5830"/>
              </a:lnSpc>
              <a:spcAft>
                <a:spcPts val="0"/>
              </a:spcAft>
              <a:defRPr sz="5500" b="1">
                <a:solidFill>
                  <a:srgbClr val="F4F0E7"/>
                </a:solidFill>
                <a:latin typeface="Arial"/>
              </a:defRPr>
            </a:pPr>
            <a:r>
              <a:t>u programu.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724400"/>
            <a:ext cx="7747000" cy="1104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Aft>
                <a:spcPts val="0"/>
              </a:spcAft>
              <a:defRPr sz="1900" b="0">
                <a:solidFill>
                  <a:srgbClr val="F4F0E7"/>
                </a:solidFill>
                <a:latin typeface="Arial"/>
              </a:defRPr>
            </a:pPr>
            <a:r>
              <a:t>Prague Pulse Fest</a:t>
            </a:r>
          </a:p>
          <a:p>
            <a:pPr>
              <a:lnSpc>
                <a:spcPts val="2356"/>
              </a:lnSpc>
              <a:spcAft>
                <a:spcPts val="0"/>
              </a:spcAft>
              <a:defRPr sz="1900" b="0">
                <a:solidFill>
                  <a:srgbClr val="F4F0E7"/>
                </a:solidFill>
                <a:latin typeface="Arial"/>
              </a:defRPr>
            </a:pPr>
            <a:r>
              <a:t>1—3 / 08 / 2027 · Praha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0" y="889000"/>
            <a:ext cx="2667000" cy="961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067"/>
              </a:lnSpc>
              <a:spcAft>
                <a:spcPts val="0"/>
              </a:spcAft>
              <a:defRPr sz="5700" b="1">
                <a:solidFill>
                  <a:srgbClr val="181817"/>
                </a:solidFill>
                <a:latin typeface="Arial"/>
              </a:defRPr>
            </a:pPr>
            <a:r>
              <a:t>1—3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1765300"/>
            <a:ext cx="2667000" cy="551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4"/>
              </a:lnSpc>
              <a:spcAft>
                <a:spcPts val="0"/>
              </a:spcAft>
              <a:defRPr sz="3100" b="1">
                <a:solidFill>
                  <a:srgbClr val="181817"/>
                </a:solidFill>
                <a:latin typeface="Arial"/>
              </a:defRPr>
            </a:pPr>
            <a:r>
              <a:t>SRPEN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0200" y="2247900"/>
            <a:ext cx="2667000" cy="7249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208"/>
              </a:lnSpc>
              <a:spcAft>
                <a:spcPts val="0"/>
              </a:spcAft>
              <a:defRPr sz="4200" b="1">
                <a:solidFill>
                  <a:srgbClr val="181817"/>
                </a:solidFill>
                <a:latin typeface="Arial"/>
              </a:defRPr>
            </a:pPr>
            <a: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0" y="3619500"/>
            <a:ext cx="25400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Aft>
                <a:spcPts val="0"/>
              </a:spcAft>
              <a:defRPr sz="1700" b="1">
                <a:solidFill>
                  <a:srgbClr val="181817"/>
                </a:solidFill>
                <a:latin typeface="Arial"/>
              </a:defRPr>
            </a:pPr>
            <a:r>
              <a:t>PRAHA</a:t>
            </a:r>
          </a:p>
          <a:p>
            <a:pPr>
              <a:lnSpc>
                <a:spcPts val="2108"/>
              </a:lnSpc>
              <a:spcAft>
                <a:spcPts val="0"/>
              </a:spcAft>
              <a:defRPr sz="1700" b="1">
                <a:solidFill>
                  <a:srgbClr val="181817"/>
                </a:solidFill>
                <a:latin typeface="Arial"/>
              </a:defRPr>
            </a:pPr>
            <a:r>
              <a:t>VLTAVA 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5054600"/>
            <a:ext cx="2540000" cy="88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24"/>
              </a:lnSpc>
              <a:spcAft>
                <a:spcPts val="0"/>
              </a:spcAft>
              <a:defRPr sz="2600" b="1">
                <a:solidFill>
                  <a:srgbClr val="181817"/>
                </a:solidFill>
                <a:latin typeface="Arial"/>
              </a:defRPr>
            </a:pPr>
            <a:r>
              <a:t>CVIČENÍ</a:t>
            </a:r>
          </a:p>
          <a:p>
            <a:pPr>
              <a:lnSpc>
                <a:spcPts val="3224"/>
              </a:lnSpc>
              <a:spcAft>
                <a:spcPts val="0"/>
              </a:spcAft>
              <a:defRPr sz="2600" b="1">
                <a:solidFill>
                  <a:srgbClr val="1818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F4F0E7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F4F0E7"/>
                </a:solidFill>
                <a:latin typeface="Arial"/>
              </a:defRPr>
            </a:pPr>
            <a:r>
              <a:t>02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IDENTITA A DATOVÝ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Jedna akce. Propojená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94000"/>
            <a:ext cx="2552700" cy="20955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festivalové dny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0900" y="2794000"/>
            <a:ext cx="2552700" cy="2095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5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hudební scény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2794000"/>
            <a:ext cx="2552700" cy="2095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účinkujících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5900" y="2794000"/>
            <a:ext cx="2552700" cy="2095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programových položek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5295900"/>
            <a:ext cx="111252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0">
                <a:solidFill>
                  <a:srgbClr val="181817"/>
                </a:solidFill>
                <a:latin typeface="Arial"/>
              </a:defRPr>
            </a:pPr>
            <a:r>
              <a:t>1.–3. srpna 2027 · Vltava Park / Výstaviště Praha</a:t>
            </a:r>
          </a:p>
          <a:p>
            <a:pPr>
              <a:lnSpc>
                <a:spcPts val="2232"/>
              </a:lnSpc>
              <a:spcAft>
                <a:spcPts val="0"/>
              </a:spcAft>
              <a:defRPr sz="1800" b="0">
                <a:solidFill>
                  <a:srgbClr val="181817"/>
                </a:solidFill>
                <a:latin typeface="Arial"/>
              </a:defRPr>
            </a:pPr>
            <a:r>
              <a:t>Main Hall / mezinárodní · River Stage / CZ · Club Stage / elektronika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02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POTŘEBY → FUNKCE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Pro koho web připravujeme?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68600"/>
            <a:ext cx="35560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Na cestě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3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Mobilní návštěvník potřebuje čas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a scénu bez procházení celého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webu.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Filtry programu a osobní výběr.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768600"/>
            <a:ext cx="35560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9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Za konkrétní kapelou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Fanoušek zná část názvu,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potřebuje zjistit, kdy kapela hraje.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Hledání, detail a související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koncert.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2600" y="2768600"/>
            <a:ext cx="35560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85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Poprvé v Praze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Návštěvník potřebuje dopravu,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orientaci a srozumitelný jazyk.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Info, mapa lokality a CZ / 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02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INFORMAČNÍ ARCHITEKTURA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Obsah má konkrétní vazby.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946400"/>
            <a:ext cx="2552700" cy="17653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F4F0E7"/>
                </a:solidFill>
                <a:latin typeface="Arial"/>
              </a:defRPr>
            </a:pPr>
            <a:r>
              <a:t>Úvod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F4F0E7"/>
                </a:solidFill>
                <a:latin typeface="Arial"/>
              </a:defRPr>
            </a:pPr>
            <a:r>
              <a:t>Identita + datum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88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4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Den / scéna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63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9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Účinkující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Detail + koncert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38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59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64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64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Info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4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Doprava + místo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2070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Aft>
                <a:spcPts val="0"/>
              </a:spcAft>
              <a:defRPr sz="1700" b="0">
                <a:solidFill>
                  <a:srgbClr val="181817"/>
                </a:solidFill>
                <a:latin typeface="Arial"/>
              </a:defRPr>
            </a:pPr>
            <a:r>
              <a:t>Hledání vede na odpovídající objekt.</a:t>
            </a:r>
          </a:p>
          <a:p>
            <a:pPr>
              <a:lnSpc>
                <a:spcPts val="2108"/>
              </a:lnSpc>
              <a:spcAft>
                <a:spcPts val="0"/>
              </a:spcAft>
              <a:defRPr sz="1700" b="0">
                <a:solidFill>
                  <a:srgbClr val="181817"/>
                </a:solidFill>
                <a:latin typeface="Arial"/>
              </a:defRPr>
            </a:pPr>
            <a:r>
              <a:t>Vstupenky → košík → dokončení → PDF; účet je doplňková cesta.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KLÍČOVÉ SCÉNÁŘE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Dva průchody, jasný výsledek.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68600"/>
            <a:ext cx="54483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S1 / Vybrat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3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Telefon → den 1 → River Stage → uložit koncert →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osobní program.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Výsledek: správný výběr přetrvá po obnovení.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300" y="2768600"/>
            <a:ext cx="54483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3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62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S2 / Najít kapelu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2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Dotaz „DARKZY“ → DARKZY → detail → vystoupení.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Výsledek: návštěvník zná datum, čas a scénu.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5676900"/>
            <a:ext cx="111252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3"/>
              </a:lnSpc>
              <a:spcAft>
                <a:spcPts val="0"/>
              </a:spcAft>
              <a:defRPr sz="1320" b="0">
                <a:solidFill>
                  <a:srgbClr val="68635B"/>
                </a:solidFill>
                <a:latin typeface="Arial"/>
              </a:defRPr>
            </a:pPr>
            <a:r>
              <a:t>S3: vlastní dny a sedadlo, volitelný kemp, cena včetně modelové DPH.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02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POUŽITÍ AI A KONTROLA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AI návrh potřebuje důkaz.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68600"/>
            <a:ext cx="54483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Přijato / upraveno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3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AI: struktura, texty, propojení dat a vizuální návrh.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Vlastní identita festivalu; žádná kopie cizího loga.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300" y="2768600"/>
            <a:ext cx="54483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3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62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Jak ověřujeme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2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Počty a unikátní ID. Existence každé reference. Shoda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exportu s XML.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Scénáře ověřují chování, ne jen vzhled.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5676900"/>
            <a:ext cx="111252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3"/>
              </a:lnSpc>
              <a:spcAft>
                <a:spcPts val="0"/>
              </a:spcAft>
              <a:defRPr sz="1320" b="0">
                <a:solidFill>
                  <a:srgbClr val="68635B"/>
                </a:solidFill>
                <a:latin typeface="Arial"/>
              </a:defRPr>
            </a:pPr>
            <a:r>
              <a:t>Schválení redesignu a skutečnou historii semestru musí doložit tým.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Prague Pulse Fest — cvičení 02: Projektová specifikace a data</dc:title>
  <dc:subject>Dodatečně připravený milník podle zadání; nikoli doložená historie semestru.</dc:subject>
  <dc:creator>Prague Pulse Fest — projektové podklady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