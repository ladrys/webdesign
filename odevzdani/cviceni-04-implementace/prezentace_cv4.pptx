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 s] Dobrý den, jsme tým Prague Pulse Fest. Minule jsme ukazovali jednoduchý náčrt webu. Dnes už máme web, který opravdu funguje. Stačí ho otevřít v prohlížeči, nic se neinstaluje. Ukážeme, jak vypadá na telefonu a na počítači, jak se v něm pohybovat a projdeme naše dva scénáře.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s] Od minula přibyly čtyři hlavní věci. Web má vlastní festivalový vzhled a dá se přepnout do angličtiny. Program funguje: koncerty si vyberete podle dne a scény a ty oblíbené si uložíte. Když vás zaujme koncert, web vám rovnou nabídne vstupenku na správný den a scénu. A nakonec košík: nakoupit jde i bez registrace a vstupenku si stáhnete jako PDF. Nejdůležitější rozhodnutí bylo mít jeden soubor s daty. Program, interpreti i vstupenky z něj čerpají společně, takže si údaje nikdy neodporují.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s] Vlevo je úvodní stránka na počítači, vpravo na telefonu s otevřeným menu. Web jsme navrhovali nejdřív pro telefon, protože tam ho návštěvníci festivalu použijí nejčastěji. Na telefonu je obsah pod sebou v jednom sloupci. Na větší obrazovce se stejný obsah rozloží vedle sebe. Hlavní menu je na telefonu schované pod tlačítkem a obsahuje i vyhledávání a přepnutí jazyka. Na počítači je menu vidět pořád a vstupenky jsou zvýrazněné oranžovým tlačítkem. Na každé stránce navíc vidíte, kde se právě nacházíte.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 s] Tohle jsou skutečné obrázky z hotového webu na telefonu. První scénář: návštěvník ví, kdy přijde. Vybere první srpen a River Stage a ze šedesáti koncertů mu zbude sedm. Jeden si uloží a pak si zobrazí jen svůj program. Uložené koncerty zůstanou i po zavření stránky. Když si uloží dva koncerty ve stejný čas, web ho upozorní. Druhý scénář: fanoušek zná jen jméno interpreta. Napíše do hledání DARK a najde DARKZY i jeho koncert. Klikne na vstupenku a web mu sám nabídne správný den, první srpen, a správnou scénu, Club Stage. Nemusí tedy kupovat drahý třídenní lístek. Když chce, může výběr změnit a cena se hned přepočítá.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s] Chceme, aby web zvládl každý. Dá se ovládat jen klávesnicí, a oranžový rámeček na obrázku ukazuje, kde se právě nacházíte. Tlačítka jsou dost velká, aby se na telefonu dala trefit prstem. Každé políčko má popisek a web vždy řekne, kolik toho našel, nebo co je potřeba doplnit. Tyto informace přečte i program pro nevidomé. A aby nás lidé našli, má každá stránka vlastní název a popis, kterému rozumí vyhledávače i AI asistenti.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s] Umělá inteligence nám pomáhala s návrhem vzhledu, s texty o interpretech, s kódem i s testy. Nic jsme ale nepřevzali bez kontroly. Opravovali jsme třeba menu na telefonu, příliš obecné texty a výpočet ceny v košíku. Odmítli jsme kopírovat vzhled cizího festivalu a také návrh se serverem, protože zadání chce web, který běží jen v prohlížeči. Ověření nám nedělá AI. Pustili jsme automatické testy, které web skutečně proklikají: 615 kontrol prošlo. Všech 13 stránek jsme zkusili v sedmi velikostech obrazovky a nic nepřetéká. A všech 60 interpretů má správně přiřazený koncert. Fotky na webu jsou skutečné a mají uvedené zdroje; tuhle odchylku od zadání popisujeme v progress-03. Děkujeme, rádi odpovíme na otázky.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8000" y="584200"/>
            <a:ext cx="11176000" cy="5689600"/>
          </a:xfrm>
          <a:prstGeom prst="roundRect">
            <a:avLst>
              <a:gd name="adj" fmla="val 5357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899400" y="1041400"/>
            <a:ext cx="0" cy="4775200"/>
          </a:xfrm>
          <a:prstGeom prst="line">
            <a:avLst/>
          </a:prstGeom>
          <a:ln w="19050">
            <a:solidFill>
              <a:srgbClr val="4A50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670800" y="355600"/>
            <a:ext cx="457200" cy="457200"/>
          </a:xfrm>
          <a:prstGeom prst="ellipse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70800" y="6045200"/>
            <a:ext cx="457200" cy="457200"/>
          </a:xfrm>
          <a:prstGeom prst="ellipse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092200"/>
            <a:ext cx="6350000" cy="241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FF885D"/>
                </a:solidFill>
                <a:latin typeface="Arial"/>
              </a:defRPr>
            </a:pPr>
            <a:r>
              <a:t>CVIČENÍ 4 · PRVNÍ FUNKČNÍ VERZE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574800"/>
            <a:ext cx="6604000" cy="160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5684"/>
              </a:lnSpc>
              <a:spcAft>
                <a:spcPts val="0"/>
              </a:spcAft>
              <a:defRPr sz="5800" b="1">
                <a:solidFill>
                  <a:srgbClr val="FFFDF8"/>
                </a:solidFill>
                <a:latin typeface="Arial"/>
              </a:defRPr>
            </a:pPr>
            <a:r>
              <a:t>PRAGUE</a:t>
            </a:r>
          </a:p>
          <a:p>
            <a:pPr>
              <a:lnSpc>
                <a:spcPts val="5684"/>
              </a:lnSpc>
              <a:spcAft>
                <a:spcPts val="0"/>
              </a:spcAft>
              <a:defRPr sz="5800" b="1">
                <a:solidFill>
                  <a:srgbClr val="FFFDF8"/>
                </a:solidFill>
                <a:latin typeface="Arial"/>
              </a:defRPr>
            </a:pPr>
            <a:r>
              <a:t>PULSE FEST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05200"/>
            <a:ext cx="6350000" cy="965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620"/>
              </a:lnSpc>
              <a:spcAft>
                <a:spcPts val="0"/>
              </a:spcAft>
              <a:defRPr sz="4200" b="1">
                <a:solidFill>
                  <a:srgbClr val="FF885D"/>
                </a:solidFill>
                <a:latin typeface="Arial"/>
              </a:defRPr>
            </a:pPr>
            <a:r>
              <a:t>Web už funguje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724400"/>
            <a:ext cx="6350000" cy="635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C4C9D2"/>
                </a:solidFill>
                <a:latin typeface="Arial"/>
              </a:defRPr>
            </a:pPr>
            <a:r>
              <a:t>Ukážeme ho na telefonu i na počítači.</a:t>
            </a:r>
          </a:p>
          <a:p>
            <a:pPr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C4C9D2"/>
                </a:solidFill>
                <a:latin typeface="Arial"/>
              </a:defRPr>
            </a:pPr>
            <a:r>
              <a:t>Festival 1.–3. srpna 2027 · Výstaviště Praha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5588000"/>
            <a:ext cx="6350000" cy="241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400" b="0">
                <a:solidFill>
                  <a:srgbClr val="FFFDF8"/>
                </a:solidFill>
                <a:latin typeface="Arial"/>
              </a:defRPr>
            </a:pPr>
            <a:r>
              <a:t>Michal Ladra · Matěj Mlejnek · Jan Martínek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066800"/>
            <a:ext cx="2184400" cy="4549856"/>
          </a:xfrm>
          <a:prstGeom prst="roundRect">
            <a:avLst>
              <a:gd name="adj" fmla="val 8139"/>
            </a:avLst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1143000"/>
            <a:ext cx="2032000" cy="43974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5080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0"/>
              </a:lnSpc>
              <a:spcAft>
                <a:spcPts val="0"/>
              </a:spcAft>
              <a:defRPr sz="1000" b="1">
                <a:solidFill>
                  <a:srgbClr val="16181D"/>
                </a:solidFill>
                <a:latin typeface="Arial"/>
              </a:defRPr>
            </a:pPr>
            <a:r>
              <a:t>PRAGUE PULSE FEST · CVIČENÍ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50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806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362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918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474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030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736600"/>
            <a:ext cx="10972800" cy="558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Aft>
                <a:spcPts val="0"/>
              </a:spcAft>
              <a:defRPr sz="3400" b="1">
                <a:solidFill>
                  <a:srgbClr val="16181D"/>
                </a:solidFill>
                <a:latin typeface="Arial"/>
              </a:defRPr>
            </a:pPr>
            <a:r>
              <a:t>Co jsme od minula udělali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37160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0">
                <a:solidFill>
                  <a:srgbClr val="555C67"/>
                </a:solidFill>
                <a:latin typeface="Arial"/>
              </a:defRPr>
            </a:pPr>
            <a:r>
              <a:t>Z jednoduchého náčrtu je hotový web, který opravdu funguje.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1905000"/>
            <a:ext cx="2590800" cy="2997200"/>
          </a:xfrm>
          <a:prstGeom prst="roundRect">
            <a:avLst>
              <a:gd name="adj" fmla="val 4901"/>
            </a:avLst>
          </a:prstGeom>
          <a:solidFill>
            <a:srgbClr val="FFFDF8"/>
          </a:solidFill>
          <a:ln w="13970">
            <a:solidFill>
              <a:srgbClr val="E2D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8200" y="2184400"/>
            <a:ext cx="431800" cy="4318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4063" y="2309622"/>
            <a:ext cx="145473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1">
                <a:solidFill>
                  <a:srgbClr val="16181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870200"/>
            <a:ext cx="21590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60"/>
              </a:lnSpc>
              <a:spcAft>
                <a:spcPts val="0"/>
              </a:spcAft>
              <a:defRPr sz="2000" b="1">
                <a:solidFill>
                  <a:srgbClr val="16181D"/>
                </a:solidFill>
                <a:latin typeface="Arial"/>
              </a:defRPr>
            </a:pPr>
            <a:r>
              <a:t>Vlastní vzhled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263900"/>
            <a:ext cx="2159000" cy="158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Tmavý festivalový styl.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Web umí česky i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anglicky.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905000"/>
            <a:ext cx="2590800" cy="2997200"/>
          </a:xfrm>
          <a:prstGeom prst="roundRect">
            <a:avLst>
              <a:gd name="adj" fmla="val 4901"/>
            </a:avLst>
          </a:prstGeom>
          <a:solidFill>
            <a:srgbClr val="FFFDF8"/>
          </a:solidFill>
          <a:ln w="13970">
            <a:solidFill>
              <a:srgbClr val="E2D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57600" y="2184400"/>
            <a:ext cx="431800" cy="4318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3463" y="2309622"/>
            <a:ext cx="145473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1">
                <a:solidFill>
                  <a:srgbClr val="16181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870200"/>
            <a:ext cx="21590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60"/>
              </a:lnSpc>
              <a:spcAft>
                <a:spcPts val="0"/>
              </a:spcAft>
              <a:defRPr sz="2000" b="1">
                <a:solidFill>
                  <a:srgbClr val="16181D"/>
                </a:solidFill>
                <a:latin typeface="Arial"/>
              </a:defRPr>
            </a:pPr>
            <a:r>
              <a:t>Program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263900"/>
            <a:ext cx="2159000" cy="158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Koncerty vyberete podle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dne a scény. Oblíbené si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uložíte do svého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programu.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400" y="1905000"/>
            <a:ext cx="2590800" cy="2997200"/>
          </a:xfrm>
          <a:prstGeom prst="roundRect">
            <a:avLst>
              <a:gd name="adj" fmla="val 4901"/>
            </a:avLst>
          </a:prstGeom>
          <a:solidFill>
            <a:srgbClr val="FFFDF8"/>
          </a:solidFill>
          <a:ln w="13970">
            <a:solidFill>
              <a:srgbClr val="E2D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77000" y="2184400"/>
            <a:ext cx="431800" cy="4318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2863" y="2309622"/>
            <a:ext cx="145473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1">
                <a:solidFill>
                  <a:srgbClr val="16181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0" y="2870200"/>
            <a:ext cx="21590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60"/>
              </a:lnSpc>
              <a:spcAft>
                <a:spcPts val="0"/>
              </a:spcAft>
              <a:defRPr sz="2000" b="1">
                <a:solidFill>
                  <a:srgbClr val="16181D"/>
                </a:solidFill>
                <a:latin typeface="Arial"/>
              </a:defRPr>
            </a:pPr>
            <a:r>
              <a:t>Vstupenky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3263900"/>
            <a:ext cx="2159000" cy="158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Z koncertu se rovnou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nabídne správný den a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scéna. Cenu vidíte hned.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67800" y="1905000"/>
            <a:ext cx="2590800" cy="2997200"/>
          </a:xfrm>
          <a:prstGeom prst="roundRect">
            <a:avLst>
              <a:gd name="adj" fmla="val 4901"/>
            </a:avLst>
          </a:prstGeom>
          <a:solidFill>
            <a:srgbClr val="FFFDF8"/>
          </a:solidFill>
          <a:ln w="13970">
            <a:solidFill>
              <a:srgbClr val="E2D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96400" y="2184400"/>
            <a:ext cx="431800" cy="4318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2263" y="2309622"/>
            <a:ext cx="145473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1">
                <a:solidFill>
                  <a:srgbClr val="16181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6400" y="2870200"/>
            <a:ext cx="21590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60"/>
              </a:lnSpc>
              <a:spcAft>
                <a:spcPts val="0"/>
              </a:spcAft>
              <a:defRPr sz="2000" b="1">
                <a:solidFill>
                  <a:srgbClr val="16181D"/>
                </a:solidFill>
                <a:latin typeface="Arial"/>
              </a:defRPr>
            </a:pPr>
            <a:r>
              <a:t>Košík a účet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6400" y="3263900"/>
            <a:ext cx="2159000" cy="158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Nakoupit jde i bez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registrace. Vstupenku si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55C67"/>
                </a:solidFill>
                <a:latin typeface="Arial"/>
              </a:defRPr>
            </a:pPr>
            <a:r>
              <a:t>stáhnete jako PDF.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" y="5232400"/>
            <a:ext cx="10972800" cy="558800"/>
          </a:xfrm>
          <a:prstGeom prst="roundRect">
            <a:avLst>
              <a:gd name="adj" fmla="val 50000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422900"/>
            <a:ext cx="103632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70"/>
              </a:lnSpc>
              <a:spcAft>
                <a:spcPts val="0"/>
              </a:spcAft>
              <a:defRPr sz="1500" b="1">
                <a:solidFill>
                  <a:srgbClr val="FFFDF8"/>
                </a:solidFill>
                <a:latin typeface="Arial"/>
              </a:defRPr>
            </a:pPr>
            <a:r>
              <a:t>Hlavní rozhodnutí: všechny stránky berou údaje z jednoho souboru dat, takže vždy sedí.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51600"/>
            <a:ext cx="7620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0"/>
              </a:lnSpc>
              <a:spcAft>
                <a:spcPts val="0"/>
              </a:spcAft>
              <a:defRPr sz="1000" b="0">
                <a:solidFill>
                  <a:srgbClr val="555C67"/>
                </a:solidFill>
                <a:latin typeface="Arial"/>
              </a:defRPr>
            </a:pPr>
            <a:r>
              <a:t>1.–3. srpna 2027 · Výstaviště Praha · Michal Ladra, Matěj Mlejnek, Jan Martínek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74400" y="6438900"/>
            <a:ext cx="508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1">
                <a:solidFill>
                  <a:srgbClr val="555C67"/>
                </a:solidFill>
                <a:latin typeface="Arial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5080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0"/>
              </a:lnSpc>
              <a:spcAft>
                <a:spcPts val="0"/>
              </a:spcAft>
              <a:defRPr sz="1000" b="1">
                <a:solidFill>
                  <a:srgbClr val="16181D"/>
                </a:solidFill>
                <a:latin typeface="Arial"/>
              </a:defRPr>
            </a:pPr>
            <a:r>
              <a:t>PRAGUE PULSE FEST · CVIČENÍ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50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806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362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918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474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030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736600"/>
            <a:ext cx="10972800" cy="558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Aft>
                <a:spcPts val="0"/>
              </a:spcAft>
              <a:defRPr sz="3400" b="1">
                <a:solidFill>
                  <a:srgbClr val="16181D"/>
                </a:solidFill>
                <a:latin typeface="Arial"/>
              </a:defRPr>
            </a:pPr>
            <a:r>
              <a:t>Na telefonu i na počítači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37160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0">
                <a:solidFill>
                  <a:srgbClr val="555C67"/>
                </a:solidFill>
                <a:latin typeface="Arial"/>
              </a:defRPr>
            </a:pPr>
            <a:r>
              <a:t>Web se přizpůsobí každé obrazovce. Navrhovali jsme ho nejdřív pro telefon.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1905000"/>
            <a:ext cx="6604000" cy="228600"/>
          </a:xfrm>
          <a:prstGeom prst="roundRect">
            <a:avLst>
              <a:gd name="adj" fmla="val 22222"/>
            </a:avLst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3900" y="1981200"/>
            <a:ext cx="76200" cy="762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3600" y="1981200"/>
            <a:ext cx="76200" cy="76200"/>
          </a:xfrm>
          <a:prstGeom prst="ellipse">
            <a:avLst/>
          </a:prstGeom>
          <a:solidFill>
            <a:srgbClr val="F4C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3300" y="1981200"/>
            <a:ext cx="76200" cy="76200"/>
          </a:xfrm>
          <a:prstGeom prst="ellipse">
            <a:avLst/>
          </a:prstGeom>
          <a:solidFill>
            <a:srgbClr val="AD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1600" y="1943100"/>
            <a:ext cx="1905000" cy="165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44"/>
              </a:lnSpc>
              <a:spcAft>
                <a:spcPts val="0"/>
              </a:spcAft>
              <a:defRPr sz="800" b="0">
                <a:solidFill>
                  <a:srgbClr val="B7BFCC"/>
                </a:solidFill>
                <a:latin typeface="Arial"/>
              </a:defRPr>
            </a:pPr>
            <a:r>
              <a:t>Počítač</a:t>
            </a:r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33600"/>
            <a:ext cx="6604000" cy="37147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467600" y="1905000"/>
            <a:ext cx="1905000" cy="3477846"/>
          </a:xfrm>
          <a:prstGeom prst="roundRect">
            <a:avLst>
              <a:gd name="adj" fmla="val 9333"/>
            </a:avLst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981200"/>
            <a:ext cx="1752600" cy="332544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67600" y="5484446"/>
            <a:ext cx="1905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0">
                <a:solidFill>
                  <a:srgbClr val="555C67"/>
                </a:solidFill>
                <a:latin typeface="Arial"/>
              </a:defRPr>
            </a:pPr>
            <a:r>
              <a:t>Telefon · otevřené menu</a:t>
            </a:r>
          </a:p>
        </p:txBody>
      </p:sp>
      <p:sp>
        <p:nvSpPr>
          <p:cNvPr id="21" name="Oval 20"/>
          <p:cNvSpPr/>
          <p:nvPr/>
        </p:nvSpPr>
        <p:spPr>
          <a:xfrm>
            <a:off x="9652000" y="1905000"/>
            <a:ext cx="304800" cy="3048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2021" y="1993392"/>
            <a:ext cx="110157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1">
                <a:solidFill>
                  <a:srgbClr val="16181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19431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Aft>
                <a:spcPts val="0"/>
              </a:spcAft>
              <a:defRPr sz="1600" b="1">
                <a:solidFill>
                  <a:srgbClr val="16181D"/>
                </a:solidFill>
                <a:latin typeface="Arial"/>
              </a:defRPr>
            </a:pPr>
            <a:r>
              <a:t>Telefon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2000" y="2311400"/>
            <a:ext cx="1930400" cy="863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555C67"/>
                </a:solidFill>
                <a:latin typeface="Arial"/>
              </a:defRPr>
            </a:pPr>
            <a:r>
              <a:t>Obsah je pod sebou v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555C67"/>
                </a:solidFill>
                <a:latin typeface="Arial"/>
              </a:defRPr>
            </a:pPr>
            <a:r>
              <a:t>jednom sloupci. Nic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555C67"/>
                </a:solidFill>
                <a:latin typeface="Arial"/>
              </a:defRPr>
            </a:pPr>
            <a:r>
              <a:t>neutíká do strany.</a:t>
            </a:r>
          </a:p>
        </p:txBody>
      </p:sp>
      <p:sp>
        <p:nvSpPr>
          <p:cNvPr id="25" name="Oval 24"/>
          <p:cNvSpPr/>
          <p:nvPr/>
        </p:nvSpPr>
        <p:spPr>
          <a:xfrm>
            <a:off x="9652000" y="3251200"/>
            <a:ext cx="304800" cy="3048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2021" y="3339591"/>
            <a:ext cx="110157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1">
                <a:solidFill>
                  <a:srgbClr val="16181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2893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Aft>
                <a:spcPts val="0"/>
              </a:spcAft>
              <a:defRPr sz="1600" b="1">
                <a:solidFill>
                  <a:srgbClr val="16181D"/>
                </a:solidFill>
                <a:latin typeface="Arial"/>
              </a:defRPr>
            </a:pPr>
            <a:r>
              <a:t>Počítač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2000" y="3657600"/>
            <a:ext cx="1930400" cy="863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555C67"/>
                </a:solidFill>
                <a:latin typeface="Arial"/>
              </a:defRPr>
            </a:pPr>
            <a:r>
              <a:t>Stejný obsah se rozloží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555C67"/>
                </a:solidFill>
                <a:latin typeface="Arial"/>
              </a:defRPr>
            </a:pPr>
            <a:r>
              <a:t>do více sloupců vedle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555C67"/>
                </a:solidFill>
                <a:latin typeface="Arial"/>
              </a:defRPr>
            </a:pPr>
            <a:r>
              <a:t>sebe.</a:t>
            </a:r>
          </a:p>
        </p:txBody>
      </p:sp>
      <p:sp>
        <p:nvSpPr>
          <p:cNvPr id="29" name="Oval 28"/>
          <p:cNvSpPr/>
          <p:nvPr/>
        </p:nvSpPr>
        <p:spPr>
          <a:xfrm>
            <a:off x="9652000" y="4597400"/>
            <a:ext cx="304800" cy="3048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2021" y="4685792"/>
            <a:ext cx="110157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1">
                <a:solidFill>
                  <a:srgbClr val="16181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6355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Aft>
                <a:spcPts val="0"/>
              </a:spcAft>
              <a:defRPr sz="1600" b="1">
                <a:solidFill>
                  <a:srgbClr val="16181D"/>
                </a:solidFill>
                <a:latin typeface="Arial"/>
              </a:defRPr>
            </a:pPr>
            <a:r>
              <a:t>Menu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2000" y="5003800"/>
            <a:ext cx="1930400" cy="863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555C67"/>
                </a:solidFill>
                <a:latin typeface="Arial"/>
              </a:defRPr>
            </a:pPr>
            <a:r>
              <a:t>Na telefonu je schované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555C67"/>
                </a:solidFill>
                <a:latin typeface="Arial"/>
              </a:defRPr>
            </a:pPr>
            <a:r>
              <a:t>pod tlačítkem, na počítači</a:t>
            </a:r>
          </a:p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555C67"/>
                </a:solidFill>
                <a:latin typeface="Arial"/>
              </a:defRPr>
            </a:pPr>
            <a:r>
              <a:t>je vidět stále.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51600"/>
            <a:ext cx="7620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0"/>
              </a:lnSpc>
              <a:spcAft>
                <a:spcPts val="0"/>
              </a:spcAft>
              <a:defRPr sz="1000" b="0">
                <a:solidFill>
                  <a:srgbClr val="555C67"/>
                </a:solidFill>
                <a:latin typeface="Arial"/>
              </a:defRPr>
            </a:pPr>
            <a:r>
              <a:t>1.–3. srpna 2027 · Výstaviště Praha · Michal Ladra, Matěj Mlejnek, Jan Martínek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74400" y="6438900"/>
            <a:ext cx="508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1">
                <a:solidFill>
                  <a:srgbClr val="555C67"/>
                </a:solidFill>
                <a:latin typeface="Arial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5080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0"/>
              </a:lnSpc>
              <a:spcAft>
                <a:spcPts val="0"/>
              </a:spcAft>
              <a:defRPr sz="1000" b="1">
                <a:solidFill>
                  <a:srgbClr val="16181D"/>
                </a:solidFill>
                <a:latin typeface="Arial"/>
              </a:defRPr>
            </a:pPr>
            <a:r>
              <a:t>PRAGUE PULSE FEST · CVIČENÍ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50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806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362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918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474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030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736600"/>
            <a:ext cx="10972800" cy="558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Aft>
                <a:spcPts val="0"/>
              </a:spcAft>
              <a:defRPr sz="3400" b="1">
                <a:solidFill>
                  <a:srgbClr val="16181D"/>
                </a:solidFill>
                <a:latin typeface="Arial"/>
              </a:defRPr>
            </a:pPr>
            <a:r>
              <a:t>Dva scénáře krok za krokem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37160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0">
                <a:solidFill>
                  <a:srgbClr val="555C67"/>
                </a:solidFill>
                <a:latin typeface="Arial"/>
              </a:defRPr>
            </a:pPr>
            <a:r>
              <a:t>Stejné scénáře jako v prototypu, teď ale na hotovém webu.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1905000"/>
            <a:ext cx="4851400" cy="355600"/>
          </a:xfrm>
          <a:prstGeom prst="roundRect">
            <a:avLst>
              <a:gd name="adj" fmla="val 50000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2000250"/>
            <a:ext cx="44450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FFFDF8"/>
                </a:solidFill>
                <a:latin typeface="Arial"/>
              </a:defRPr>
            </a:pPr>
            <a:r>
              <a:t>Scénář 1 · Sestavím si vlastní program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1000" y="1905000"/>
            <a:ext cx="4851400" cy="355600"/>
          </a:xfrm>
          <a:prstGeom prst="roundRect">
            <a:avLst>
              <a:gd name="adj" fmla="val 50000"/>
            </a:avLst>
          </a:prstGeom>
          <a:solidFill>
            <a:srgbClr val="1D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4200" y="2000250"/>
            <a:ext cx="44450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1">
                <a:solidFill>
                  <a:srgbClr val="FFFDF8"/>
                </a:solidFill>
                <a:latin typeface="Arial"/>
              </a:defRPr>
            </a:pPr>
            <a:r>
              <a:t>Scénář 2 · Chci lístek na svého interpreta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1905000"/>
            <a:ext cx="0" cy="4038600"/>
          </a:xfrm>
          <a:prstGeom prst="line">
            <a:avLst/>
          </a:prstGeom>
          <a:ln w="19050">
            <a:solidFill>
              <a:srgbClr val="D8D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9600" y="2413000"/>
            <a:ext cx="2286000" cy="2997200"/>
          </a:xfrm>
          <a:prstGeom prst="roundRect">
            <a:avLst>
              <a:gd name="adj" fmla="val 7777"/>
            </a:avLst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89200"/>
            <a:ext cx="2133600" cy="284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08300" y="3759200"/>
            <a:ext cx="279400" cy="292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1">
                <a:solidFill>
                  <a:srgbClr val="C9481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09600" y="5537200"/>
            <a:ext cx="304800" cy="3048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621" y="5625592"/>
            <a:ext cx="110157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1">
                <a:solidFill>
                  <a:srgbClr val="16181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000" y="5562600"/>
            <a:ext cx="1879600" cy="444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0">
                <a:solidFill>
                  <a:srgbClr val="16181D"/>
                </a:solidFill>
                <a:latin typeface="Arial"/>
              </a:defRPr>
            </a:pPr>
            <a:r>
              <a:t>Vyberu 1. srpna a River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300" b="0">
                <a:solidFill>
                  <a:srgbClr val="16181D"/>
                </a:solidFill>
                <a:latin typeface="Arial"/>
              </a:defRPr>
            </a:pPr>
            <a:r>
              <a:t>Stage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75000" y="2413000"/>
            <a:ext cx="2286000" cy="2997200"/>
          </a:xfrm>
          <a:prstGeom prst="roundRect">
            <a:avLst>
              <a:gd name="adj" fmla="val 7777"/>
            </a:avLst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200" y="2489200"/>
            <a:ext cx="2133600" cy="284480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3175000" y="5537200"/>
            <a:ext cx="304800" cy="3048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5021" y="5625592"/>
            <a:ext cx="110157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1">
                <a:solidFill>
                  <a:srgbClr val="16181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1400" y="5562600"/>
            <a:ext cx="1879600" cy="444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0">
                <a:solidFill>
                  <a:srgbClr val="16181D"/>
                </a:solidFill>
                <a:latin typeface="Arial"/>
              </a:defRPr>
            </a:pPr>
            <a:r>
              <a:t>Koncert si uložím do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300" b="0">
                <a:solidFill>
                  <a:srgbClr val="16181D"/>
                </a:solidFill>
                <a:latin typeface="Arial"/>
              </a:defRPr>
            </a:pPr>
            <a:r>
              <a:t>svého programu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31000" y="2413000"/>
            <a:ext cx="2286000" cy="2997200"/>
          </a:xfrm>
          <a:prstGeom prst="roundRect">
            <a:avLst>
              <a:gd name="adj" fmla="val 7777"/>
            </a:avLst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200" y="2489200"/>
            <a:ext cx="2133600" cy="284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29700" y="3759200"/>
            <a:ext cx="279400" cy="292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1">
                <a:solidFill>
                  <a:srgbClr val="C9481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6731000" y="5537200"/>
            <a:ext cx="304800" cy="304800"/>
          </a:xfrm>
          <a:prstGeom prst="ellipse">
            <a:avLst/>
          </a:prstGeom>
          <a:solidFill>
            <a:srgbClr val="7F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1021" y="5625592"/>
            <a:ext cx="110157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1">
                <a:solidFill>
                  <a:srgbClr val="16181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7400" y="5562600"/>
            <a:ext cx="1879600" cy="444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0">
                <a:solidFill>
                  <a:srgbClr val="16181D"/>
                </a:solidFill>
                <a:latin typeface="Arial"/>
              </a:defRPr>
            </a:pPr>
            <a:r>
              <a:t>Napíšu „DARK“ a najdu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300" b="0">
                <a:solidFill>
                  <a:srgbClr val="16181D"/>
                </a:solidFill>
                <a:latin typeface="Arial"/>
              </a:defRPr>
            </a:pPr>
            <a:r>
              <a:t>DARKZY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96400" y="2413000"/>
            <a:ext cx="2286000" cy="2997200"/>
          </a:xfrm>
          <a:prstGeom prst="roundRect">
            <a:avLst>
              <a:gd name="adj" fmla="val 7777"/>
            </a:avLst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2489200"/>
            <a:ext cx="2133600" cy="28448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9296400" y="5537200"/>
            <a:ext cx="304800" cy="304800"/>
          </a:xfrm>
          <a:prstGeom prst="ellipse">
            <a:avLst/>
          </a:prstGeom>
          <a:solidFill>
            <a:srgbClr val="7F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6421" y="5625592"/>
            <a:ext cx="110157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Aft>
                <a:spcPts val="0"/>
              </a:spcAft>
              <a:defRPr sz="1200" b="1">
                <a:solidFill>
                  <a:srgbClr val="16181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2800" y="5562600"/>
            <a:ext cx="1879600" cy="444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0">
                <a:solidFill>
                  <a:srgbClr val="16181D"/>
                </a:solidFill>
                <a:latin typeface="Arial"/>
              </a:defRPr>
            </a:pPr>
            <a:r>
              <a:t>Web sám vybere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300" b="0">
                <a:solidFill>
                  <a:srgbClr val="16181D"/>
                </a:solidFill>
                <a:latin typeface="Arial"/>
              </a:defRPr>
            </a:pPr>
            <a:r>
              <a:t>správný den a scénu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451600"/>
            <a:ext cx="7620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0"/>
              </a:lnSpc>
              <a:spcAft>
                <a:spcPts val="0"/>
              </a:spcAft>
              <a:defRPr sz="1000" b="0">
                <a:solidFill>
                  <a:srgbClr val="555C67"/>
                </a:solidFill>
                <a:latin typeface="Arial"/>
              </a:defRPr>
            </a:pPr>
            <a:r>
              <a:t>1.–3. srpna 2027 · Výstaviště Praha · Michal Ladra, Matěj Mlejnek, Jan Martínek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74400" y="6438900"/>
            <a:ext cx="508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1">
                <a:solidFill>
                  <a:srgbClr val="555C67"/>
                </a:solidFill>
                <a:latin typeface="Arial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5080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0"/>
              </a:lnSpc>
              <a:spcAft>
                <a:spcPts val="0"/>
              </a:spcAft>
              <a:defRPr sz="1000" b="1">
                <a:solidFill>
                  <a:srgbClr val="16181D"/>
                </a:solidFill>
                <a:latin typeface="Arial"/>
              </a:defRPr>
            </a:pPr>
            <a:r>
              <a:t>PRAGUE PULSE FEST · CVIČENÍ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50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806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362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918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474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030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D8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736600"/>
            <a:ext cx="10972800" cy="558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Aft>
                <a:spcPts val="0"/>
              </a:spcAft>
              <a:defRPr sz="3400" b="1">
                <a:solidFill>
                  <a:srgbClr val="16181D"/>
                </a:solidFill>
                <a:latin typeface="Arial"/>
              </a:defRPr>
            </a:pPr>
            <a:r>
              <a:t>Pohodlné ovládání pro každého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37160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0">
                <a:solidFill>
                  <a:srgbClr val="555C67"/>
                </a:solidFill>
                <a:latin typeface="Arial"/>
              </a:defRPr>
            </a:pPr>
            <a:r>
              <a:t>Myslíme i na lidi, kteří web ovládají jinak než myší.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1905000"/>
            <a:ext cx="4191000" cy="3263900"/>
          </a:xfrm>
          <a:prstGeom prst="roundRect">
            <a:avLst>
              <a:gd name="adj" fmla="val 5447"/>
            </a:avLst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81200"/>
            <a:ext cx="4038600" cy="311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283200"/>
            <a:ext cx="4191000" cy="444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300" b="0">
                <a:solidFill>
                  <a:srgbClr val="555C67"/>
                </a:solidFill>
                <a:latin typeface="Arial"/>
              </a:defRPr>
            </a:pPr>
            <a:r>
              <a:t>Oranžový rámeček ukazuje, kde se na stránce právě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300" b="0">
                <a:solidFill>
                  <a:srgbClr val="555C67"/>
                </a:solidFill>
                <a:latin typeface="Arial"/>
              </a:defRPr>
            </a:pPr>
            <a:r>
              <a:t>nacházíte.</a:t>
            </a:r>
          </a:p>
        </p:txBody>
      </p:sp>
      <p:sp>
        <p:nvSpPr>
          <p:cNvPr id="15" name="Oval 14"/>
          <p:cNvSpPr/>
          <p:nvPr/>
        </p:nvSpPr>
        <p:spPr>
          <a:xfrm>
            <a:off x="5207000" y="1905000"/>
            <a:ext cx="355600" cy="3556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5358" y="2008124"/>
            <a:ext cx="124283" cy="241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400" b="1">
                <a:solidFill>
                  <a:srgbClr val="16181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0400" y="1943100"/>
            <a:ext cx="58420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1">
                <a:solidFill>
                  <a:srgbClr val="16181D"/>
                </a:solidFill>
                <a:latin typeface="Arial"/>
              </a:defRPr>
            </a:pPr>
            <a:r>
              <a:t>Funguje i bez myši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0400" y="2286000"/>
            <a:ext cx="5842000" cy="508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555C67"/>
                </a:solidFill>
                <a:latin typeface="Arial"/>
              </a:defRPr>
            </a:pPr>
            <a:r>
              <a:t>Celý web projdete klávesnicí, vždy vidíte, kde jste.</a:t>
            </a:r>
          </a:p>
        </p:txBody>
      </p:sp>
      <p:sp>
        <p:nvSpPr>
          <p:cNvPr id="19" name="Oval 18"/>
          <p:cNvSpPr/>
          <p:nvPr/>
        </p:nvSpPr>
        <p:spPr>
          <a:xfrm>
            <a:off x="5207000" y="2946400"/>
            <a:ext cx="355600" cy="3556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5358" y="3049524"/>
            <a:ext cx="124283" cy="241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400" b="1">
                <a:solidFill>
                  <a:srgbClr val="16181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40400" y="2984500"/>
            <a:ext cx="58420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1">
                <a:solidFill>
                  <a:srgbClr val="16181D"/>
                </a:solidFill>
                <a:latin typeface="Arial"/>
              </a:defRPr>
            </a:pPr>
            <a:r>
              <a:t>Velká tlačítka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0400" y="3327400"/>
            <a:ext cx="5842000" cy="508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555C67"/>
                </a:solidFill>
                <a:latin typeface="Arial"/>
              </a:defRPr>
            </a:pPr>
            <a:r>
              <a:t>Na telefonu se dají pohodlně trefit prstem.</a:t>
            </a:r>
          </a:p>
        </p:txBody>
      </p:sp>
      <p:sp>
        <p:nvSpPr>
          <p:cNvPr id="23" name="Oval 22"/>
          <p:cNvSpPr/>
          <p:nvPr/>
        </p:nvSpPr>
        <p:spPr>
          <a:xfrm>
            <a:off x="5207000" y="3987800"/>
            <a:ext cx="355600" cy="3556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5358" y="4090924"/>
            <a:ext cx="124283" cy="241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400" b="1">
                <a:solidFill>
                  <a:srgbClr val="16181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0400" y="4025900"/>
            <a:ext cx="58420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1">
                <a:solidFill>
                  <a:srgbClr val="16181D"/>
                </a:solidFill>
                <a:latin typeface="Arial"/>
              </a:defRPr>
            </a:pPr>
            <a:r>
              <a:t>Jasné popisky a hlášky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0400" y="4368800"/>
            <a:ext cx="5842000" cy="508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555C67"/>
                </a:solidFill>
                <a:latin typeface="Arial"/>
              </a:defRPr>
            </a:pPr>
            <a:r>
              <a:t>Každé pole má popisek. Web řekne, co našel nebo co chybí.</a:t>
            </a:r>
          </a:p>
        </p:txBody>
      </p:sp>
      <p:sp>
        <p:nvSpPr>
          <p:cNvPr id="27" name="Oval 26"/>
          <p:cNvSpPr/>
          <p:nvPr/>
        </p:nvSpPr>
        <p:spPr>
          <a:xfrm>
            <a:off x="5207000" y="5029200"/>
            <a:ext cx="355600" cy="355600"/>
          </a:xfrm>
          <a:prstGeom prst="ellipse">
            <a:avLst/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5358" y="5132324"/>
            <a:ext cx="124283" cy="241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52"/>
              </a:lnSpc>
              <a:spcAft>
                <a:spcPts val="0"/>
              </a:spcAft>
              <a:defRPr sz="1400" b="1">
                <a:solidFill>
                  <a:srgbClr val="16181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0400" y="5067300"/>
            <a:ext cx="58420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1">
                <a:solidFill>
                  <a:srgbClr val="16181D"/>
                </a:solidFill>
                <a:latin typeface="Arial"/>
              </a:defRPr>
            </a:pPr>
            <a:r>
              <a:t>Snadno k nalezení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40400" y="5410200"/>
            <a:ext cx="5842000" cy="508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555C67"/>
                </a:solidFill>
                <a:latin typeface="Arial"/>
              </a:defRPr>
            </a:pPr>
            <a:r>
              <a:t>Každá stránka má vlastní název a popis pro vyhledávače.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451600"/>
            <a:ext cx="7620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0"/>
              </a:lnSpc>
              <a:spcAft>
                <a:spcPts val="0"/>
              </a:spcAft>
              <a:defRPr sz="1000" b="0">
                <a:solidFill>
                  <a:srgbClr val="555C67"/>
                </a:solidFill>
                <a:latin typeface="Arial"/>
              </a:defRPr>
            </a:pPr>
            <a:r>
              <a:t>1.–3. srpna 2027 · Výstaviště Praha · Michal Ladra, Matěj Mlejnek, Jan Martínek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74400" y="6438900"/>
            <a:ext cx="508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1">
                <a:solidFill>
                  <a:srgbClr val="555C67"/>
                </a:solidFill>
                <a:latin typeface="Arial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5080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0"/>
              </a:lnSpc>
              <a:spcAft>
                <a:spcPts val="0"/>
              </a:spcAft>
              <a:defRPr sz="1000" b="1">
                <a:solidFill>
                  <a:srgbClr val="16181D"/>
                </a:solidFill>
                <a:latin typeface="Arial"/>
              </a:defRPr>
            </a:pPr>
            <a:r>
              <a:t>PRAGUE PULSE FEST · CVIČENÍ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50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806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362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918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474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03000" y="368300"/>
            <a:ext cx="279400" cy="63500"/>
          </a:xfrm>
          <a:prstGeom prst="roundRect">
            <a:avLst>
              <a:gd name="adj" fmla="val 50000"/>
            </a:avLst>
          </a:prstGeom>
          <a:solidFill>
            <a:srgbClr val="FF8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736600"/>
            <a:ext cx="10972800" cy="558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Aft>
                <a:spcPts val="0"/>
              </a:spcAft>
              <a:defRPr sz="3400" b="1">
                <a:solidFill>
                  <a:srgbClr val="16181D"/>
                </a:solidFill>
                <a:latin typeface="Arial"/>
              </a:defRPr>
            </a:pPr>
            <a:r>
              <a:t>Jak jsme pracovali s umělou inteligencí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37160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05"/>
              </a:lnSpc>
              <a:spcAft>
                <a:spcPts val="0"/>
              </a:spcAft>
              <a:defRPr sz="1700" b="0">
                <a:solidFill>
                  <a:srgbClr val="555C67"/>
                </a:solidFill>
                <a:latin typeface="Arial"/>
              </a:defRPr>
            </a:pPr>
            <a:r>
              <a:t>AI nám pomáhala, ale každý výsledek jsme sami zkontrolovali.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1905000"/>
            <a:ext cx="3454400" cy="1574800"/>
          </a:xfrm>
          <a:prstGeom prst="roundRect">
            <a:avLst>
              <a:gd name="adj" fmla="val 8064"/>
            </a:avLst>
          </a:prstGeom>
          <a:solidFill>
            <a:srgbClr val="FFFDF8"/>
          </a:solidFill>
          <a:ln w="13970">
            <a:solidFill>
              <a:srgbClr val="E2D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3600" y="1905000"/>
            <a:ext cx="508000" cy="50800"/>
          </a:xfrm>
          <a:prstGeom prst="rect">
            <a:avLst/>
          </a:prstGeom>
          <a:solidFill>
            <a:srgbClr val="C94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2159000"/>
            <a:ext cx="2946400" cy="292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24"/>
              </a:lnSpc>
              <a:spcAft>
                <a:spcPts val="0"/>
              </a:spcAft>
              <a:defRPr sz="1800" b="1">
                <a:solidFill>
                  <a:srgbClr val="C9481A"/>
                </a:solidFill>
                <a:latin typeface="Arial"/>
              </a:defRPr>
            </a:pPr>
            <a:r>
              <a:t>S čím pomohla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" y="2565400"/>
            <a:ext cx="2946400" cy="965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16181D"/>
                </a:solidFill>
                <a:latin typeface="Arial"/>
              </a:defRPr>
            </a:pPr>
            <a:r>
              <a:t>Návrhy vzhledu, texty o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16181D"/>
                </a:solidFill>
                <a:latin typeface="Arial"/>
              </a:defRPr>
            </a:pPr>
            <a:r>
              <a:t>interpretech, kód a automatické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16181D"/>
                </a:solidFill>
                <a:latin typeface="Arial"/>
              </a:defRPr>
            </a:pPr>
            <a:r>
              <a:t>testy.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8800" y="1905000"/>
            <a:ext cx="3454400" cy="1574800"/>
          </a:xfrm>
          <a:prstGeom prst="roundRect">
            <a:avLst>
              <a:gd name="adj" fmla="val 8064"/>
            </a:avLst>
          </a:prstGeom>
          <a:solidFill>
            <a:srgbClr val="FFFDF8"/>
          </a:solidFill>
          <a:ln w="13970">
            <a:solidFill>
              <a:srgbClr val="E2D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22800" y="1905000"/>
            <a:ext cx="508000" cy="50800"/>
          </a:xfrm>
          <a:prstGeom prst="rect">
            <a:avLst/>
          </a:prstGeom>
          <a:solidFill>
            <a:srgbClr val="1D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2800" y="2159000"/>
            <a:ext cx="2946400" cy="292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24"/>
              </a:lnSpc>
              <a:spcAft>
                <a:spcPts val="0"/>
              </a:spcAft>
              <a:defRPr sz="1800" b="1">
                <a:solidFill>
                  <a:srgbClr val="1D7360"/>
                </a:solidFill>
                <a:latin typeface="Arial"/>
              </a:defRPr>
            </a:pPr>
            <a:r>
              <a:t>Co jsme opravili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2800" y="2565400"/>
            <a:ext cx="2946400" cy="965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16181D"/>
                </a:solidFill>
                <a:latin typeface="Arial"/>
              </a:defRPr>
            </a:pPr>
            <a:r>
              <a:t>Menu na telefonu, příliš obecné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16181D"/>
                </a:solidFill>
                <a:latin typeface="Arial"/>
              </a:defRPr>
            </a:pPr>
            <a:r>
              <a:t>texty a výpočet ceny v košíku.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0" y="1905000"/>
            <a:ext cx="3454400" cy="1574800"/>
          </a:xfrm>
          <a:prstGeom prst="roundRect">
            <a:avLst>
              <a:gd name="adj" fmla="val 8064"/>
            </a:avLst>
          </a:prstGeom>
          <a:solidFill>
            <a:srgbClr val="FFFDF8"/>
          </a:solidFill>
          <a:ln w="13970">
            <a:solidFill>
              <a:srgbClr val="E2D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82000" y="1905000"/>
            <a:ext cx="508000" cy="50800"/>
          </a:xfrm>
          <a:prstGeom prst="rect">
            <a:avLst/>
          </a:prstGeom>
          <a:solidFill>
            <a:srgbClr val="555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0" y="2159000"/>
            <a:ext cx="2946400" cy="292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24"/>
              </a:lnSpc>
              <a:spcAft>
                <a:spcPts val="0"/>
              </a:spcAft>
              <a:defRPr sz="1800" b="1">
                <a:solidFill>
                  <a:srgbClr val="555C67"/>
                </a:solidFill>
                <a:latin typeface="Arial"/>
              </a:defRPr>
            </a:pPr>
            <a:r>
              <a:t>Co jsme odmítli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0" y="2565400"/>
            <a:ext cx="2946400" cy="965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16181D"/>
                </a:solidFill>
                <a:latin typeface="Arial"/>
              </a:defRPr>
            </a:pPr>
            <a:r>
              <a:t>Kopírovat vzhled jiného festivalu</a:t>
            </a:r>
          </a:p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16181D"/>
                </a:solidFill>
                <a:latin typeface="Arial"/>
              </a:defRPr>
            </a:pPr>
            <a:r>
              <a:t>a server, který zadání nedovoluje.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3784600"/>
            <a:ext cx="10972800" cy="2108200"/>
          </a:xfrm>
          <a:prstGeom prst="roundRect">
            <a:avLst>
              <a:gd name="adj" fmla="val 9638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200" y="4013200"/>
            <a:ext cx="102616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70"/>
              </a:lnSpc>
              <a:spcAft>
                <a:spcPts val="0"/>
              </a:spcAft>
              <a:defRPr sz="1500" b="1">
                <a:solidFill>
                  <a:srgbClr val="FFFDF8"/>
                </a:solidFill>
                <a:latin typeface="Arial"/>
              </a:defRPr>
            </a:pPr>
            <a:r>
              <a:t>Jak jsme to ověřili · 30. října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445000"/>
            <a:ext cx="3175000" cy="584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720"/>
              </a:lnSpc>
              <a:spcAft>
                <a:spcPts val="0"/>
              </a:spcAft>
              <a:defRPr sz="4000" b="1">
                <a:solidFill>
                  <a:srgbClr val="FF885D"/>
                </a:solidFill>
                <a:latin typeface="Arial"/>
              </a:defRPr>
            </a:pPr>
            <a:r>
              <a:t>615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200" y="5080000"/>
            <a:ext cx="3175000" cy="508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C4C9D2"/>
                </a:solidFill>
                <a:latin typeface="Arial"/>
              </a:defRPr>
            </a:pPr>
            <a:r>
              <a:t>automatických kontrol v prohlížeči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C4C9D2"/>
                </a:solidFill>
                <a:latin typeface="Arial"/>
              </a:defRPr>
            </a:pPr>
            <a:r>
              <a:t>prošlo bez chyby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6600" y="4445000"/>
            <a:ext cx="3175000" cy="584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720"/>
              </a:lnSpc>
              <a:spcAft>
                <a:spcPts val="0"/>
              </a:spcAft>
              <a:defRPr sz="4000" b="1">
                <a:solidFill>
                  <a:srgbClr val="FF885D"/>
                </a:solidFill>
                <a:latin typeface="Arial"/>
              </a:defRPr>
            </a:pPr>
            <a:r>
              <a:t>13 ×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6600" y="5080000"/>
            <a:ext cx="3175000" cy="508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C4C9D2"/>
                </a:solidFill>
                <a:latin typeface="Arial"/>
              </a:defRPr>
            </a:pPr>
            <a:r>
              <a:t>stránek a velikostí obrazovky bez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C4C9D2"/>
                </a:solidFill>
                <a:latin typeface="Arial"/>
              </a:defRPr>
            </a:pPr>
            <a:r>
              <a:t>přetékání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0" y="4445000"/>
            <a:ext cx="3175000" cy="584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720"/>
              </a:lnSpc>
              <a:spcAft>
                <a:spcPts val="0"/>
              </a:spcAft>
              <a:defRPr sz="4000" b="1">
                <a:solidFill>
                  <a:srgbClr val="FF885D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8000" y="5080000"/>
            <a:ext cx="3175000" cy="508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C4C9D2"/>
                </a:solidFill>
                <a:latin typeface="Arial"/>
              </a:defRPr>
            </a:pPr>
            <a:r>
              <a:t>interpretů a koncertů správně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C4C9D2"/>
                </a:solidFill>
                <a:latin typeface="Arial"/>
              </a:defRPr>
            </a:pPr>
            <a:r>
              <a:t>propojených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6451600"/>
            <a:ext cx="7620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0"/>
              </a:lnSpc>
              <a:spcAft>
                <a:spcPts val="0"/>
              </a:spcAft>
              <a:defRPr sz="1000" b="0">
                <a:solidFill>
                  <a:srgbClr val="555C67"/>
                </a:solidFill>
                <a:latin typeface="Arial"/>
              </a:defRPr>
            </a:pPr>
            <a:r>
              <a:t>1.–3. srpna 2027 · Výstaviště Praha · Michal Ladra, Matěj Mlejnek, Jan Martínek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74400" y="6438900"/>
            <a:ext cx="5080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Aft>
                <a:spcPts val="0"/>
              </a:spcAft>
              <a:defRPr sz="1100" b="1">
                <a:solidFill>
                  <a:srgbClr val="555C67"/>
                </a:solidFill>
                <a:latin typeface="Arial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Prague Pulse Fest — cvičení 04: První funkční implementace</dc:title>
  <dc:subject>Webdesign: návrh, data, uživatelské scénáře a ověření Prague Pulse Fest.</dc:subject>
  <dc:creator>Michal Ladra, Matěj Mlejnek, Jan Martínek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