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wireframe navazuje kompletní současná implementace. Obsahuje výraznější vlastní identitu, tmavou celoplošnou hlavičku a skutečnou historickou fotografii Výstaviště. Identitu doplňuje typografické logo bez zvukových sloupců Prague Pulse Fest. Inspirací je obecný festivalový vizuální styl, nikoli převzetí loga nebo grafiky jiné akce. Materiály byly připraveny ze současné verze, protože skutečný historický export ze cvičení nebyl poskytnut. Při prezentaci ukážeme mobilní a desktopové zobrazení a dvě nejdůležitější cesty. Není třeba instalovat runtime nebo spouštět build. Název vracíme na Prague Pulse Fest a termín na výslovnou volbu zadavatele posouváme na 1.–3. srpna 2027. Hlavička má na notebooku hledání a navigaci v jednom řádku; odpočet pracuje s pražskou časovou zónou.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Implementace pokrývá všechny povinné obsahové části. Účinkující mají detail a vazbu na vystoupení. Program a scény jsou propojené, vyhledávání vede k odpovídajícímu objektu. Přepínač češtiny a angličtiny pomáhá zahraničním návštěvníkům. Třídenní tarify vysvětlují, co je zahrnuto; druhou cestou je výběr konkrétních míst. Účet je dobrovolný a historie je lokální. Na úvodu nemají technické podrobnosti překrývat obsah, ale omezení objednávky musí být srozumitelné tam, kde na nich záleží. Line-up je navržený, nikoli potvrzený; Noisia je archivní poslechový blok. Karty používají 41 skutečných licencovaných fotografií a 19 typografických náhrad. Síťová blokace byla vyřešena, zdroje, autoři a licence jsou evidované. Úvodní fotografie Výstaviště pochází z roku 2018 a není prezentovaná jako stav roku 2027.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 Flexbox se pro tento web hodí, zejména pro navigaci a řady ovládacích prvků. Pro více řad karet je vhodnější Grid. Pružné velikosti a clamp přizpůsobují typografii prostoru, místo pevného navrhování pro konkrétní telefon. Responzivitu však nedokazuje jediný screenshot prázdného úvodu. Kontrolujeme i dlouhé názvy, otevřené menu, formuláře, dialogy a neprázdný košík. Při prezentaci vedle sebe ukážeme úzký a široký viewport stejného scénáře, aby bylo vidět, že zůstává stejná logika.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Zopakujeme S1 a S2 ve finálním rozhraní. Nejprve filtrujeme program a ověříme uložení osobního výběru. Potom hledáme DARKZY a přejdeme z detailu k jeho koncertu. Při ukázce sledujeme názvy, datum a scénu; efektní animace nesmí nahradit správný obsah. Krátce ukážeme klávesnici a zavření dialogu. Přístupnost není pouze kontrast: důležité je správné pořadí, popisky, zachování focusu a srozumitelná změna stavu. Plnou shodu s WCAG bez odpovídajícího auditu netvrdíme.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Datová základna v XML je autoritativní. Přibalený JavaScriptový export umožňuje zobrazit program bez síťového načítání, což je důležité pro přímé otevření z disku. Generátor je pouze vývojová pomůcka. Ceny tarifů i hlavní údaje musí odpovídat XML. Objednávkový tok vytváří skutečný PDF soubor s identifikací objednávky, ale neposílá e-mail a neprovádí skutečnou platbu. Hesla, objednávky a obsazenost nemají serverové zázemí; místní účet není bezpečné sdílené přihlašování. Nové objednávky mají ročník 2027, historické bez ročníku zůstávají 2026 a neblokují nový rok. Panel soukromí dovoluje externí mapy samostatně; po povolení se mapa vloží automaticky a odvolání ji odstraní. Analytika ani reklamní sledování nejsou použité. V košíku je jméno, příjmení, e-mail a telefon. Promo PULSE10 odečítá deset procent a PRAHA200 dvě stě korun, vždy nejvýše cenu vstupenek. Částky se při dokončení znovu počítají z tarifů. Volba karty, převodu, hotovosti, Apple Pay, Google Pay, Benefit Plus nebo faktury je vždy pouze simulace.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pomohla s rozvržením, texty, originální grafikou, implementací a testovacími skripty. Testy ale musí běžet proti skutečné výsledné verzi. Přiložený validační záznam uvádí konkrétní výsledek, rozsah a přeskočené kontroly. Datové minimum a reference kontrolujeme odděleně od prohlížeče. PDF posuzujeme jako soubor a ne pouze potvrzení na obrazovce. Historické odevzdání, testy s reálnými návštěvníky ani externí cross-review nejsou doloženy. Tým musí umět vysvětlit, co přijal a které limity zůstávají. Dne 18. října 2026 jsme přímo přečetli Google SEO Starter Guide, Google AI features and your website a WAI Page Structure Tutorial. Používáme konkrétní titulky, vnitřní odkazy, viditelný text, pravdivé JSON-LD a logické landmarky a nadpisy. Zvláštní AI schéma ani speciální textový soubor nejsou vyžadované.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851900" y="0"/>
            <a:ext cx="3340100" cy="68580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3400" y="381000"/>
            <a:ext cx="2476500" cy="350113"/>
          </a:xfrm>
          <a:prstGeom prst="rect">
            <a:avLst/>
          </a:prstGeom>
          <a:noFill/>
        </p:spPr>
        <p:txBody>
          <a:bodyPr wrap="none" lIns="0" rIns="0" tIns="0" bIns="0">
            <a:spAutoFit/>
          </a:bodyPr>
          <a:lstStyle/>
          <a:p>
            <a:pPr>
              <a:lnSpc>
                <a:spcPts val="2256"/>
              </a:lnSpc>
              <a:spcAft>
                <a:spcPts val="0"/>
              </a:spcAft>
              <a:defRPr sz="1820" b="1">
                <a:solidFill>
                  <a:srgbClr val="F4F0E7"/>
                </a:solidFill>
                <a:latin typeface="Arial"/>
              </a:defRPr>
            </a:pPr>
            <a:r>
              <a:t>PRAGUE</a:t>
            </a:r>
          </a:p>
        </p:txBody>
      </p:sp>
      <p:sp>
        <p:nvSpPr>
          <p:cNvPr id="5" name="TextBox 4"/>
          <p:cNvSpPr txBox="1"/>
          <p:nvPr/>
        </p:nvSpPr>
        <p:spPr>
          <a:xfrm>
            <a:off x="533400" y="628650"/>
            <a:ext cx="2476500" cy="513892"/>
          </a:xfrm>
          <a:prstGeom prst="rect">
            <a:avLst/>
          </a:prstGeom>
          <a:noFill/>
        </p:spPr>
        <p:txBody>
          <a:bodyPr wrap="none" lIns="0" rIns="0" tIns="0" bIns="0">
            <a:spAutoFit/>
          </a:bodyPr>
          <a:lstStyle/>
          <a:p>
            <a:pPr>
              <a:lnSpc>
                <a:spcPts val="3546"/>
              </a:lnSpc>
              <a:spcAft>
                <a:spcPts val="0"/>
              </a:spcAft>
              <a:defRPr sz="2860" b="1">
                <a:solidFill>
                  <a:srgbClr val="F4F0E7"/>
                </a:solidFill>
                <a:latin typeface="Arial"/>
              </a:defRPr>
            </a:pPr>
            <a:r>
              <a:t>PULSE</a:t>
            </a:r>
          </a:p>
        </p:txBody>
      </p:sp>
      <p:sp>
        <p:nvSpPr>
          <p:cNvPr id="6" name="TextBox 5"/>
          <p:cNvSpPr txBox="1"/>
          <p:nvPr/>
        </p:nvSpPr>
        <p:spPr>
          <a:xfrm>
            <a:off x="533400" y="1041400"/>
            <a:ext cx="2641600" cy="196570"/>
          </a:xfrm>
          <a:prstGeom prst="rect">
            <a:avLst/>
          </a:prstGeom>
          <a:noFill/>
        </p:spPr>
        <p:txBody>
          <a:bodyPr wrap="none" lIns="0" rIns="0" tIns="0" bIns="0">
            <a:spAutoFit/>
          </a:bodyPr>
          <a:lstStyle/>
          <a:p>
            <a:pPr>
              <a:lnSpc>
                <a:spcPts val="1047"/>
              </a:lnSpc>
              <a:spcAft>
                <a:spcPts val="0"/>
              </a:spcAft>
              <a:defRPr sz="845" b="1">
                <a:solidFill>
                  <a:srgbClr val="F4F0E7"/>
                </a:solidFill>
                <a:latin typeface="Arial"/>
              </a:defRPr>
            </a:pPr>
            <a:r>
              <a:t>FEST / 2027</a:t>
            </a:r>
          </a:p>
        </p:txBody>
      </p:sp>
      <p:sp>
        <p:nvSpPr>
          <p:cNvPr id="7" name="TextBox 6"/>
          <p:cNvSpPr txBox="1"/>
          <p:nvPr/>
        </p:nvSpPr>
        <p:spPr>
          <a:xfrm>
            <a:off x="533400" y="1536700"/>
            <a:ext cx="7874000" cy="236728"/>
          </a:xfrm>
          <a:prstGeom prst="rect">
            <a:avLst/>
          </a:prstGeom>
          <a:noFill/>
        </p:spPr>
        <p:txBody>
          <a:bodyPr wrap="none" lIns="0" rIns="0" tIns="0" bIns="0">
            <a:spAutoFit/>
          </a:bodyPr>
          <a:lstStyle/>
          <a:p>
            <a:pPr>
              <a:lnSpc>
                <a:spcPts val="1364"/>
              </a:lnSpc>
              <a:spcAft>
                <a:spcPts val="0"/>
              </a:spcAft>
              <a:defRPr sz="1100" b="1">
                <a:solidFill>
                  <a:srgbClr val="F4F0E7"/>
                </a:solidFill>
                <a:latin typeface="Arial"/>
              </a:defRPr>
            </a:pPr>
            <a:r>
              <a:t>CVIČENÍ 04 / IMPLEMENTACE</a:t>
            </a:r>
          </a:p>
        </p:txBody>
      </p:sp>
      <p:sp>
        <p:nvSpPr>
          <p:cNvPr id="8" name="TextBox 7"/>
          <p:cNvSpPr txBox="1"/>
          <p:nvPr/>
        </p:nvSpPr>
        <p:spPr>
          <a:xfrm>
            <a:off x="482600" y="2133600"/>
            <a:ext cx="8001000" cy="2095500"/>
          </a:xfrm>
          <a:prstGeom prst="rect">
            <a:avLst/>
          </a:prstGeom>
          <a:noFill/>
        </p:spPr>
        <p:txBody>
          <a:bodyPr wrap="none" lIns="0" rIns="0" tIns="0" bIns="0">
            <a:spAutoFit/>
          </a:bodyPr>
          <a:lstStyle/>
          <a:p>
            <a:pPr>
              <a:lnSpc>
                <a:spcPts val="5830"/>
              </a:lnSpc>
              <a:spcAft>
                <a:spcPts val="0"/>
              </a:spcAft>
              <a:defRPr sz="5500" b="1">
                <a:solidFill>
                  <a:srgbClr val="F4F0E7"/>
                </a:solidFill>
                <a:latin typeface="Arial"/>
              </a:defRPr>
            </a:pPr>
            <a:r>
              <a:t>Festival má</a:t>
            </a:r>
          </a:p>
          <a:p>
            <a:pPr>
              <a:lnSpc>
                <a:spcPts val="5830"/>
              </a:lnSpc>
              <a:spcAft>
                <a:spcPts val="0"/>
              </a:spcAft>
              <a:defRPr sz="5500" b="1">
                <a:solidFill>
                  <a:srgbClr val="F4F0E7"/>
                </a:solidFill>
                <a:latin typeface="Arial"/>
              </a:defRPr>
            </a:pPr>
            <a:r>
              <a:t>vlastní tvář.</a:t>
            </a:r>
          </a:p>
        </p:txBody>
      </p:sp>
      <p:sp>
        <p:nvSpPr>
          <p:cNvPr id="9" name="TextBox 8"/>
          <p:cNvSpPr txBox="1"/>
          <p:nvPr/>
        </p:nvSpPr>
        <p:spPr>
          <a:xfrm>
            <a:off x="533400" y="4724400"/>
            <a:ext cx="7747000" cy="1104900"/>
          </a:xfrm>
          <a:prstGeom prst="rect">
            <a:avLst/>
          </a:prstGeom>
          <a:noFill/>
        </p:spPr>
        <p:txBody>
          <a:bodyPr wrap="none" lIns="0" rIns="0" tIns="0" bIns="0">
            <a:spAutoFit/>
          </a:bodyPr>
          <a:lstStyle/>
          <a:p>
            <a:pPr>
              <a:lnSpc>
                <a:spcPts val="2356"/>
              </a:lnSpc>
              <a:spcAft>
                <a:spcPts val="0"/>
              </a:spcAft>
              <a:defRPr sz="1900" b="0">
                <a:solidFill>
                  <a:srgbClr val="F4F0E7"/>
                </a:solidFill>
                <a:latin typeface="Arial"/>
              </a:defRPr>
            </a:pPr>
            <a:r>
              <a:t>Výrazná typografie. Asymetrická kompozice.</a:t>
            </a:r>
          </a:p>
          <a:p>
            <a:pPr>
              <a:lnSpc>
                <a:spcPts val="2356"/>
              </a:lnSpc>
              <a:spcAft>
                <a:spcPts val="0"/>
              </a:spcAft>
              <a:defRPr sz="1900" b="0">
                <a:solidFill>
                  <a:srgbClr val="F4F0E7"/>
                </a:solidFill>
                <a:latin typeface="Arial"/>
              </a:defRPr>
            </a:pPr>
            <a:r>
              <a:t>HTML · CSS · JavaScript.</a:t>
            </a:r>
          </a:p>
        </p:txBody>
      </p:sp>
      <p:sp>
        <p:nvSpPr>
          <p:cNvPr id="10" name="TextBox 9"/>
          <p:cNvSpPr txBox="1"/>
          <p:nvPr/>
        </p:nvSpPr>
        <p:spPr>
          <a:xfrm>
            <a:off x="9220200" y="889000"/>
            <a:ext cx="2667000" cy="961135"/>
          </a:xfrm>
          <a:prstGeom prst="rect">
            <a:avLst/>
          </a:prstGeom>
          <a:noFill/>
        </p:spPr>
        <p:txBody>
          <a:bodyPr wrap="none" lIns="0" rIns="0" tIns="0" bIns="0">
            <a:spAutoFit/>
          </a:bodyPr>
          <a:lstStyle/>
          <a:p>
            <a:pPr>
              <a:lnSpc>
                <a:spcPts val="7067"/>
              </a:lnSpc>
              <a:spcAft>
                <a:spcPts val="0"/>
              </a:spcAft>
              <a:defRPr sz="5700" b="1">
                <a:solidFill>
                  <a:srgbClr val="181817"/>
                </a:solidFill>
                <a:latin typeface="Arial"/>
              </a:defRPr>
            </a:pPr>
            <a:r>
              <a:t>1—3</a:t>
            </a:r>
          </a:p>
        </p:txBody>
      </p:sp>
      <p:sp>
        <p:nvSpPr>
          <p:cNvPr id="11" name="TextBox 10"/>
          <p:cNvSpPr txBox="1"/>
          <p:nvPr/>
        </p:nvSpPr>
        <p:spPr>
          <a:xfrm>
            <a:off x="9220200" y="1765300"/>
            <a:ext cx="2667000" cy="551688"/>
          </a:xfrm>
          <a:prstGeom prst="rect">
            <a:avLst/>
          </a:prstGeom>
          <a:noFill/>
        </p:spPr>
        <p:txBody>
          <a:bodyPr wrap="none" lIns="0" rIns="0" tIns="0" bIns="0">
            <a:spAutoFit/>
          </a:bodyPr>
          <a:lstStyle/>
          <a:p>
            <a:pPr>
              <a:lnSpc>
                <a:spcPts val="3844"/>
              </a:lnSpc>
              <a:spcAft>
                <a:spcPts val="0"/>
              </a:spcAft>
              <a:defRPr sz="3100" b="1">
                <a:solidFill>
                  <a:srgbClr val="181817"/>
                </a:solidFill>
                <a:latin typeface="Arial"/>
              </a:defRPr>
            </a:pPr>
            <a:r>
              <a:t>SRPEN</a:t>
            </a:r>
          </a:p>
        </p:txBody>
      </p:sp>
      <p:sp>
        <p:nvSpPr>
          <p:cNvPr id="12" name="TextBox 11"/>
          <p:cNvSpPr txBox="1"/>
          <p:nvPr/>
        </p:nvSpPr>
        <p:spPr>
          <a:xfrm>
            <a:off x="9220200" y="2247900"/>
            <a:ext cx="2667000" cy="724916"/>
          </a:xfrm>
          <a:prstGeom prst="rect">
            <a:avLst/>
          </a:prstGeom>
          <a:noFill/>
        </p:spPr>
        <p:txBody>
          <a:bodyPr wrap="none" lIns="0" rIns="0" tIns="0" bIns="0">
            <a:spAutoFit/>
          </a:bodyPr>
          <a:lstStyle/>
          <a:p>
            <a:pPr>
              <a:lnSpc>
                <a:spcPts val="5208"/>
              </a:lnSpc>
              <a:spcAft>
                <a:spcPts val="0"/>
              </a:spcAft>
              <a:defRPr sz="4200" b="1">
                <a:solidFill>
                  <a:srgbClr val="181817"/>
                </a:solidFill>
                <a:latin typeface="Arial"/>
              </a:defRPr>
            </a:pPr>
            <a:r>
              <a:t>2027</a:t>
            </a:r>
          </a:p>
        </p:txBody>
      </p:sp>
      <p:sp>
        <p:nvSpPr>
          <p:cNvPr id="13" name="TextBox 12"/>
          <p:cNvSpPr txBox="1"/>
          <p:nvPr/>
        </p:nvSpPr>
        <p:spPr>
          <a:xfrm>
            <a:off x="9220200" y="3619500"/>
            <a:ext cx="2540000" cy="598932"/>
          </a:xfrm>
          <a:prstGeom prst="rect">
            <a:avLst/>
          </a:prstGeom>
          <a:noFill/>
        </p:spPr>
        <p:txBody>
          <a:bodyPr wrap="none" lIns="0" rIns="0" tIns="0" bIns="0">
            <a:spAutoFit/>
          </a:bodyPr>
          <a:lstStyle/>
          <a:p>
            <a:pPr>
              <a:lnSpc>
                <a:spcPts val="2108"/>
              </a:lnSpc>
              <a:spcAft>
                <a:spcPts val="0"/>
              </a:spcAft>
              <a:defRPr sz="1700" b="1">
                <a:solidFill>
                  <a:srgbClr val="181817"/>
                </a:solidFill>
                <a:latin typeface="Arial"/>
              </a:defRPr>
            </a:pPr>
            <a:r>
              <a:t>PRAHA</a:t>
            </a:r>
          </a:p>
          <a:p>
            <a:pPr>
              <a:lnSpc>
                <a:spcPts val="2108"/>
              </a:lnSpc>
              <a:spcAft>
                <a:spcPts val="0"/>
              </a:spcAft>
              <a:defRPr sz="1700" b="1">
                <a:solidFill>
                  <a:srgbClr val="181817"/>
                </a:solidFill>
                <a:latin typeface="Arial"/>
              </a:defRPr>
            </a:pPr>
            <a:r>
              <a:t>VLTAVA PARK</a:t>
            </a:r>
          </a:p>
        </p:txBody>
      </p:sp>
      <p:sp>
        <p:nvSpPr>
          <p:cNvPr id="14" name="TextBox 13"/>
          <p:cNvSpPr txBox="1"/>
          <p:nvPr/>
        </p:nvSpPr>
        <p:spPr>
          <a:xfrm>
            <a:off x="9220200" y="5054600"/>
            <a:ext cx="2540000" cy="882396"/>
          </a:xfrm>
          <a:prstGeom prst="rect">
            <a:avLst/>
          </a:prstGeom>
          <a:noFill/>
        </p:spPr>
        <p:txBody>
          <a:bodyPr wrap="none" lIns="0" rIns="0" tIns="0" bIns="0">
            <a:spAutoFit/>
          </a:bodyPr>
          <a:lstStyle/>
          <a:p>
            <a:pPr>
              <a:lnSpc>
                <a:spcPts val="3224"/>
              </a:lnSpc>
              <a:spcAft>
                <a:spcPts val="0"/>
              </a:spcAft>
              <a:defRPr sz="2600" b="1">
                <a:solidFill>
                  <a:srgbClr val="181817"/>
                </a:solidFill>
                <a:latin typeface="Arial"/>
              </a:defRPr>
            </a:pPr>
            <a:r>
              <a:t>CVIČENÍ</a:t>
            </a:r>
          </a:p>
          <a:p>
            <a:pPr>
              <a:lnSpc>
                <a:spcPts val="3224"/>
              </a:lnSpc>
              <a:spcAft>
                <a:spcPts val="0"/>
              </a:spcAft>
              <a:defRPr sz="2600" b="1">
                <a:solidFill>
                  <a:srgbClr val="181817"/>
                </a:solidFill>
                <a:latin typeface="Arial"/>
              </a:defRPr>
            </a:pPr>
            <a:r>
              <a:t>04</a:t>
            </a:r>
          </a:p>
        </p:txBody>
      </p:sp>
      <p:sp>
        <p:nvSpPr>
          <p:cNvPr id="15" name="TextBox 14"/>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F4F0E7"/>
                </a:solidFill>
                <a:latin typeface="Arial"/>
              </a:defRPr>
            </a:pPr>
            <a:r>
              <a:t>DODATEČNĚ PŘIPRAVENÝ PODKLAD K MILNÍKU</a:t>
            </a:r>
          </a:p>
        </p:txBody>
      </p:sp>
      <p:sp>
        <p:nvSpPr>
          <p:cNvPr id="16" name="TextBox 15"/>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F4F0E7"/>
                </a:solidFill>
                <a:latin typeface="Arial"/>
              </a:defRPr>
            </a:pPr>
            <a:r>
              <a:t>04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OBSAH A FUNKCE</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Hlavní části jsou propojené.</a:t>
            </a:r>
          </a:p>
        </p:txBody>
      </p:sp>
      <p:sp>
        <p:nvSpPr>
          <p:cNvPr id="9" name="Rectangle 8"/>
          <p:cNvSpPr/>
          <p:nvPr/>
        </p:nvSpPr>
        <p:spPr>
          <a:xfrm>
            <a:off x="533400" y="2768600"/>
            <a:ext cx="35560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31242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Objevovat</a:t>
            </a:r>
          </a:p>
        </p:txBody>
      </p:sp>
      <p:sp>
        <p:nvSpPr>
          <p:cNvPr id="12" name="TextBox 11"/>
          <p:cNvSpPr txBox="1"/>
          <p:nvPr/>
        </p:nvSpPr>
        <p:spPr>
          <a:xfrm>
            <a:off x="749300" y="3733800"/>
            <a:ext cx="31242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Úvod, novinky, 60 skutečných</a:t>
            </a:r>
          </a:p>
          <a:p>
            <a:pPr>
              <a:lnSpc>
                <a:spcPts val="1689"/>
              </a:lnSpc>
              <a:spcAft>
                <a:spcPts val="0"/>
              </a:spcAft>
              <a:defRPr sz="1420" b="0">
                <a:solidFill>
                  <a:srgbClr val="F4F0E7"/>
                </a:solidFill>
                <a:latin typeface="Arial"/>
              </a:defRPr>
            </a:pPr>
            <a:r>
              <a:t>interpretů, biografické detaily a</a:t>
            </a:r>
          </a:p>
          <a:p>
            <a:pPr>
              <a:lnSpc>
                <a:spcPts val="1689"/>
              </a:lnSpc>
              <a:spcAft>
                <a:spcPts val="0"/>
              </a:spcAft>
              <a:defRPr sz="1420" b="0">
                <a:solidFill>
                  <a:srgbClr val="F4F0E7"/>
                </a:solidFill>
                <a:latin typeface="Arial"/>
              </a:defRPr>
            </a:pPr>
            <a:r>
              <a:t>hledání.</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CZ / EN pro zahraniční</a:t>
            </a:r>
          </a:p>
          <a:p>
            <a:pPr>
              <a:lnSpc>
                <a:spcPts val="1689"/>
              </a:lnSpc>
              <a:spcAft>
                <a:spcPts val="0"/>
              </a:spcAft>
              <a:defRPr sz="1420" b="0">
                <a:solidFill>
                  <a:srgbClr val="F4F0E7"/>
                </a:solidFill>
                <a:latin typeface="Arial"/>
              </a:defRPr>
            </a:pPr>
            <a:r>
              <a:t>návštěvníky.</a:t>
            </a:r>
          </a:p>
        </p:txBody>
      </p:sp>
      <p:sp>
        <p:nvSpPr>
          <p:cNvPr id="13" name="Rectangle 12"/>
          <p:cNvSpPr/>
          <p:nvPr/>
        </p:nvSpPr>
        <p:spPr>
          <a:xfrm>
            <a:off x="43180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80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39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Plánovat</a:t>
            </a:r>
          </a:p>
        </p:txBody>
      </p:sp>
      <p:sp>
        <p:nvSpPr>
          <p:cNvPr id="16" name="TextBox 15"/>
          <p:cNvSpPr txBox="1"/>
          <p:nvPr/>
        </p:nvSpPr>
        <p:spPr>
          <a:xfrm>
            <a:off x="45339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Program, scény, osobní výběr a</a:t>
            </a:r>
          </a:p>
          <a:p>
            <a:pPr>
              <a:lnSpc>
                <a:spcPts val="1689"/>
              </a:lnSpc>
              <a:spcAft>
                <a:spcPts val="0"/>
              </a:spcAft>
              <a:defRPr sz="1420" b="0">
                <a:solidFill>
                  <a:srgbClr val="181817"/>
                </a:solidFill>
                <a:latin typeface="Arial"/>
              </a:defRPr>
            </a:pPr>
            <a:r>
              <a:t>praktické informace.</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Mapa doplňuje textovou orientaci.</a:t>
            </a:r>
          </a:p>
        </p:txBody>
      </p:sp>
      <p:sp>
        <p:nvSpPr>
          <p:cNvPr id="17" name="Rectangle 16"/>
          <p:cNvSpPr/>
          <p:nvPr/>
        </p:nvSpPr>
        <p:spPr>
          <a:xfrm>
            <a:off x="81026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26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85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Vybrat vstupenku</a:t>
            </a:r>
          </a:p>
        </p:txBody>
      </p:sp>
      <p:sp>
        <p:nvSpPr>
          <p:cNvPr id="20" name="TextBox 19"/>
          <p:cNvSpPr txBox="1"/>
          <p:nvPr/>
        </p:nvSpPr>
        <p:spPr>
          <a:xfrm>
            <a:off x="83185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Konečné ceny, množství 1–8,</a:t>
            </a:r>
          </a:p>
          <a:p>
            <a:pPr>
              <a:lnSpc>
                <a:spcPts val="1689"/>
              </a:lnSpc>
              <a:spcAft>
                <a:spcPts val="0"/>
              </a:spcAft>
              <a:defRPr sz="1420" b="0">
                <a:solidFill>
                  <a:srgbClr val="181817"/>
                </a:solidFill>
                <a:latin typeface="Arial"/>
              </a:defRPr>
            </a:pPr>
            <a:r>
              <a:t>místa, promo kód a PDF.</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Sedm zkušebních platebních</a:t>
            </a:r>
          </a:p>
          <a:p>
            <a:pPr>
              <a:lnSpc>
                <a:spcPts val="1689"/>
              </a:lnSpc>
              <a:spcAft>
                <a:spcPts val="0"/>
              </a:spcAft>
              <a:defRPr sz="1420" b="0">
                <a:solidFill>
                  <a:srgbClr val="181817"/>
                </a:solidFill>
                <a:latin typeface="Arial"/>
              </a:defRPr>
            </a:pPr>
            <a:r>
              <a:t>metod.</a:t>
            </a:r>
          </a:p>
        </p:txBody>
      </p:sp>
      <p:sp>
        <p:nvSpPr>
          <p:cNvPr id="21" name="TextBox 20"/>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22" name="TextBox 21"/>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MOBILNÍ A DESKTOPOVÉ ZOBRAZENÍ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Flexbox i Grid mají své místo.</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Flexbox</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Navigace, akce, přepínače a řádky formulářů.</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Zalamování podle dostupného prostoru.</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Grid</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Přehledy interpretů, program a obsahové bloky.</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Pružné sloupce, rozumné mezery, čitelná hierarchie.</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Kontrolujeme přetékání, čitelnost, ovládání, dialogy i vyplněný košík.</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UKÁZKA IMPLEMENTACE</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Dva scénáře předvést, ne popsat.</a:t>
            </a:r>
          </a:p>
        </p:txBody>
      </p:sp>
      <p:sp>
        <p:nvSpPr>
          <p:cNvPr id="9" name="Rectangle 8"/>
          <p:cNvSpPr/>
          <p:nvPr/>
        </p:nvSpPr>
        <p:spPr>
          <a:xfrm>
            <a:off x="533400" y="2946400"/>
            <a:ext cx="2552700" cy="17653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3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01</a:t>
            </a:r>
          </a:p>
        </p:txBody>
      </p:sp>
      <p:sp>
        <p:nvSpPr>
          <p:cNvPr id="11" name="TextBox 10"/>
          <p:cNvSpPr txBox="1"/>
          <p:nvPr/>
        </p:nvSpPr>
        <p:spPr>
          <a:xfrm>
            <a:off x="723900" y="3568700"/>
            <a:ext cx="2133600" cy="444500"/>
          </a:xfrm>
          <a:prstGeom prst="rect">
            <a:avLst/>
          </a:prstGeom>
          <a:noFill/>
        </p:spPr>
        <p:txBody>
          <a:bodyPr wrap="none" lIns="0" rIns="0" tIns="0" bIns="0">
            <a:spAutoFit/>
          </a:bodyPr>
          <a:lstStyle/>
          <a:p>
            <a:pPr>
              <a:lnSpc>
                <a:spcPts val="2728"/>
              </a:lnSpc>
              <a:spcAft>
                <a:spcPts val="0"/>
              </a:spcAft>
              <a:defRPr sz="2200" b="1">
                <a:solidFill>
                  <a:srgbClr val="F4F0E7"/>
                </a:solidFill>
                <a:latin typeface="Arial"/>
              </a:defRPr>
            </a:pPr>
            <a:r>
              <a:t>S1</a:t>
            </a:r>
          </a:p>
        </p:txBody>
      </p:sp>
      <p:sp>
        <p:nvSpPr>
          <p:cNvPr id="12" name="TextBox 11"/>
          <p:cNvSpPr txBox="1"/>
          <p:nvPr/>
        </p:nvSpPr>
        <p:spPr>
          <a:xfrm>
            <a:off x="723900" y="4140200"/>
            <a:ext cx="2133600" cy="406400"/>
          </a:xfrm>
          <a:prstGeom prst="rect">
            <a:avLst/>
          </a:prstGeom>
          <a:noFill/>
        </p:spPr>
        <p:txBody>
          <a:bodyPr wrap="none" lIns="0" rIns="0" tIns="0" bIns="0">
            <a:spAutoFit/>
          </a:bodyPr>
          <a:lstStyle/>
          <a:p>
            <a:pPr>
              <a:lnSpc>
                <a:spcPts val="1488"/>
              </a:lnSpc>
              <a:spcAft>
                <a:spcPts val="0"/>
              </a:spcAft>
              <a:defRPr sz="1200" b="0">
                <a:solidFill>
                  <a:srgbClr val="F4F0E7"/>
                </a:solidFill>
                <a:latin typeface="Arial"/>
              </a:defRPr>
            </a:pPr>
            <a:r>
              <a:t>Den + scéna</a:t>
            </a:r>
          </a:p>
        </p:txBody>
      </p:sp>
      <p:sp>
        <p:nvSpPr>
          <p:cNvPr id="13" name="TextBox 12"/>
          <p:cNvSpPr txBox="1"/>
          <p:nvPr/>
        </p:nvSpPr>
        <p:spPr>
          <a:xfrm>
            <a:off x="3098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4" name="Rectangle 13"/>
          <p:cNvSpPr/>
          <p:nvPr/>
        </p:nvSpPr>
        <p:spPr>
          <a:xfrm>
            <a:off x="3390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1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02</a:t>
            </a:r>
          </a:p>
        </p:txBody>
      </p:sp>
      <p:sp>
        <p:nvSpPr>
          <p:cNvPr id="16" name="TextBox 15"/>
          <p:cNvSpPr txBox="1"/>
          <p:nvPr/>
        </p:nvSpPr>
        <p:spPr>
          <a:xfrm>
            <a:off x="3581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Výběr</a:t>
            </a:r>
          </a:p>
        </p:txBody>
      </p:sp>
      <p:sp>
        <p:nvSpPr>
          <p:cNvPr id="17" name="TextBox 16"/>
          <p:cNvSpPr txBox="1"/>
          <p:nvPr/>
        </p:nvSpPr>
        <p:spPr>
          <a:xfrm>
            <a:off x="3581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Uložit koncert</a:t>
            </a:r>
          </a:p>
        </p:txBody>
      </p:sp>
      <p:sp>
        <p:nvSpPr>
          <p:cNvPr id="18" name="TextBox 17"/>
          <p:cNvSpPr txBox="1"/>
          <p:nvPr/>
        </p:nvSpPr>
        <p:spPr>
          <a:xfrm>
            <a:off x="59563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9" name="Rectangle 18"/>
          <p:cNvSpPr/>
          <p:nvPr/>
        </p:nvSpPr>
        <p:spPr>
          <a:xfrm>
            <a:off x="62484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8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03</a:t>
            </a:r>
          </a:p>
        </p:txBody>
      </p:sp>
      <p:sp>
        <p:nvSpPr>
          <p:cNvPr id="21" name="TextBox 20"/>
          <p:cNvSpPr txBox="1"/>
          <p:nvPr/>
        </p:nvSpPr>
        <p:spPr>
          <a:xfrm>
            <a:off x="64389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S2</a:t>
            </a:r>
          </a:p>
        </p:txBody>
      </p:sp>
      <p:sp>
        <p:nvSpPr>
          <p:cNvPr id="22" name="TextBox 21"/>
          <p:cNvSpPr txBox="1"/>
          <p:nvPr/>
        </p:nvSpPr>
        <p:spPr>
          <a:xfrm>
            <a:off x="64389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Vyhledat DARKZY</a:t>
            </a:r>
          </a:p>
        </p:txBody>
      </p:sp>
      <p:sp>
        <p:nvSpPr>
          <p:cNvPr id="23" name="TextBox 22"/>
          <p:cNvSpPr txBox="1"/>
          <p:nvPr/>
        </p:nvSpPr>
        <p:spPr>
          <a:xfrm>
            <a:off x="8813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24" name="Rectangle 23"/>
          <p:cNvSpPr/>
          <p:nvPr/>
        </p:nvSpPr>
        <p:spPr>
          <a:xfrm>
            <a:off x="9105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6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04</a:t>
            </a:r>
          </a:p>
        </p:txBody>
      </p:sp>
      <p:sp>
        <p:nvSpPr>
          <p:cNvPr id="26" name="TextBox 25"/>
          <p:cNvSpPr txBox="1"/>
          <p:nvPr/>
        </p:nvSpPr>
        <p:spPr>
          <a:xfrm>
            <a:off x="9296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Detail</a:t>
            </a:r>
          </a:p>
        </p:txBody>
      </p:sp>
      <p:sp>
        <p:nvSpPr>
          <p:cNvPr id="27" name="TextBox 26"/>
          <p:cNvSpPr txBox="1"/>
          <p:nvPr/>
        </p:nvSpPr>
        <p:spPr>
          <a:xfrm>
            <a:off x="9296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Otevřít koncert</a:t>
            </a:r>
          </a:p>
        </p:txBody>
      </p:sp>
      <p:sp>
        <p:nvSpPr>
          <p:cNvPr id="28" name="TextBox 27"/>
          <p:cNvSpPr txBox="1"/>
          <p:nvPr/>
        </p:nvSpPr>
        <p:spPr>
          <a:xfrm>
            <a:off x="533400" y="5207000"/>
            <a:ext cx="11125200" cy="1016000"/>
          </a:xfrm>
          <a:prstGeom prst="rect">
            <a:avLst/>
          </a:prstGeom>
          <a:noFill/>
        </p:spPr>
        <p:txBody>
          <a:bodyPr wrap="none" lIns="0" rIns="0" tIns="0" bIns="0">
            <a:spAutoFit/>
          </a:bodyPr>
          <a:lstStyle/>
          <a:p>
            <a:pPr>
              <a:lnSpc>
                <a:spcPts val="2108"/>
              </a:lnSpc>
              <a:spcAft>
                <a:spcPts val="0"/>
              </a:spcAft>
              <a:defRPr sz="1700" b="0">
                <a:solidFill>
                  <a:srgbClr val="181817"/>
                </a:solidFill>
                <a:latin typeface="Arial"/>
              </a:defRPr>
            </a:pPr>
            <a:r>
              <a:t>Klávesnice: viditelný focus, dialog a návrat.</a:t>
            </a:r>
          </a:p>
          <a:p>
            <a:pPr>
              <a:lnSpc>
                <a:spcPts val="2108"/>
              </a:lnSpc>
              <a:spcAft>
                <a:spcPts val="0"/>
              </a:spcAft>
              <a:defRPr sz="1700" b="0">
                <a:solidFill>
                  <a:srgbClr val="181817"/>
                </a:solidFill>
                <a:latin typeface="Arial"/>
              </a:defRPr>
            </a:pPr>
            <a:r>
              <a:t>Obsah: stejná data v seznamu i detailu.</a:t>
            </a:r>
          </a:p>
        </p:txBody>
      </p:sp>
      <p:sp>
        <p:nvSpPr>
          <p:cNvPr id="29" name="TextBox 28"/>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30" name="TextBox 29"/>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XML → PŘIBALENÝ EXPORT → ROZHRANÍ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Zdroj dat zůstává jeden.</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Konzistence</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Názvy, časy, scény a tarify vycházejí z XML.</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Vývojový generátor není nutný pro běh.</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Bez instalace</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HTML, CSS, JavaScript a lokální zdroje.</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Bez serveru, databáze, balíčků a produkčních plateb.</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PDF je skutečný dokument; přenos e-mailu součástí klientské verze není.</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OVĚŘENÍ AI A VLASTNÍHO ŘEŠENÍ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Kontrola má konkrétní výstup.</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Technické důkazy</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Datový validátor a browserové průchody.</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Aktuální výsledky: validation_report.md.</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Poctivé limity</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Žádná smyšlená měření uživatelů ani peer review.</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Fyzické telefony a plný audit WCAG nejsou doloženy.</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Přijato: vlastní identita a mobile-first. Odmítnuto: backend a kopie značky.</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Prague Pulse Fest — cvičení 04: První funkční implementace</dc:title>
  <dc:subject>Dodatečně připravený milník podle zadání; nikoli doložená historie semestru.</dc:subject>
  <dc:creator>Prague Pulse Fest — projektové podklady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