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 wireframe navazuje kompletní současná implementace. Obsahuje výraznější vlastní identitu, asymetrickou kompozici a originální logo Prague Pulse Fest. Inspirací je obecný festivalový vizuální styl, nikoli převzetí loga nebo grafiky jiné akce. Materiály byly připraveny ze současné verze, protože skutečný historický export ze cvičení nebyl poskytnut. Při prezentaci ukážeme mobilní a desktopové zobrazení a dvě nejdůležitější cesty. Není třeba instalovat runtime nebo spouštět build. Název vracíme na Prague Pulse Fest a termín na výslovnou volbu zadavatele posouváme na 1.–3. srpna 2027. Hlavička má na notebooku hledání a navigaci v jednom řádku; odpočet pracuje s pražskou časovou zónou.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Implementace pokrývá všechny povinné obsahové části. Účinkující mají detail a vazbu na vystoupení. Program a scény jsou propojené, vyhledávání vede k odpovídajícímu objektu. Přepínač češtiny a angličtiny pomáhá zahraničním návštěvníkům. Třídenní tarify vysvětlují, co je zahrnuto; druhou cestou je výběr konkrétních míst. Účet je dobrovolný a historie je lokální. Na úvodu nemají technické podrobnosti překrývat obsah, ale omezení objednávky musí být srozumitelné tam, kde na nich záleží.</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Ano, Flexbox se pro tento web hodí, zejména pro navigaci a řady ovládacích prvků. Pro více řad karet je vhodnější Grid. Pružné velikosti a clamp přizpůsobují typografii prostoru, místo pevného navrhování pro konkrétní telefon. Responzivitu však nedokazuje jediný screenshot prázdného úvodu. Kontrolujeme i dlouhé názvy, otevřené menu, formuláře, dialogy a neprázdný košík. Při prezentaci vedle sebe ukážeme úzký a široký viewport stejného scénáře, aby bylo vidět, že zůstává stejná logika.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Zopakujeme S1 a S2 ve finálním rozhraní. Nejprve filtrujeme program a ověříme uložení osobního výběru. Potom hledáme Atlas Motel a přejdeme z detailu k jeho koncertu. Při ukázce sledujeme názvy, datum a scénu; efektní animace nesmí nahradit správný obsah. Krátce ukážeme klávesnici a zavření dialogu. Přístupnost není pouze kontrast: důležité je správné pořadí, popisky, zachování focusu a srozumitelná změna stavu. Plnou shodu s WCAG bez odpovídajícího auditu netvrdíme.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Datová základna v XML je autoritativní. Přibalený JavaScriptový export umožňuje zobrazit program bez síťového načítání, což je důležité pro přímé otevření z disku. Generátor je pouze vývojová pomůcka. Ceny tarifů i hlavní údaje musí odpovídat XML. Objednávkový tok vytváří skutečný PDF soubor s identifikací objednávky, ale neposílá e-mail a neprovádí skutečnou platbu. Hesla, objednávky a obsazenost nemají serverové zázemí; místní účet není bezpečné sdílené přihlašování. Nové objednávky mají ročník 2027, historické bez ročníku zůstávají 2026 a neblokují nový rok. Panel soukromí dovoluje externí mapy samostatně; po povolení se mapa vloží automaticky a odvolání ji odstraní. Analytika ani reklamní sledování nejsou použité.</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pomohla s rozvržením, texty, originální grafikou, implementací a testovacími skripty. Testy ale musí běžet proti skutečné výsledné verzi. Přiložený validační záznam uvádí konkrétní výsledek, rozsah a přeskočené kontroly. Datové minimum a reference kontrolujeme odděleně od prohlížeče. PDF posuzujeme jako soubor a ne pouze potvrzení na obrazovce. Historické odevzdání, testy s reálnými návštěvníky ani externí cross-review nejsou doloženy. Tým musí umět vysvětlit, co přijal a které limity zůstávají.</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818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851900" y="0"/>
            <a:ext cx="3340100" cy="6858000"/>
          </a:xfrm>
          <a:prstGeom prst="rect">
            <a:avLst/>
          </a:prstGeom>
          <a:solidFill>
            <a:srgbClr val="F45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3400" y="381000"/>
            <a:ext cx="2476500" cy="350113"/>
          </a:xfrm>
          <a:prstGeom prst="rect">
            <a:avLst/>
          </a:prstGeom>
          <a:noFill/>
        </p:spPr>
        <p:txBody>
          <a:bodyPr wrap="none" lIns="0" rIns="0" tIns="0" bIns="0">
            <a:spAutoFit/>
          </a:bodyPr>
          <a:lstStyle/>
          <a:p>
            <a:pPr>
              <a:lnSpc>
                <a:spcPts val="2256"/>
              </a:lnSpc>
              <a:spcAft>
                <a:spcPts val="0"/>
              </a:spcAft>
              <a:defRPr sz="1820" b="1">
                <a:solidFill>
                  <a:srgbClr val="F4F0E7"/>
                </a:solidFill>
                <a:latin typeface="Arial"/>
              </a:defRPr>
            </a:pPr>
            <a:r>
              <a:t>PRAGUE</a:t>
            </a:r>
          </a:p>
        </p:txBody>
      </p:sp>
      <p:sp>
        <p:nvSpPr>
          <p:cNvPr id="5" name="TextBox 4"/>
          <p:cNvSpPr txBox="1"/>
          <p:nvPr/>
        </p:nvSpPr>
        <p:spPr>
          <a:xfrm>
            <a:off x="533400" y="628650"/>
            <a:ext cx="2476500" cy="513892"/>
          </a:xfrm>
          <a:prstGeom prst="rect">
            <a:avLst/>
          </a:prstGeom>
          <a:noFill/>
        </p:spPr>
        <p:txBody>
          <a:bodyPr wrap="none" lIns="0" rIns="0" tIns="0" bIns="0">
            <a:spAutoFit/>
          </a:bodyPr>
          <a:lstStyle/>
          <a:p>
            <a:pPr>
              <a:lnSpc>
                <a:spcPts val="3546"/>
              </a:lnSpc>
              <a:spcAft>
                <a:spcPts val="0"/>
              </a:spcAft>
              <a:defRPr sz="2860" b="1">
                <a:solidFill>
                  <a:srgbClr val="F4F0E7"/>
                </a:solidFill>
                <a:latin typeface="Arial"/>
              </a:defRPr>
            </a:pPr>
            <a:r>
              <a:t>PULSE</a:t>
            </a:r>
          </a:p>
        </p:txBody>
      </p:sp>
      <p:sp>
        <p:nvSpPr>
          <p:cNvPr id="6" name="TextBox 5"/>
          <p:cNvSpPr txBox="1"/>
          <p:nvPr/>
        </p:nvSpPr>
        <p:spPr>
          <a:xfrm>
            <a:off x="533400" y="1041400"/>
            <a:ext cx="2641600" cy="196570"/>
          </a:xfrm>
          <a:prstGeom prst="rect">
            <a:avLst/>
          </a:prstGeom>
          <a:noFill/>
        </p:spPr>
        <p:txBody>
          <a:bodyPr wrap="none" lIns="0" rIns="0" tIns="0" bIns="0">
            <a:spAutoFit/>
          </a:bodyPr>
          <a:lstStyle/>
          <a:p>
            <a:pPr>
              <a:lnSpc>
                <a:spcPts val="1047"/>
              </a:lnSpc>
              <a:spcAft>
                <a:spcPts val="0"/>
              </a:spcAft>
              <a:defRPr sz="845" b="1">
                <a:solidFill>
                  <a:srgbClr val="F4F0E7"/>
                </a:solidFill>
                <a:latin typeface="Arial"/>
              </a:defRPr>
            </a:pPr>
            <a:r>
              <a:t>FEST / 2027</a:t>
            </a:r>
          </a:p>
        </p:txBody>
      </p:sp>
      <p:sp>
        <p:nvSpPr>
          <p:cNvPr id="7" name="Rectangle 6"/>
          <p:cNvSpPr/>
          <p:nvPr/>
        </p:nvSpPr>
        <p:spPr>
          <a:xfrm>
            <a:off x="2266950" y="463550"/>
            <a:ext cx="115570" cy="561340"/>
          </a:xfrm>
          <a:prstGeom prst="rect">
            <a:avLst/>
          </a:prstGeom>
          <a:solidFill>
            <a:srgbClr val="F4F0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3400" y="1536700"/>
            <a:ext cx="7874000" cy="236728"/>
          </a:xfrm>
          <a:prstGeom prst="rect">
            <a:avLst/>
          </a:prstGeom>
          <a:noFill/>
        </p:spPr>
        <p:txBody>
          <a:bodyPr wrap="none" lIns="0" rIns="0" tIns="0" bIns="0">
            <a:spAutoFit/>
          </a:bodyPr>
          <a:lstStyle/>
          <a:p>
            <a:pPr>
              <a:lnSpc>
                <a:spcPts val="1364"/>
              </a:lnSpc>
              <a:spcAft>
                <a:spcPts val="0"/>
              </a:spcAft>
              <a:defRPr sz="1100" b="1">
                <a:solidFill>
                  <a:srgbClr val="F4F0E7"/>
                </a:solidFill>
                <a:latin typeface="Arial"/>
              </a:defRPr>
            </a:pPr>
            <a:r>
              <a:t>CVIČENÍ 04 / IMPLEMENTACE</a:t>
            </a:r>
          </a:p>
        </p:txBody>
      </p:sp>
      <p:sp>
        <p:nvSpPr>
          <p:cNvPr id="9" name="TextBox 8"/>
          <p:cNvSpPr txBox="1"/>
          <p:nvPr/>
        </p:nvSpPr>
        <p:spPr>
          <a:xfrm>
            <a:off x="482600" y="2133600"/>
            <a:ext cx="8001000" cy="2095500"/>
          </a:xfrm>
          <a:prstGeom prst="rect">
            <a:avLst/>
          </a:prstGeom>
          <a:noFill/>
        </p:spPr>
        <p:txBody>
          <a:bodyPr wrap="none" lIns="0" rIns="0" tIns="0" bIns="0">
            <a:spAutoFit/>
          </a:bodyPr>
          <a:lstStyle/>
          <a:p>
            <a:pPr>
              <a:lnSpc>
                <a:spcPts val="5830"/>
              </a:lnSpc>
              <a:spcAft>
                <a:spcPts val="0"/>
              </a:spcAft>
              <a:defRPr sz="5500" b="1">
                <a:solidFill>
                  <a:srgbClr val="F4F0E7"/>
                </a:solidFill>
                <a:latin typeface="Arial"/>
              </a:defRPr>
            </a:pPr>
            <a:r>
              <a:t>Festival má</a:t>
            </a:r>
          </a:p>
          <a:p>
            <a:pPr>
              <a:lnSpc>
                <a:spcPts val="5830"/>
              </a:lnSpc>
              <a:spcAft>
                <a:spcPts val="0"/>
              </a:spcAft>
              <a:defRPr sz="5500" b="1">
                <a:solidFill>
                  <a:srgbClr val="F4F0E7"/>
                </a:solidFill>
                <a:latin typeface="Arial"/>
              </a:defRPr>
            </a:pPr>
            <a:r>
              <a:t>vlastní tvář.</a:t>
            </a:r>
          </a:p>
        </p:txBody>
      </p:sp>
      <p:sp>
        <p:nvSpPr>
          <p:cNvPr id="10" name="TextBox 9"/>
          <p:cNvSpPr txBox="1"/>
          <p:nvPr/>
        </p:nvSpPr>
        <p:spPr>
          <a:xfrm>
            <a:off x="533400" y="4724400"/>
            <a:ext cx="7747000" cy="1104900"/>
          </a:xfrm>
          <a:prstGeom prst="rect">
            <a:avLst/>
          </a:prstGeom>
          <a:noFill/>
        </p:spPr>
        <p:txBody>
          <a:bodyPr wrap="none" lIns="0" rIns="0" tIns="0" bIns="0">
            <a:spAutoFit/>
          </a:bodyPr>
          <a:lstStyle/>
          <a:p>
            <a:pPr>
              <a:lnSpc>
                <a:spcPts val="2356"/>
              </a:lnSpc>
              <a:spcAft>
                <a:spcPts val="0"/>
              </a:spcAft>
              <a:defRPr sz="1900" b="0">
                <a:solidFill>
                  <a:srgbClr val="F4F0E7"/>
                </a:solidFill>
                <a:latin typeface="Arial"/>
              </a:defRPr>
            </a:pPr>
            <a:r>
              <a:t>Výrazná typografie. Asymetrická kompozice.</a:t>
            </a:r>
          </a:p>
          <a:p>
            <a:pPr>
              <a:lnSpc>
                <a:spcPts val="2356"/>
              </a:lnSpc>
              <a:spcAft>
                <a:spcPts val="0"/>
              </a:spcAft>
              <a:defRPr sz="1900" b="0">
                <a:solidFill>
                  <a:srgbClr val="F4F0E7"/>
                </a:solidFill>
                <a:latin typeface="Arial"/>
              </a:defRPr>
            </a:pPr>
            <a:r>
              <a:t>HTML · CSS · JavaScript.</a:t>
            </a:r>
          </a:p>
        </p:txBody>
      </p:sp>
      <p:sp>
        <p:nvSpPr>
          <p:cNvPr id="11" name="TextBox 10"/>
          <p:cNvSpPr txBox="1"/>
          <p:nvPr/>
        </p:nvSpPr>
        <p:spPr>
          <a:xfrm>
            <a:off x="9220200" y="889000"/>
            <a:ext cx="2667000" cy="961135"/>
          </a:xfrm>
          <a:prstGeom prst="rect">
            <a:avLst/>
          </a:prstGeom>
          <a:noFill/>
        </p:spPr>
        <p:txBody>
          <a:bodyPr wrap="none" lIns="0" rIns="0" tIns="0" bIns="0">
            <a:spAutoFit/>
          </a:bodyPr>
          <a:lstStyle/>
          <a:p>
            <a:pPr>
              <a:lnSpc>
                <a:spcPts val="7067"/>
              </a:lnSpc>
              <a:spcAft>
                <a:spcPts val="0"/>
              </a:spcAft>
              <a:defRPr sz="5700" b="1">
                <a:solidFill>
                  <a:srgbClr val="181817"/>
                </a:solidFill>
                <a:latin typeface="Arial"/>
              </a:defRPr>
            </a:pPr>
            <a:r>
              <a:t>1—3</a:t>
            </a:r>
          </a:p>
        </p:txBody>
      </p:sp>
      <p:sp>
        <p:nvSpPr>
          <p:cNvPr id="12" name="TextBox 11"/>
          <p:cNvSpPr txBox="1"/>
          <p:nvPr/>
        </p:nvSpPr>
        <p:spPr>
          <a:xfrm>
            <a:off x="9220200" y="1765300"/>
            <a:ext cx="2667000" cy="551688"/>
          </a:xfrm>
          <a:prstGeom prst="rect">
            <a:avLst/>
          </a:prstGeom>
          <a:noFill/>
        </p:spPr>
        <p:txBody>
          <a:bodyPr wrap="none" lIns="0" rIns="0" tIns="0" bIns="0">
            <a:spAutoFit/>
          </a:bodyPr>
          <a:lstStyle/>
          <a:p>
            <a:pPr>
              <a:lnSpc>
                <a:spcPts val="3844"/>
              </a:lnSpc>
              <a:spcAft>
                <a:spcPts val="0"/>
              </a:spcAft>
              <a:defRPr sz="3100" b="1">
                <a:solidFill>
                  <a:srgbClr val="181817"/>
                </a:solidFill>
                <a:latin typeface="Arial"/>
              </a:defRPr>
            </a:pPr>
            <a:r>
              <a:t>SRPEN</a:t>
            </a:r>
          </a:p>
        </p:txBody>
      </p:sp>
      <p:sp>
        <p:nvSpPr>
          <p:cNvPr id="13" name="TextBox 12"/>
          <p:cNvSpPr txBox="1"/>
          <p:nvPr/>
        </p:nvSpPr>
        <p:spPr>
          <a:xfrm>
            <a:off x="9220200" y="2247900"/>
            <a:ext cx="2667000" cy="724916"/>
          </a:xfrm>
          <a:prstGeom prst="rect">
            <a:avLst/>
          </a:prstGeom>
          <a:noFill/>
        </p:spPr>
        <p:txBody>
          <a:bodyPr wrap="none" lIns="0" rIns="0" tIns="0" bIns="0">
            <a:spAutoFit/>
          </a:bodyPr>
          <a:lstStyle/>
          <a:p>
            <a:pPr>
              <a:lnSpc>
                <a:spcPts val="5208"/>
              </a:lnSpc>
              <a:spcAft>
                <a:spcPts val="0"/>
              </a:spcAft>
              <a:defRPr sz="4200" b="1">
                <a:solidFill>
                  <a:srgbClr val="181817"/>
                </a:solidFill>
                <a:latin typeface="Arial"/>
              </a:defRPr>
            </a:pPr>
            <a:r>
              <a:t>2027</a:t>
            </a:r>
          </a:p>
        </p:txBody>
      </p:sp>
      <p:sp>
        <p:nvSpPr>
          <p:cNvPr id="14" name="TextBox 13"/>
          <p:cNvSpPr txBox="1"/>
          <p:nvPr/>
        </p:nvSpPr>
        <p:spPr>
          <a:xfrm>
            <a:off x="9220200" y="3619500"/>
            <a:ext cx="2540000" cy="598932"/>
          </a:xfrm>
          <a:prstGeom prst="rect">
            <a:avLst/>
          </a:prstGeom>
          <a:noFill/>
        </p:spPr>
        <p:txBody>
          <a:bodyPr wrap="none" lIns="0" rIns="0" tIns="0" bIns="0">
            <a:spAutoFit/>
          </a:bodyPr>
          <a:lstStyle/>
          <a:p>
            <a:pPr>
              <a:lnSpc>
                <a:spcPts val="2108"/>
              </a:lnSpc>
              <a:spcAft>
                <a:spcPts val="0"/>
              </a:spcAft>
              <a:defRPr sz="1700" b="1">
                <a:solidFill>
                  <a:srgbClr val="181817"/>
                </a:solidFill>
                <a:latin typeface="Arial"/>
              </a:defRPr>
            </a:pPr>
            <a:r>
              <a:t>PRAHA</a:t>
            </a:r>
          </a:p>
          <a:p>
            <a:pPr>
              <a:lnSpc>
                <a:spcPts val="2108"/>
              </a:lnSpc>
              <a:spcAft>
                <a:spcPts val="0"/>
              </a:spcAft>
              <a:defRPr sz="1700" b="1">
                <a:solidFill>
                  <a:srgbClr val="181817"/>
                </a:solidFill>
                <a:latin typeface="Arial"/>
              </a:defRPr>
            </a:pPr>
            <a:r>
              <a:t>VLTAVA PARK</a:t>
            </a:r>
          </a:p>
        </p:txBody>
      </p:sp>
      <p:sp>
        <p:nvSpPr>
          <p:cNvPr id="15" name="TextBox 14"/>
          <p:cNvSpPr txBox="1"/>
          <p:nvPr/>
        </p:nvSpPr>
        <p:spPr>
          <a:xfrm>
            <a:off x="9220200" y="5054600"/>
            <a:ext cx="2540000" cy="882396"/>
          </a:xfrm>
          <a:prstGeom prst="rect">
            <a:avLst/>
          </a:prstGeom>
          <a:noFill/>
        </p:spPr>
        <p:txBody>
          <a:bodyPr wrap="none" lIns="0" rIns="0" tIns="0" bIns="0">
            <a:spAutoFit/>
          </a:bodyPr>
          <a:lstStyle/>
          <a:p>
            <a:pPr>
              <a:lnSpc>
                <a:spcPts val="3224"/>
              </a:lnSpc>
              <a:spcAft>
                <a:spcPts val="0"/>
              </a:spcAft>
              <a:defRPr sz="2600" b="1">
                <a:solidFill>
                  <a:srgbClr val="181817"/>
                </a:solidFill>
                <a:latin typeface="Arial"/>
              </a:defRPr>
            </a:pPr>
            <a:r>
              <a:t>CVIČENÍ</a:t>
            </a:r>
          </a:p>
          <a:p>
            <a:pPr>
              <a:lnSpc>
                <a:spcPts val="3224"/>
              </a:lnSpc>
              <a:spcAft>
                <a:spcPts val="0"/>
              </a:spcAft>
              <a:defRPr sz="2600" b="1">
                <a:solidFill>
                  <a:srgbClr val="181817"/>
                </a:solidFill>
                <a:latin typeface="Arial"/>
              </a:defRPr>
            </a:pPr>
            <a:r>
              <a:t>04</a:t>
            </a:r>
          </a:p>
        </p:txBody>
      </p:sp>
      <p:sp>
        <p:nvSpPr>
          <p:cNvPr id="16" name="TextBox 15"/>
          <p:cNvSpPr txBox="1"/>
          <p:nvPr/>
        </p:nvSpPr>
        <p:spPr>
          <a:xfrm>
            <a:off x="533400" y="6413500"/>
            <a:ext cx="10033000" cy="181610"/>
          </a:xfrm>
          <a:prstGeom prst="rect">
            <a:avLst/>
          </a:prstGeom>
          <a:noFill/>
        </p:spPr>
        <p:txBody>
          <a:bodyPr wrap="none" lIns="0" rIns="0" tIns="0" bIns="0">
            <a:spAutoFit/>
          </a:bodyPr>
          <a:lstStyle/>
          <a:p>
            <a:pPr>
              <a:lnSpc>
                <a:spcPts val="930"/>
              </a:lnSpc>
              <a:spcAft>
                <a:spcPts val="0"/>
              </a:spcAft>
              <a:defRPr sz="750" b="0">
                <a:solidFill>
                  <a:srgbClr val="F4F0E7"/>
                </a:solidFill>
                <a:latin typeface="Arial"/>
              </a:defRPr>
            </a:pPr>
            <a:r>
              <a:t>DODATEČNĚ PŘIPRAVENÝ PODKLAD K MILNÍKU</a:t>
            </a:r>
          </a:p>
        </p:txBody>
      </p:sp>
      <p:sp>
        <p:nvSpPr>
          <p:cNvPr id="17" name="TextBox 16"/>
          <p:cNvSpPr txBox="1"/>
          <p:nvPr/>
        </p:nvSpPr>
        <p:spPr>
          <a:xfrm>
            <a:off x="10947400" y="6350000"/>
            <a:ext cx="825500" cy="220979"/>
          </a:xfrm>
          <a:prstGeom prst="rect">
            <a:avLst/>
          </a:prstGeom>
          <a:noFill/>
        </p:spPr>
        <p:txBody>
          <a:bodyPr wrap="none" lIns="0" rIns="0" tIns="0" bIns="0">
            <a:spAutoFit/>
          </a:bodyPr>
          <a:lstStyle/>
          <a:p>
            <a:pPr>
              <a:lnSpc>
                <a:spcPts val="1240"/>
              </a:lnSpc>
              <a:spcAft>
                <a:spcPts val="0"/>
              </a:spcAft>
              <a:defRPr sz="1000" b="1">
                <a:solidFill>
                  <a:srgbClr val="F4F0E7"/>
                </a:solidFill>
                <a:latin typeface="Arial"/>
              </a:defRPr>
            </a:pPr>
            <a:r>
              <a:t>04 / 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0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3400" y="304800"/>
            <a:ext cx="1905000" cy="283972"/>
          </a:xfrm>
          <a:prstGeom prst="rect">
            <a:avLst/>
          </a:prstGeom>
          <a:noFill/>
        </p:spPr>
        <p:txBody>
          <a:bodyPr wrap="none" lIns="0" rIns="0" tIns="0" bIns="0">
            <a:spAutoFit/>
          </a:bodyPr>
          <a:lstStyle/>
          <a:p>
            <a:pPr>
              <a:lnSpc>
                <a:spcPts val="1736"/>
              </a:lnSpc>
              <a:spcAft>
                <a:spcPts val="0"/>
              </a:spcAft>
              <a:defRPr sz="1400" b="1">
                <a:solidFill>
                  <a:srgbClr val="181817"/>
                </a:solidFill>
                <a:latin typeface="Arial"/>
              </a:defRPr>
            </a:pPr>
            <a:r>
              <a:t>PRAGUE</a:t>
            </a:r>
          </a:p>
        </p:txBody>
      </p:sp>
      <p:sp>
        <p:nvSpPr>
          <p:cNvPr id="4" name="TextBox 3"/>
          <p:cNvSpPr txBox="1"/>
          <p:nvPr/>
        </p:nvSpPr>
        <p:spPr>
          <a:xfrm>
            <a:off x="533400" y="495300"/>
            <a:ext cx="1905000" cy="409956"/>
          </a:xfrm>
          <a:prstGeom prst="rect">
            <a:avLst/>
          </a:prstGeom>
          <a:noFill/>
        </p:spPr>
        <p:txBody>
          <a:bodyPr wrap="none" lIns="0" rIns="0" tIns="0" bIns="0">
            <a:spAutoFit/>
          </a:bodyPr>
          <a:lstStyle/>
          <a:p>
            <a:pPr>
              <a:lnSpc>
                <a:spcPts val="2728"/>
              </a:lnSpc>
              <a:spcAft>
                <a:spcPts val="0"/>
              </a:spcAft>
              <a:defRPr sz="2200" b="1">
                <a:solidFill>
                  <a:srgbClr val="181817"/>
                </a:solidFill>
                <a:latin typeface="Arial"/>
              </a:defRPr>
            </a:pPr>
            <a:r>
              <a:t>PULSE</a:t>
            </a:r>
          </a:p>
        </p:txBody>
      </p:sp>
      <p:sp>
        <p:nvSpPr>
          <p:cNvPr id="5" name="TextBox 4"/>
          <p:cNvSpPr txBox="1"/>
          <p:nvPr/>
        </p:nvSpPr>
        <p:spPr>
          <a:xfrm>
            <a:off x="533400" y="812800"/>
            <a:ext cx="2032000" cy="165862"/>
          </a:xfrm>
          <a:prstGeom prst="rect">
            <a:avLst/>
          </a:prstGeom>
          <a:noFill/>
        </p:spPr>
        <p:txBody>
          <a:bodyPr wrap="none" lIns="0" rIns="0" tIns="0" bIns="0">
            <a:spAutoFit/>
          </a:bodyPr>
          <a:lstStyle/>
          <a:p>
            <a:pPr>
              <a:lnSpc>
                <a:spcPts val="806"/>
              </a:lnSpc>
              <a:spcAft>
                <a:spcPts val="0"/>
              </a:spcAft>
              <a:defRPr sz="650" b="1">
                <a:solidFill>
                  <a:srgbClr val="181817"/>
                </a:solidFill>
                <a:latin typeface="Arial"/>
              </a:defRPr>
            </a:pPr>
            <a:r>
              <a:t>FEST / 2027</a:t>
            </a:r>
          </a:p>
        </p:txBody>
      </p:sp>
      <p:sp>
        <p:nvSpPr>
          <p:cNvPr id="6" name="Rectangle 5"/>
          <p:cNvSpPr/>
          <p:nvPr/>
        </p:nvSpPr>
        <p:spPr>
          <a:xfrm>
            <a:off x="1866900" y="368300"/>
            <a:ext cx="88900" cy="431800"/>
          </a:xfrm>
          <a:prstGeom prst="rect">
            <a:avLst/>
          </a:prstGeom>
          <a:solidFill>
            <a:srgbClr val="F45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88000" y="533400"/>
            <a:ext cx="6070600" cy="220979"/>
          </a:xfrm>
          <a:prstGeom prst="rect">
            <a:avLst/>
          </a:prstGeom>
          <a:noFill/>
        </p:spPr>
        <p:txBody>
          <a:bodyPr wrap="none" lIns="0" rIns="0" tIns="0" bIns="0">
            <a:spAutoFit/>
          </a:bodyPr>
          <a:lstStyle/>
          <a:p>
            <a:pPr>
              <a:lnSpc>
                <a:spcPts val="1240"/>
              </a:lnSpc>
              <a:spcAft>
                <a:spcPts val="0"/>
              </a:spcAft>
              <a:defRPr sz="1000" b="1">
                <a:solidFill>
                  <a:srgbClr val="68635B"/>
                </a:solidFill>
                <a:latin typeface="Arial"/>
              </a:defRPr>
            </a:pPr>
            <a:r>
              <a:t>OBSAH A FUNKCE</a:t>
            </a:r>
          </a:p>
        </p:txBody>
      </p:sp>
      <p:sp>
        <p:nvSpPr>
          <p:cNvPr id="8" name="Rectangle 7"/>
          <p:cNvSpPr/>
          <p:nvPr/>
        </p:nvSpPr>
        <p:spPr>
          <a:xfrm>
            <a:off x="533400" y="1155700"/>
            <a:ext cx="11125200" cy="25400"/>
          </a:xfrm>
          <a:prstGeom prst="rect">
            <a:avLst/>
          </a:prstGeom>
          <a:solidFill>
            <a:srgbClr val="1818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8000" y="1422400"/>
            <a:ext cx="11176000" cy="1079500"/>
          </a:xfrm>
          <a:prstGeom prst="rect">
            <a:avLst/>
          </a:prstGeom>
          <a:noFill/>
        </p:spPr>
        <p:txBody>
          <a:bodyPr wrap="none" lIns="0" rIns="0" tIns="0" bIns="0">
            <a:spAutoFit/>
          </a:bodyPr>
          <a:lstStyle/>
          <a:p>
            <a:pPr>
              <a:lnSpc>
                <a:spcPts val="3740"/>
              </a:lnSpc>
              <a:spcAft>
                <a:spcPts val="0"/>
              </a:spcAft>
              <a:defRPr sz="3400" b="1">
                <a:solidFill>
                  <a:srgbClr val="181817"/>
                </a:solidFill>
                <a:latin typeface="Arial"/>
              </a:defRPr>
            </a:pPr>
            <a:r>
              <a:t>Hlavní části jsou propojené.</a:t>
            </a:r>
          </a:p>
        </p:txBody>
      </p:sp>
      <p:sp>
        <p:nvSpPr>
          <p:cNvPr id="10" name="Rectangle 9"/>
          <p:cNvSpPr/>
          <p:nvPr/>
        </p:nvSpPr>
        <p:spPr>
          <a:xfrm>
            <a:off x="533400" y="2768600"/>
            <a:ext cx="3556000" cy="2603500"/>
          </a:xfrm>
          <a:prstGeom prst="rect">
            <a:avLst/>
          </a:prstGeom>
          <a:solidFill>
            <a:srgbClr val="1818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768600"/>
            <a:ext cx="3556000" cy="76200"/>
          </a:xfrm>
          <a:prstGeom prst="rect">
            <a:avLst/>
          </a:prstGeom>
          <a:solidFill>
            <a:srgbClr val="F45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300" y="3035300"/>
            <a:ext cx="3124200" cy="685800"/>
          </a:xfrm>
          <a:prstGeom prst="rect">
            <a:avLst/>
          </a:prstGeom>
          <a:noFill/>
        </p:spPr>
        <p:txBody>
          <a:bodyPr wrap="none" lIns="0" rIns="0" tIns="0" bIns="0">
            <a:spAutoFit/>
          </a:bodyPr>
          <a:lstStyle/>
          <a:p>
            <a:pPr>
              <a:lnSpc>
                <a:spcPts val="2200"/>
              </a:lnSpc>
              <a:spcAft>
                <a:spcPts val="0"/>
              </a:spcAft>
              <a:defRPr sz="2000" b="1">
                <a:solidFill>
                  <a:srgbClr val="F4F0E7"/>
                </a:solidFill>
                <a:latin typeface="Arial"/>
              </a:defRPr>
            </a:pPr>
            <a:r>
              <a:t>Objevovat</a:t>
            </a:r>
          </a:p>
        </p:txBody>
      </p:sp>
      <p:sp>
        <p:nvSpPr>
          <p:cNvPr id="13" name="TextBox 12"/>
          <p:cNvSpPr txBox="1"/>
          <p:nvPr/>
        </p:nvSpPr>
        <p:spPr>
          <a:xfrm>
            <a:off x="749300" y="3733800"/>
            <a:ext cx="3124200" cy="1511300"/>
          </a:xfrm>
          <a:prstGeom prst="rect">
            <a:avLst/>
          </a:prstGeom>
          <a:noFill/>
        </p:spPr>
        <p:txBody>
          <a:bodyPr wrap="none" lIns="0" rIns="0" tIns="0" bIns="0">
            <a:spAutoFit/>
          </a:bodyPr>
          <a:lstStyle/>
          <a:p>
            <a:pPr>
              <a:lnSpc>
                <a:spcPts val="1689"/>
              </a:lnSpc>
              <a:spcAft>
                <a:spcPts val="0"/>
              </a:spcAft>
              <a:defRPr sz="1420" b="0">
                <a:solidFill>
                  <a:srgbClr val="F4F0E7"/>
                </a:solidFill>
                <a:latin typeface="Arial"/>
              </a:defRPr>
            </a:pPr>
            <a:r>
              <a:t>Úvod, 60 účinkujících, detaily a</a:t>
            </a:r>
          </a:p>
          <a:p>
            <a:pPr>
              <a:lnSpc>
                <a:spcPts val="1689"/>
              </a:lnSpc>
              <a:spcAft>
                <a:spcPts val="0"/>
              </a:spcAft>
              <a:defRPr sz="1420" b="0">
                <a:solidFill>
                  <a:srgbClr val="F4F0E7"/>
                </a:solidFill>
                <a:latin typeface="Arial"/>
              </a:defRPr>
            </a:pPr>
            <a:r>
              <a:t>obsahové vyhledávání.</a:t>
            </a:r>
          </a:p>
          <a:p>
            <a:pPr>
              <a:lnSpc>
                <a:spcPts val="1689"/>
              </a:lnSpc>
              <a:spcAft>
                <a:spcPts val="0"/>
              </a:spcAft>
              <a:defRPr sz="1420" b="0">
                <a:solidFill>
                  <a:srgbClr val="F4F0E7"/>
                </a:solidFill>
                <a:latin typeface="Arial"/>
              </a:defRPr>
            </a:pPr>
          </a:p>
          <a:p>
            <a:pPr>
              <a:lnSpc>
                <a:spcPts val="1689"/>
              </a:lnSpc>
              <a:spcAft>
                <a:spcPts val="0"/>
              </a:spcAft>
              <a:defRPr sz="1420" b="0">
                <a:solidFill>
                  <a:srgbClr val="F4F0E7"/>
                </a:solidFill>
                <a:latin typeface="Arial"/>
              </a:defRPr>
            </a:pPr>
            <a:r>
              <a:t>CZ / EN pro zahraniční</a:t>
            </a:r>
          </a:p>
          <a:p>
            <a:pPr>
              <a:lnSpc>
                <a:spcPts val="1689"/>
              </a:lnSpc>
              <a:spcAft>
                <a:spcPts val="0"/>
              </a:spcAft>
              <a:defRPr sz="1420" b="0">
                <a:solidFill>
                  <a:srgbClr val="F4F0E7"/>
                </a:solidFill>
                <a:latin typeface="Arial"/>
              </a:defRPr>
            </a:pPr>
            <a:r>
              <a:t>návštěvníky.</a:t>
            </a:r>
          </a:p>
        </p:txBody>
      </p:sp>
      <p:sp>
        <p:nvSpPr>
          <p:cNvPr id="14" name="Rectangle 13"/>
          <p:cNvSpPr/>
          <p:nvPr/>
        </p:nvSpPr>
        <p:spPr>
          <a:xfrm>
            <a:off x="4318000" y="2768600"/>
            <a:ext cx="3556000" cy="2603500"/>
          </a:xfrm>
          <a:prstGeom prst="rect">
            <a:avLst/>
          </a:prstGeom>
          <a:solidFill>
            <a:srgbClr val="E7E0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8000" y="2768600"/>
            <a:ext cx="3556000" cy="76200"/>
          </a:xfrm>
          <a:prstGeom prst="rect">
            <a:avLst/>
          </a:prstGeom>
          <a:solidFill>
            <a:srgbClr val="F45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33900" y="3035300"/>
            <a:ext cx="3124200" cy="685800"/>
          </a:xfrm>
          <a:prstGeom prst="rect">
            <a:avLst/>
          </a:prstGeom>
          <a:noFill/>
        </p:spPr>
        <p:txBody>
          <a:bodyPr wrap="none" lIns="0" rIns="0" tIns="0" bIns="0">
            <a:spAutoFit/>
          </a:bodyPr>
          <a:lstStyle/>
          <a:p>
            <a:pPr>
              <a:lnSpc>
                <a:spcPts val="2200"/>
              </a:lnSpc>
              <a:spcAft>
                <a:spcPts val="0"/>
              </a:spcAft>
              <a:defRPr sz="2000" b="1">
                <a:solidFill>
                  <a:srgbClr val="181817"/>
                </a:solidFill>
                <a:latin typeface="Arial"/>
              </a:defRPr>
            </a:pPr>
            <a:r>
              <a:t>Plánovat</a:t>
            </a:r>
          </a:p>
        </p:txBody>
      </p:sp>
      <p:sp>
        <p:nvSpPr>
          <p:cNvPr id="17" name="TextBox 16"/>
          <p:cNvSpPr txBox="1"/>
          <p:nvPr/>
        </p:nvSpPr>
        <p:spPr>
          <a:xfrm>
            <a:off x="4533900" y="3733800"/>
            <a:ext cx="3124200" cy="1511300"/>
          </a:xfrm>
          <a:prstGeom prst="rect">
            <a:avLst/>
          </a:prstGeom>
          <a:noFill/>
        </p:spPr>
        <p:txBody>
          <a:bodyPr wrap="none" lIns="0" rIns="0" tIns="0" bIns="0">
            <a:spAutoFit/>
          </a:bodyPr>
          <a:lstStyle/>
          <a:p>
            <a:pPr>
              <a:lnSpc>
                <a:spcPts val="1689"/>
              </a:lnSpc>
              <a:spcAft>
                <a:spcPts val="0"/>
              </a:spcAft>
              <a:defRPr sz="1420" b="0">
                <a:solidFill>
                  <a:srgbClr val="181817"/>
                </a:solidFill>
                <a:latin typeface="Arial"/>
              </a:defRPr>
            </a:pPr>
            <a:r>
              <a:t>Program, scény, osobní výběr a</a:t>
            </a:r>
          </a:p>
          <a:p>
            <a:pPr>
              <a:lnSpc>
                <a:spcPts val="1689"/>
              </a:lnSpc>
              <a:spcAft>
                <a:spcPts val="0"/>
              </a:spcAft>
              <a:defRPr sz="1420" b="0">
                <a:solidFill>
                  <a:srgbClr val="181817"/>
                </a:solidFill>
                <a:latin typeface="Arial"/>
              </a:defRPr>
            </a:pPr>
            <a:r>
              <a:t>praktické informace.</a:t>
            </a:r>
          </a:p>
          <a:p>
            <a:pPr>
              <a:lnSpc>
                <a:spcPts val="1689"/>
              </a:lnSpc>
              <a:spcAft>
                <a:spcPts val="0"/>
              </a:spcAft>
              <a:defRPr sz="1420" b="0">
                <a:solidFill>
                  <a:srgbClr val="181817"/>
                </a:solidFill>
                <a:latin typeface="Arial"/>
              </a:defRPr>
            </a:pPr>
          </a:p>
          <a:p>
            <a:pPr>
              <a:lnSpc>
                <a:spcPts val="1689"/>
              </a:lnSpc>
              <a:spcAft>
                <a:spcPts val="0"/>
              </a:spcAft>
              <a:defRPr sz="1420" b="0">
                <a:solidFill>
                  <a:srgbClr val="181817"/>
                </a:solidFill>
                <a:latin typeface="Arial"/>
              </a:defRPr>
            </a:pPr>
            <a:r>
              <a:t>Mapa doplňuje textovou orientaci.</a:t>
            </a:r>
          </a:p>
        </p:txBody>
      </p:sp>
      <p:sp>
        <p:nvSpPr>
          <p:cNvPr id="18" name="Rectangle 17"/>
          <p:cNvSpPr/>
          <p:nvPr/>
        </p:nvSpPr>
        <p:spPr>
          <a:xfrm>
            <a:off x="8102600" y="2768600"/>
            <a:ext cx="3556000" cy="2603500"/>
          </a:xfrm>
          <a:prstGeom prst="rect">
            <a:avLst/>
          </a:prstGeom>
          <a:solidFill>
            <a:srgbClr val="E7E0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02600" y="2768600"/>
            <a:ext cx="3556000" cy="76200"/>
          </a:xfrm>
          <a:prstGeom prst="rect">
            <a:avLst/>
          </a:prstGeom>
          <a:solidFill>
            <a:srgbClr val="F45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18500" y="3035300"/>
            <a:ext cx="3124200" cy="685800"/>
          </a:xfrm>
          <a:prstGeom prst="rect">
            <a:avLst/>
          </a:prstGeom>
          <a:noFill/>
        </p:spPr>
        <p:txBody>
          <a:bodyPr wrap="none" lIns="0" rIns="0" tIns="0" bIns="0">
            <a:spAutoFit/>
          </a:bodyPr>
          <a:lstStyle/>
          <a:p>
            <a:pPr>
              <a:lnSpc>
                <a:spcPts val="2200"/>
              </a:lnSpc>
              <a:spcAft>
                <a:spcPts val="0"/>
              </a:spcAft>
              <a:defRPr sz="2000" b="1">
                <a:solidFill>
                  <a:srgbClr val="181817"/>
                </a:solidFill>
                <a:latin typeface="Arial"/>
              </a:defRPr>
            </a:pPr>
            <a:r>
              <a:t>Vybrat vstupenku</a:t>
            </a:r>
          </a:p>
        </p:txBody>
      </p:sp>
      <p:sp>
        <p:nvSpPr>
          <p:cNvPr id="21" name="TextBox 20"/>
          <p:cNvSpPr txBox="1"/>
          <p:nvPr/>
        </p:nvSpPr>
        <p:spPr>
          <a:xfrm>
            <a:off x="8318500" y="3733800"/>
            <a:ext cx="3124200" cy="1511300"/>
          </a:xfrm>
          <a:prstGeom prst="rect">
            <a:avLst/>
          </a:prstGeom>
          <a:noFill/>
        </p:spPr>
        <p:txBody>
          <a:bodyPr wrap="none" lIns="0" rIns="0" tIns="0" bIns="0">
            <a:spAutoFit/>
          </a:bodyPr>
          <a:lstStyle/>
          <a:p>
            <a:pPr>
              <a:lnSpc>
                <a:spcPts val="1689"/>
              </a:lnSpc>
              <a:spcAft>
                <a:spcPts val="0"/>
              </a:spcAft>
              <a:defRPr sz="1420" b="0">
                <a:solidFill>
                  <a:srgbClr val="181817"/>
                </a:solidFill>
                <a:latin typeface="Arial"/>
              </a:defRPr>
            </a:pPr>
            <a:r>
              <a:t>Třídenní tarify, místa, košík a PDF.</a:t>
            </a:r>
          </a:p>
          <a:p>
            <a:pPr>
              <a:lnSpc>
                <a:spcPts val="1689"/>
              </a:lnSpc>
              <a:spcAft>
                <a:spcPts val="0"/>
              </a:spcAft>
              <a:defRPr sz="1420" b="0">
                <a:solidFill>
                  <a:srgbClr val="181817"/>
                </a:solidFill>
                <a:latin typeface="Arial"/>
              </a:defRPr>
            </a:pPr>
          </a:p>
          <a:p>
            <a:pPr>
              <a:lnSpc>
                <a:spcPts val="1689"/>
              </a:lnSpc>
              <a:spcAft>
                <a:spcPts val="0"/>
              </a:spcAft>
              <a:defRPr sz="1420" b="0">
                <a:solidFill>
                  <a:srgbClr val="181817"/>
                </a:solidFill>
                <a:latin typeface="Arial"/>
              </a:defRPr>
            </a:pPr>
            <a:r>
              <a:t>Lokální účet a historie</a:t>
            </a:r>
          </a:p>
          <a:p>
            <a:pPr>
              <a:lnSpc>
                <a:spcPts val="1689"/>
              </a:lnSpc>
              <a:spcAft>
                <a:spcPts val="0"/>
              </a:spcAft>
              <a:defRPr sz="1420" b="0">
                <a:solidFill>
                  <a:srgbClr val="181817"/>
                </a:solidFill>
                <a:latin typeface="Arial"/>
              </a:defRPr>
            </a:pPr>
            <a:r>
              <a:t>objednávek.</a:t>
            </a:r>
          </a:p>
        </p:txBody>
      </p:sp>
      <p:sp>
        <p:nvSpPr>
          <p:cNvPr id="22" name="TextBox 21"/>
          <p:cNvSpPr txBox="1"/>
          <p:nvPr/>
        </p:nvSpPr>
        <p:spPr>
          <a:xfrm>
            <a:off x="533400" y="6413500"/>
            <a:ext cx="10033000" cy="181610"/>
          </a:xfrm>
          <a:prstGeom prst="rect">
            <a:avLst/>
          </a:prstGeom>
          <a:noFill/>
        </p:spPr>
        <p:txBody>
          <a:bodyPr wrap="none" lIns="0" rIns="0" tIns="0" bIns="0">
            <a:spAutoFit/>
          </a:bodyPr>
          <a:lstStyle/>
          <a:p>
            <a:pPr>
              <a:lnSpc>
                <a:spcPts val="930"/>
              </a:lnSpc>
              <a:spcAft>
                <a:spcPts val="0"/>
              </a:spcAft>
              <a:defRPr sz="750" b="0">
                <a:solidFill>
                  <a:srgbClr val="68635B"/>
                </a:solidFill>
                <a:latin typeface="Arial"/>
              </a:defRPr>
            </a:pPr>
            <a:r>
              <a:t>DODATEČNĚ PŘIPRAVENÝ PODKLAD K MILNÍKU</a:t>
            </a:r>
          </a:p>
        </p:txBody>
      </p:sp>
      <p:sp>
        <p:nvSpPr>
          <p:cNvPr id="23" name="TextBox 22"/>
          <p:cNvSpPr txBox="1"/>
          <p:nvPr/>
        </p:nvSpPr>
        <p:spPr>
          <a:xfrm>
            <a:off x="10947400" y="6350000"/>
            <a:ext cx="825500" cy="220979"/>
          </a:xfrm>
          <a:prstGeom prst="rect">
            <a:avLst/>
          </a:prstGeom>
          <a:noFill/>
        </p:spPr>
        <p:txBody>
          <a:bodyPr wrap="none" lIns="0" rIns="0" tIns="0" bIns="0">
            <a:spAutoFit/>
          </a:bodyPr>
          <a:lstStyle/>
          <a:p>
            <a:pPr>
              <a:lnSpc>
                <a:spcPts val="1240"/>
              </a:lnSpc>
              <a:spcAft>
                <a:spcPts val="0"/>
              </a:spcAft>
              <a:defRPr sz="1000" b="1">
                <a:solidFill>
                  <a:srgbClr val="68635B"/>
                </a:solidFill>
                <a:latin typeface="Arial"/>
              </a:defRPr>
            </a:pPr>
            <a:r>
              <a:t>04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0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3400" y="304800"/>
            <a:ext cx="1905000" cy="283972"/>
          </a:xfrm>
          <a:prstGeom prst="rect">
            <a:avLst/>
          </a:prstGeom>
          <a:noFill/>
        </p:spPr>
        <p:txBody>
          <a:bodyPr wrap="none" lIns="0" rIns="0" tIns="0" bIns="0">
            <a:spAutoFit/>
          </a:bodyPr>
          <a:lstStyle/>
          <a:p>
            <a:pPr>
              <a:lnSpc>
                <a:spcPts val="1736"/>
              </a:lnSpc>
              <a:spcAft>
                <a:spcPts val="0"/>
              </a:spcAft>
              <a:defRPr sz="1400" b="1">
                <a:solidFill>
                  <a:srgbClr val="181817"/>
                </a:solidFill>
                <a:latin typeface="Arial"/>
              </a:defRPr>
            </a:pPr>
            <a:r>
              <a:t>PRAGUE</a:t>
            </a:r>
          </a:p>
        </p:txBody>
      </p:sp>
      <p:sp>
        <p:nvSpPr>
          <p:cNvPr id="4" name="TextBox 3"/>
          <p:cNvSpPr txBox="1"/>
          <p:nvPr/>
        </p:nvSpPr>
        <p:spPr>
          <a:xfrm>
            <a:off x="533400" y="495300"/>
            <a:ext cx="1905000" cy="409956"/>
          </a:xfrm>
          <a:prstGeom prst="rect">
            <a:avLst/>
          </a:prstGeom>
          <a:noFill/>
        </p:spPr>
        <p:txBody>
          <a:bodyPr wrap="none" lIns="0" rIns="0" tIns="0" bIns="0">
            <a:spAutoFit/>
          </a:bodyPr>
          <a:lstStyle/>
          <a:p>
            <a:pPr>
              <a:lnSpc>
                <a:spcPts val="2728"/>
              </a:lnSpc>
              <a:spcAft>
                <a:spcPts val="0"/>
              </a:spcAft>
              <a:defRPr sz="2200" b="1">
                <a:solidFill>
                  <a:srgbClr val="181817"/>
                </a:solidFill>
                <a:latin typeface="Arial"/>
              </a:defRPr>
            </a:pPr>
            <a:r>
              <a:t>PULSE</a:t>
            </a:r>
          </a:p>
        </p:txBody>
      </p:sp>
      <p:sp>
        <p:nvSpPr>
          <p:cNvPr id="5" name="TextBox 4"/>
          <p:cNvSpPr txBox="1"/>
          <p:nvPr/>
        </p:nvSpPr>
        <p:spPr>
          <a:xfrm>
            <a:off x="533400" y="812800"/>
            <a:ext cx="2032000" cy="165862"/>
          </a:xfrm>
          <a:prstGeom prst="rect">
            <a:avLst/>
          </a:prstGeom>
          <a:noFill/>
        </p:spPr>
        <p:txBody>
          <a:bodyPr wrap="none" lIns="0" rIns="0" tIns="0" bIns="0">
            <a:spAutoFit/>
          </a:bodyPr>
          <a:lstStyle/>
          <a:p>
            <a:pPr>
              <a:lnSpc>
                <a:spcPts val="806"/>
              </a:lnSpc>
              <a:spcAft>
                <a:spcPts val="0"/>
              </a:spcAft>
              <a:defRPr sz="650" b="1">
                <a:solidFill>
                  <a:srgbClr val="181817"/>
                </a:solidFill>
                <a:latin typeface="Arial"/>
              </a:defRPr>
            </a:pPr>
            <a:r>
              <a:t>FEST / 2027</a:t>
            </a:r>
          </a:p>
        </p:txBody>
      </p:sp>
      <p:sp>
        <p:nvSpPr>
          <p:cNvPr id="6" name="Rectangle 5"/>
          <p:cNvSpPr/>
          <p:nvPr/>
        </p:nvSpPr>
        <p:spPr>
          <a:xfrm>
            <a:off x="1866900" y="368300"/>
            <a:ext cx="88900" cy="431800"/>
          </a:xfrm>
          <a:prstGeom prst="rect">
            <a:avLst/>
          </a:prstGeom>
          <a:solidFill>
            <a:srgbClr val="F45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88000" y="533400"/>
            <a:ext cx="6070600" cy="220979"/>
          </a:xfrm>
          <a:prstGeom prst="rect">
            <a:avLst/>
          </a:prstGeom>
          <a:noFill/>
        </p:spPr>
        <p:txBody>
          <a:bodyPr wrap="none" lIns="0" rIns="0" tIns="0" bIns="0">
            <a:spAutoFit/>
          </a:bodyPr>
          <a:lstStyle/>
          <a:p>
            <a:pPr>
              <a:lnSpc>
                <a:spcPts val="1240"/>
              </a:lnSpc>
              <a:spcAft>
                <a:spcPts val="0"/>
              </a:spcAft>
              <a:defRPr sz="1000" b="1">
                <a:solidFill>
                  <a:srgbClr val="68635B"/>
                </a:solidFill>
                <a:latin typeface="Arial"/>
              </a:defRPr>
            </a:pPr>
            <a:r>
              <a:t>MOBILNÍ A DESKTOPOVÉ ZOBRAZENÍ</a:t>
            </a:r>
          </a:p>
        </p:txBody>
      </p:sp>
      <p:sp>
        <p:nvSpPr>
          <p:cNvPr id="8" name="Rectangle 7"/>
          <p:cNvSpPr/>
          <p:nvPr/>
        </p:nvSpPr>
        <p:spPr>
          <a:xfrm>
            <a:off x="533400" y="1155700"/>
            <a:ext cx="11125200" cy="25400"/>
          </a:xfrm>
          <a:prstGeom prst="rect">
            <a:avLst/>
          </a:prstGeom>
          <a:solidFill>
            <a:srgbClr val="1818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8000" y="1422400"/>
            <a:ext cx="11176000" cy="1079500"/>
          </a:xfrm>
          <a:prstGeom prst="rect">
            <a:avLst/>
          </a:prstGeom>
          <a:noFill/>
        </p:spPr>
        <p:txBody>
          <a:bodyPr wrap="none" lIns="0" rIns="0" tIns="0" bIns="0">
            <a:spAutoFit/>
          </a:bodyPr>
          <a:lstStyle/>
          <a:p>
            <a:pPr>
              <a:lnSpc>
                <a:spcPts val="3740"/>
              </a:lnSpc>
              <a:spcAft>
                <a:spcPts val="0"/>
              </a:spcAft>
              <a:defRPr sz="3400" b="1">
                <a:solidFill>
                  <a:srgbClr val="181817"/>
                </a:solidFill>
                <a:latin typeface="Arial"/>
              </a:defRPr>
            </a:pPr>
            <a:r>
              <a:t>Flexbox i Grid mají své místo.</a:t>
            </a:r>
          </a:p>
        </p:txBody>
      </p:sp>
      <p:sp>
        <p:nvSpPr>
          <p:cNvPr id="10" name="Rectangle 9"/>
          <p:cNvSpPr/>
          <p:nvPr/>
        </p:nvSpPr>
        <p:spPr>
          <a:xfrm>
            <a:off x="533400" y="2768600"/>
            <a:ext cx="5448300" cy="2603500"/>
          </a:xfrm>
          <a:prstGeom prst="rect">
            <a:avLst/>
          </a:prstGeom>
          <a:solidFill>
            <a:srgbClr val="1818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768600"/>
            <a:ext cx="5448300" cy="76200"/>
          </a:xfrm>
          <a:prstGeom prst="rect">
            <a:avLst/>
          </a:prstGeom>
          <a:solidFill>
            <a:srgbClr val="F45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300" y="3035300"/>
            <a:ext cx="5016500" cy="685800"/>
          </a:xfrm>
          <a:prstGeom prst="rect">
            <a:avLst/>
          </a:prstGeom>
          <a:noFill/>
        </p:spPr>
        <p:txBody>
          <a:bodyPr wrap="none" lIns="0" rIns="0" tIns="0" bIns="0">
            <a:spAutoFit/>
          </a:bodyPr>
          <a:lstStyle/>
          <a:p>
            <a:pPr>
              <a:lnSpc>
                <a:spcPts val="2200"/>
              </a:lnSpc>
              <a:spcAft>
                <a:spcPts val="0"/>
              </a:spcAft>
              <a:defRPr sz="2000" b="1">
                <a:solidFill>
                  <a:srgbClr val="F4F0E7"/>
                </a:solidFill>
                <a:latin typeface="Arial"/>
              </a:defRPr>
            </a:pPr>
            <a:r>
              <a:t>Flexbox</a:t>
            </a:r>
          </a:p>
        </p:txBody>
      </p:sp>
      <p:sp>
        <p:nvSpPr>
          <p:cNvPr id="13" name="TextBox 12"/>
          <p:cNvSpPr txBox="1"/>
          <p:nvPr/>
        </p:nvSpPr>
        <p:spPr>
          <a:xfrm>
            <a:off x="749300" y="3733800"/>
            <a:ext cx="5016500" cy="1511300"/>
          </a:xfrm>
          <a:prstGeom prst="rect">
            <a:avLst/>
          </a:prstGeom>
          <a:noFill/>
        </p:spPr>
        <p:txBody>
          <a:bodyPr wrap="none" lIns="0" rIns="0" tIns="0" bIns="0">
            <a:spAutoFit/>
          </a:bodyPr>
          <a:lstStyle/>
          <a:p>
            <a:pPr>
              <a:lnSpc>
                <a:spcPts val="1689"/>
              </a:lnSpc>
              <a:spcAft>
                <a:spcPts val="0"/>
              </a:spcAft>
              <a:defRPr sz="1420" b="0">
                <a:solidFill>
                  <a:srgbClr val="F4F0E7"/>
                </a:solidFill>
                <a:latin typeface="Arial"/>
              </a:defRPr>
            </a:pPr>
            <a:r>
              <a:t>Navigace, akce, přepínače a řádky formulářů.</a:t>
            </a:r>
          </a:p>
          <a:p>
            <a:pPr>
              <a:lnSpc>
                <a:spcPts val="1689"/>
              </a:lnSpc>
              <a:spcAft>
                <a:spcPts val="0"/>
              </a:spcAft>
              <a:defRPr sz="1420" b="0">
                <a:solidFill>
                  <a:srgbClr val="F4F0E7"/>
                </a:solidFill>
                <a:latin typeface="Arial"/>
              </a:defRPr>
            </a:pPr>
          </a:p>
          <a:p>
            <a:pPr>
              <a:lnSpc>
                <a:spcPts val="1689"/>
              </a:lnSpc>
              <a:spcAft>
                <a:spcPts val="0"/>
              </a:spcAft>
              <a:defRPr sz="1420" b="0">
                <a:solidFill>
                  <a:srgbClr val="F4F0E7"/>
                </a:solidFill>
                <a:latin typeface="Arial"/>
              </a:defRPr>
            </a:pPr>
            <a:r>
              <a:t>Zalamování podle dostupného prostoru.</a:t>
            </a:r>
          </a:p>
        </p:txBody>
      </p:sp>
      <p:sp>
        <p:nvSpPr>
          <p:cNvPr id="14" name="Rectangle 13"/>
          <p:cNvSpPr/>
          <p:nvPr/>
        </p:nvSpPr>
        <p:spPr>
          <a:xfrm>
            <a:off x="6210300" y="2768600"/>
            <a:ext cx="5448300" cy="2603500"/>
          </a:xfrm>
          <a:prstGeom prst="rect">
            <a:avLst/>
          </a:prstGeom>
          <a:solidFill>
            <a:srgbClr val="E7E0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0300" y="2768600"/>
            <a:ext cx="5448300" cy="76200"/>
          </a:xfrm>
          <a:prstGeom prst="rect">
            <a:avLst/>
          </a:prstGeom>
          <a:solidFill>
            <a:srgbClr val="F45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6200" y="3035300"/>
            <a:ext cx="5016500" cy="685800"/>
          </a:xfrm>
          <a:prstGeom prst="rect">
            <a:avLst/>
          </a:prstGeom>
          <a:noFill/>
        </p:spPr>
        <p:txBody>
          <a:bodyPr wrap="none" lIns="0" rIns="0" tIns="0" bIns="0">
            <a:spAutoFit/>
          </a:bodyPr>
          <a:lstStyle/>
          <a:p>
            <a:pPr>
              <a:lnSpc>
                <a:spcPts val="2200"/>
              </a:lnSpc>
              <a:spcAft>
                <a:spcPts val="0"/>
              </a:spcAft>
              <a:defRPr sz="2000" b="1">
                <a:solidFill>
                  <a:srgbClr val="181817"/>
                </a:solidFill>
                <a:latin typeface="Arial"/>
              </a:defRPr>
            </a:pPr>
            <a:r>
              <a:t>Grid</a:t>
            </a:r>
          </a:p>
        </p:txBody>
      </p:sp>
      <p:sp>
        <p:nvSpPr>
          <p:cNvPr id="17" name="TextBox 16"/>
          <p:cNvSpPr txBox="1"/>
          <p:nvPr/>
        </p:nvSpPr>
        <p:spPr>
          <a:xfrm>
            <a:off x="6426200" y="3733800"/>
            <a:ext cx="5016500" cy="1511300"/>
          </a:xfrm>
          <a:prstGeom prst="rect">
            <a:avLst/>
          </a:prstGeom>
          <a:noFill/>
        </p:spPr>
        <p:txBody>
          <a:bodyPr wrap="none" lIns="0" rIns="0" tIns="0" bIns="0">
            <a:spAutoFit/>
          </a:bodyPr>
          <a:lstStyle/>
          <a:p>
            <a:pPr>
              <a:lnSpc>
                <a:spcPts val="1689"/>
              </a:lnSpc>
              <a:spcAft>
                <a:spcPts val="0"/>
              </a:spcAft>
              <a:defRPr sz="1420" b="0">
                <a:solidFill>
                  <a:srgbClr val="181817"/>
                </a:solidFill>
                <a:latin typeface="Arial"/>
              </a:defRPr>
            </a:pPr>
            <a:r>
              <a:t>Přehledy interpretů, program a obsahové bloky.</a:t>
            </a:r>
          </a:p>
          <a:p>
            <a:pPr>
              <a:lnSpc>
                <a:spcPts val="1689"/>
              </a:lnSpc>
              <a:spcAft>
                <a:spcPts val="0"/>
              </a:spcAft>
              <a:defRPr sz="1420" b="0">
                <a:solidFill>
                  <a:srgbClr val="181817"/>
                </a:solidFill>
                <a:latin typeface="Arial"/>
              </a:defRPr>
            </a:pPr>
          </a:p>
          <a:p>
            <a:pPr>
              <a:lnSpc>
                <a:spcPts val="1689"/>
              </a:lnSpc>
              <a:spcAft>
                <a:spcPts val="0"/>
              </a:spcAft>
              <a:defRPr sz="1420" b="0">
                <a:solidFill>
                  <a:srgbClr val="181817"/>
                </a:solidFill>
                <a:latin typeface="Arial"/>
              </a:defRPr>
            </a:pPr>
            <a:r>
              <a:t>Pružné sloupce, rozumné mezery, čitelná hierarchie.</a:t>
            </a:r>
          </a:p>
        </p:txBody>
      </p:sp>
      <p:sp>
        <p:nvSpPr>
          <p:cNvPr id="18" name="TextBox 17"/>
          <p:cNvSpPr txBox="1"/>
          <p:nvPr/>
        </p:nvSpPr>
        <p:spPr>
          <a:xfrm>
            <a:off x="533400" y="5676900"/>
            <a:ext cx="11125200" cy="546100"/>
          </a:xfrm>
          <a:prstGeom prst="rect">
            <a:avLst/>
          </a:prstGeom>
          <a:noFill/>
        </p:spPr>
        <p:txBody>
          <a:bodyPr wrap="none" lIns="0" rIns="0" tIns="0" bIns="0">
            <a:spAutoFit/>
          </a:bodyPr>
          <a:lstStyle/>
          <a:p>
            <a:pPr>
              <a:lnSpc>
                <a:spcPts val="1583"/>
              </a:lnSpc>
              <a:spcAft>
                <a:spcPts val="0"/>
              </a:spcAft>
              <a:defRPr sz="1320" b="0">
                <a:solidFill>
                  <a:srgbClr val="68635B"/>
                </a:solidFill>
                <a:latin typeface="Arial"/>
              </a:defRPr>
            </a:pPr>
            <a:r>
              <a:t>Kontrolujeme přetékání, čitelnost, ovládání, dialogy i vyplněný košík.</a:t>
            </a:r>
          </a:p>
        </p:txBody>
      </p:sp>
      <p:sp>
        <p:nvSpPr>
          <p:cNvPr id="19" name="TextBox 18"/>
          <p:cNvSpPr txBox="1"/>
          <p:nvPr/>
        </p:nvSpPr>
        <p:spPr>
          <a:xfrm>
            <a:off x="533400" y="6413500"/>
            <a:ext cx="10033000" cy="181610"/>
          </a:xfrm>
          <a:prstGeom prst="rect">
            <a:avLst/>
          </a:prstGeom>
          <a:noFill/>
        </p:spPr>
        <p:txBody>
          <a:bodyPr wrap="none" lIns="0" rIns="0" tIns="0" bIns="0">
            <a:spAutoFit/>
          </a:bodyPr>
          <a:lstStyle/>
          <a:p>
            <a:pPr>
              <a:lnSpc>
                <a:spcPts val="930"/>
              </a:lnSpc>
              <a:spcAft>
                <a:spcPts val="0"/>
              </a:spcAft>
              <a:defRPr sz="750" b="0">
                <a:solidFill>
                  <a:srgbClr val="68635B"/>
                </a:solidFill>
                <a:latin typeface="Arial"/>
              </a:defRPr>
            </a:pPr>
            <a:r>
              <a:t>DODATEČNĚ PŘIPRAVENÝ PODKLAD K MILNÍKU</a:t>
            </a:r>
          </a:p>
        </p:txBody>
      </p:sp>
      <p:sp>
        <p:nvSpPr>
          <p:cNvPr id="20" name="TextBox 19"/>
          <p:cNvSpPr txBox="1"/>
          <p:nvPr/>
        </p:nvSpPr>
        <p:spPr>
          <a:xfrm>
            <a:off x="10947400" y="6350000"/>
            <a:ext cx="825500" cy="220979"/>
          </a:xfrm>
          <a:prstGeom prst="rect">
            <a:avLst/>
          </a:prstGeom>
          <a:noFill/>
        </p:spPr>
        <p:txBody>
          <a:bodyPr wrap="none" lIns="0" rIns="0" tIns="0" bIns="0">
            <a:spAutoFit/>
          </a:bodyPr>
          <a:lstStyle/>
          <a:p>
            <a:pPr>
              <a:lnSpc>
                <a:spcPts val="1240"/>
              </a:lnSpc>
              <a:spcAft>
                <a:spcPts val="0"/>
              </a:spcAft>
              <a:defRPr sz="1000" b="1">
                <a:solidFill>
                  <a:srgbClr val="68635B"/>
                </a:solidFill>
                <a:latin typeface="Arial"/>
              </a:defRPr>
            </a:pPr>
            <a:r>
              <a:t>04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0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3400" y="304800"/>
            <a:ext cx="1905000" cy="283972"/>
          </a:xfrm>
          <a:prstGeom prst="rect">
            <a:avLst/>
          </a:prstGeom>
          <a:noFill/>
        </p:spPr>
        <p:txBody>
          <a:bodyPr wrap="none" lIns="0" rIns="0" tIns="0" bIns="0">
            <a:spAutoFit/>
          </a:bodyPr>
          <a:lstStyle/>
          <a:p>
            <a:pPr>
              <a:lnSpc>
                <a:spcPts val="1736"/>
              </a:lnSpc>
              <a:spcAft>
                <a:spcPts val="0"/>
              </a:spcAft>
              <a:defRPr sz="1400" b="1">
                <a:solidFill>
                  <a:srgbClr val="181817"/>
                </a:solidFill>
                <a:latin typeface="Arial"/>
              </a:defRPr>
            </a:pPr>
            <a:r>
              <a:t>PRAGUE</a:t>
            </a:r>
          </a:p>
        </p:txBody>
      </p:sp>
      <p:sp>
        <p:nvSpPr>
          <p:cNvPr id="4" name="TextBox 3"/>
          <p:cNvSpPr txBox="1"/>
          <p:nvPr/>
        </p:nvSpPr>
        <p:spPr>
          <a:xfrm>
            <a:off x="533400" y="495300"/>
            <a:ext cx="1905000" cy="409956"/>
          </a:xfrm>
          <a:prstGeom prst="rect">
            <a:avLst/>
          </a:prstGeom>
          <a:noFill/>
        </p:spPr>
        <p:txBody>
          <a:bodyPr wrap="none" lIns="0" rIns="0" tIns="0" bIns="0">
            <a:spAutoFit/>
          </a:bodyPr>
          <a:lstStyle/>
          <a:p>
            <a:pPr>
              <a:lnSpc>
                <a:spcPts val="2728"/>
              </a:lnSpc>
              <a:spcAft>
                <a:spcPts val="0"/>
              </a:spcAft>
              <a:defRPr sz="2200" b="1">
                <a:solidFill>
                  <a:srgbClr val="181817"/>
                </a:solidFill>
                <a:latin typeface="Arial"/>
              </a:defRPr>
            </a:pPr>
            <a:r>
              <a:t>PULSE</a:t>
            </a:r>
          </a:p>
        </p:txBody>
      </p:sp>
      <p:sp>
        <p:nvSpPr>
          <p:cNvPr id="5" name="TextBox 4"/>
          <p:cNvSpPr txBox="1"/>
          <p:nvPr/>
        </p:nvSpPr>
        <p:spPr>
          <a:xfrm>
            <a:off x="533400" y="812800"/>
            <a:ext cx="2032000" cy="165862"/>
          </a:xfrm>
          <a:prstGeom prst="rect">
            <a:avLst/>
          </a:prstGeom>
          <a:noFill/>
        </p:spPr>
        <p:txBody>
          <a:bodyPr wrap="none" lIns="0" rIns="0" tIns="0" bIns="0">
            <a:spAutoFit/>
          </a:bodyPr>
          <a:lstStyle/>
          <a:p>
            <a:pPr>
              <a:lnSpc>
                <a:spcPts val="806"/>
              </a:lnSpc>
              <a:spcAft>
                <a:spcPts val="0"/>
              </a:spcAft>
              <a:defRPr sz="650" b="1">
                <a:solidFill>
                  <a:srgbClr val="181817"/>
                </a:solidFill>
                <a:latin typeface="Arial"/>
              </a:defRPr>
            </a:pPr>
            <a:r>
              <a:t>FEST / 2027</a:t>
            </a:r>
          </a:p>
        </p:txBody>
      </p:sp>
      <p:sp>
        <p:nvSpPr>
          <p:cNvPr id="6" name="Rectangle 5"/>
          <p:cNvSpPr/>
          <p:nvPr/>
        </p:nvSpPr>
        <p:spPr>
          <a:xfrm>
            <a:off x="1866900" y="368300"/>
            <a:ext cx="88900" cy="431800"/>
          </a:xfrm>
          <a:prstGeom prst="rect">
            <a:avLst/>
          </a:prstGeom>
          <a:solidFill>
            <a:srgbClr val="F45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88000" y="533400"/>
            <a:ext cx="6070600" cy="220979"/>
          </a:xfrm>
          <a:prstGeom prst="rect">
            <a:avLst/>
          </a:prstGeom>
          <a:noFill/>
        </p:spPr>
        <p:txBody>
          <a:bodyPr wrap="none" lIns="0" rIns="0" tIns="0" bIns="0">
            <a:spAutoFit/>
          </a:bodyPr>
          <a:lstStyle/>
          <a:p>
            <a:pPr>
              <a:lnSpc>
                <a:spcPts val="1240"/>
              </a:lnSpc>
              <a:spcAft>
                <a:spcPts val="0"/>
              </a:spcAft>
              <a:defRPr sz="1000" b="1">
                <a:solidFill>
                  <a:srgbClr val="68635B"/>
                </a:solidFill>
                <a:latin typeface="Arial"/>
              </a:defRPr>
            </a:pPr>
            <a:r>
              <a:t>UKÁZKA IMPLEMENTACE</a:t>
            </a:r>
          </a:p>
        </p:txBody>
      </p:sp>
      <p:sp>
        <p:nvSpPr>
          <p:cNvPr id="8" name="Rectangle 7"/>
          <p:cNvSpPr/>
          <p:nvPr/>
        </p:nvSpPr>
        <p:spPr>
          <a:xfrm>
            <a:off x="533400" y="1155700"/>
            <a:ext cx="11125200" cy="25400"/>
          </a:xfrm>
          <a:prstGeom prst="rect">
            <a:avLst/>
          </a:prstGeom>
          <a:solidFill>
            <a:srgbClr val="1818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8000" y="1422400"/>
            <a:ext cx="11176000" cy="1079500"/>
          </a:xfrm>
          <a:prstGeom prst="rect">
            <a:avLst/>
          </a:prstGeom>
          <a:noFill/>
        </p:spPr>
        <p:txBody>
          <a:bodyPr wrap="none" lIns="0" rIns="0" tIns="0" bIns="0">
            <a:spAutoFit/>
          </a:bodyPr>
          <a:lstStyle/>
          <a:p>
            <a:pPr>
              <a:lnSpc>
                <a:spcPts val="3740"/>
              </a:lnSpc>
              <a:spcAft>
                <a:spcPts val="0"/>
              </a:spcAft>
              <a:defRPr sz="3400" b="1">
                <a:solidFill>
                  <a:srgbClr val="181817"/>
                </a:solidFill>
                <a:latin typeface="Arial"/>
              </a:defRPr>
            </a:pPr>
            <a:r>
              <a:t>Dva scénáře předvést, ne popsat.</a:t>
            </a:r>
          </a:p>
        </p:txBody>
      </p:sp>
      <p:sp>
        <p:nvSpPr>
          <p:cNvPr id="10" name="Rectangle 9"/>
          <p:cNvSpPr/>
          <p:nvPr/>
        </p:nvSpPr>
        <p:spPr>
          <a:xfrm>
            <a:off x="533400" y="2946400"/>
            <a:ext cx="2552700" cy="1765300"/>
          </a:xfrm>
          <a:prstGeom prst="rect">
            <a:avLst/>
          </a:prstGeom>
          <a:solidFill>
            <a:srgbClr val="1818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3900" y="3162300"/>
            <a:ext cx="2133600" cy="236728"/>
          </a:xfrm>
          <a:prstGeom prst="rect">
            <a:avLst/>
          </a:prstGeom>
          <a:noFill/>
        </p:spPr>
        <p:txBody>
          <a:bodyPr wrap="none" lIns="0" rIns="0" tIns="0" bIns="0">
            <a:spAutoFit/>
          </a:bodyPr>
          <a:lstStyle/>
          <a:p>
            <a:pPr>
              <a:lnSpc>
                <a:spcPts val="1364"/>
              </a:lnSpc>
              <a:spcAft>
                <a:spcPts val="0"/>
              </a:spcAft>
              <a:defRPr sz="1100" b="1">
                <a:solidFill>
                  <a:srgbClr val="F45E2B"/>
                </a:solidFill>
                <a:latin typeface="Arial"/>
              </a:defRPr>
            </a:pPr>
            <a:r>
              <a:t>01</a:t>
            </a:r>
          </a:p>
        </p:txBody>
      </p:sp>
      <p:sp>
        <p:nvSpPr>
          <p:cNvPr id="12" name="TextBox 11"/>
          <p:cNvSpPr txBox="1"/>
          <p:nvPr/>
        </p:nvSpPr>
        <p:spPr>
          <a:xfrm>
            <a:off x="723900" y="3568700"/>
            <a:ext cx="2133600" cy="444500"/>
          </a:xfrm>
          <a:prstGeom prst="rect">
            <a:avLst/>
          </a:prstGeom>
          <a:noFill/>
        </p:spPr>
        <p:txBody>
          <a:bodyPr wrap="none" lIns="0" rIns="0" tIns="0" bIns="0">
            <a:spAutoFit/>
          </a:bodyPr>
          <a:lstStyle/>
          <a:p>
            <a:pPr>
              <a:lnSpc>
                <a:spcPts val="2728"/>
              </a:lnSpc>
              <a:spcAft>
                <a:spcPts val="0"/>
              </a:spcAft>
              <a:defRPr sz="2200" b="1">
                <a:solidFill>
                  <a:srgbClr val="F4F0E7"/>
                </a:solidFill>
                <a:latin typeface="Arial"/>
              </a:defRPr>
            </a:pPr>
            <a:r>
              <a:t>S1</a:t>
            </a:r>
          </a:p>
        </p:txBody>
      </p:sp>
      <p:sp>
        <p:nvSpPr>
          <p:cNvPr id="13" name="TextBox 12"/>
          <p:cNvSpPr txBox="1"/>
          <p:nvPr/>
        </p:nvSpPr>
        <p:spPr>
          <a:xfrm>
            <a:off x="723900" y="4140200"/>
            <a:ext cx="2133600" cy="406400"/>
          </a:xfrm>
          <a:prstGeom prst="rect">
            <a:avLst/>
          </a:prstGeom>
          <a:noFill/>
        </p:spPr>
        <p:txBody>
          <a:bodyPr wrap="none" lIns="0" rIns="0" tIns="0" bIns="0">
            <a:spAutoFit/>
          </a:bodyPr>
          <a:lstStyle/>
          <a:p>
            <a:pPr>
              <a:lnSpc>
                <a:spcPts val="1488"/>
              </a:lnSpc>
              <a:spcAft>
                <a:spcPts val="0"/>
              </a:spcAft>
              <a:defRPr sz="1200" b="0">
                <a:solidFill>
                  <a:srgbClr val="F4F0E7"/>
                </a:solidFill>
                <a:latin typeface="Arial"/>
              </a:defRPr>
            </a:pPr>
            <a:r>
              <a:t>Den + scéna</a:t>
            </a:r>
          </a:p>
        </p:txBody>
      </p:sp>
      <p:sp>
        <p:nvSpPr>
          <p:cNvPr id="14" name="TextBox 13"/>
          <p:cNvSpPr txBox="1"/>
          <p:nvPr/>
        </p:nvSpPr>
        <p:spPr>
          <a:xfrm>
            <a:off x="3098800" y="3657600"/>
            <a:ext cx="292100" cy="394208"/>
          </a:xfrm>
          <a:prstGeom prst="rect">
            <a:avLst/>
          </a:prstGeom>
          <a:noFill/>
        </p:spPr>
        <p:txBody>
          <a:bodyPr wrap="none" lIns="0" rIns="0" tIns="0" bIns="0">
            <a:spAutoFit/>
          </a:bodyPr>
          <a:lstStyle/>
          <a:p>
            <a:pPr>
              <a:lnSpc>
                <a:spcPts val="2604"/>
              </a:lnSpc>
              <a:spcAft>
                <a:spcPts val="0"/>
              </a:spcAft>
              <a:defRPr sz="2100" b="1">
                <a:solidFill>
                  <a:srgbClr val="181817"/>
                </a:solidFill>
                <a:latin typeface="Arial"/>
              </a:defRPr>
            </a:pPr>
            <a:r>
              <a:t>›</a:t>
            </a:r>
          </a:p>
        </p:txBody>
      </p:sp>
      <p:sp>
        <p:nvSpPr>
          <p:cNvPr id="15" name="Rectangle 14"/>
          <p:cNvSpPr/>
          <p:nvPr/>
        </p:nvSpPr>
        <p:spPr>
          <a:xfrm>
            <a:off x="3390900" y="2946400"/>
            <a:ext cx="2552700" cy="1765300"/>
          </a:xfrm>
          <a:prstGeom prst="rect">
            <a:avLst/>
          </a:prstGeom>
          <a:solidFill>
            <a:srgbClr val="E7E0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1400" y="3162300"/>
            <a:ext cx="2133600" cy="236728"/>
          </a:xfrm>
          <a:prstGeom prst="rect">
            <a:avLst/>
          </a:prstGeom>
          <a:noFill/>
        </p:spPr>
        <p:txBody>
          <a:bodyPr wrap="none" lIns="0" rIns="0" tIns="0" bIns="0">
            <a:spAutoFit/>
          </a:bodyPr>
          <a:lstStyle/>
          <a:p>
            <a:pPr>
              <a:lnSpc>
                <a:spcPts val="1364"/>
              </a:lnSpc>
              <a:spcAft>
                <a:spcPts val="0"/>
              </a:spcAft>
              <a:defRPr sz="1100" b="1">
                <a:solidFill>
                  <a:srgbClr val="F45E2B"/>
                </a:solidFill>
                <a:latin typeface="Arial"/>
              </a:defRPr>
            </a:pPr>
            <a:r>
              <a:t>02</a:t>
            </a:r>
          </a:p>
        </p:txBody>
      </p:sp>
      <p:sp>
        <p:nvSpPr>
          <p:cNvPr id="17" name="TextBox 16"/>
          <p:cNvSpPr txBox="1"/>
          <p:nvPr/>
        </p:nvSpPr>
        <p:spPr>
          <a:xfrm>
            <a:off x="3581400" y="3568700"/>
            <a:ext cx="2133600" cy="444500"/>
          </a:xfrm>
          <a:prstGeom prst="rect">
            <a:avLst/>
          </a:prstGeom>
          <a:noFill/>
        </p:spPr>
        <p:txBody>
          <a:bodyPr wrap="none" lIns="0" rIns="0" tIns="0" bIns="0">
            <a:spAutoFit/>
          </a:bodyPr>
          <a:lstStyle/>
          <a:p>
            <a:pPr>
              <a:lnSpc>
                <a:spcPts val="2728"/>
              </a:lnSpc>
              <a:spcAft>
                <a:spcPts val="0"/>
              </a:spcAft>
              <a:defRPr sz="2200" b="1">
                <a:solidFill>
                  <a:srgbClr val="181817"/>
                </a:solidFill>
                <a:latin typeface="Arial"/>
              </a:defRPr>
            </a:pPr>
            <a:r>
              <a:t>Výběr</a:t>
            </a:r>
          </a:p>
        </p:txBody>
      </p:sp>
      <p:sp>
        <p:nvSpPr>
          <p:cNvPr id="18" name="TextBox 17"/>
          <p:cNvSpPr txBox="1"/>
          <p:nvPr/>
        </p:nvSpPr>
        <p:spPr>
          <a:xfrm>
            <a:off x="3581400" y="4140200"/>
            <a:ext cx="2133600" cy="406400"/>
          </a:xfrm>
          <a:prstGeom prst="rect">
            <a:avLst/>
          </a:prstGeom>
          <a:noFill/>
        </p:spPr>
        <p:txBody>
          <a:bodyPr wrap="none" lIns="0" rIns="0" tIns="0" bIns="0">
            <a:spAutoFit/>
          </a:bodyPr>
          <a:lstStyle/>
          <a:p>
            <a:pPr>
              <a:lnSpc>
                <a:spcPts val="1488"/>
              </a:lnSpc>
              <a:spcAft>
                <a:spcPts val="0"/>
              </a:spcAft>
              <a:defRPr sz="1200" b="0">
                <a:solidFill>
                  <a:srgbClr val="181817"/>
                </a:solidFill>
                <a:latin typeface="Arial"/>
              </a:defRPr>
            </a:pPr>
            <a:r>
              <a:t>Uložit koncert</a:t>
            </a:r>
          </a:p>
        </p:txBody>
      </p:sp>
      <p:sp>
        <p:nvSpPr>
          <p:cNvPr id="19" name="TextBox 18"/>
          <p:cNvSpPr txBox="1"/>
          <p:nvPr/>
        </p:nvSpPr>
        <p:spPr>
          <a:xfrm>
            <a:off x="5956300" y="3657600"/>
            <a:ext cx="292100" cy="394208"/>
          </a:xfrm>
          <a:prstGeom prst="rect">
            <a:avLst/>
          </a:prstGeom>
          <a:noFill/>
        </p:spPr>
        <p:txBody>
          <a:bodyPr wrap="none" lIns="0" rIns="0" tIns="0" bIns="0">
            <a:spAutoFit/>
          </a:bodyPr>
          <a:lstStyle/>
          <a:p>
            <a:pPr>
              <a:lnSpc>
                <a:spcPts val="2604"/>
              </a:lnSpc>
              <a:spcAft>
                <a:spcPts val="0"/>
              </a:spcAft>
              <a:defRPr sz="2100" b="1">
                <a:solidFill>
                  <a:srgbClr val="181817"/>
                </a:solidFill>
                <a:latin typeface="Arial"/>
              </a:defRPr>
            </a:pPr>
            <a:r>
              <a:t>›</a:t>
            </a:r>
          </a:p>
        </p:txBody>
      </p:sp>
      <p:sp>
        <p:nvSpPr>
          <p:cNvPr id="20" name="Rectangle 19"/>
          <p:cNvSpPr/>
          <p:nvPr/>
        </p:nvSpPr>
        <p:spPr>
          <a:xfrm>
            <a:off x="6248400" y="2946400"/>
            <a:ext cx="2552700" cy="1765300"/>
          </a:xfrm>
          <a:prstGeom prst="rect">
            <a:avLst/>
          </a:prstGeom>
          <a:solidFill>
            <a:srgbClr val="E7E0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38900" y="3162300"/>
            <a:ext cx="2133600" cy="236728"/>
          </a:xfrm>
          <a:prstGeom prst="rect">
            <a:avLst/>
          </a:prstGeom>
          <a:noFill/>
        </p:spPr>
        <p:txBody>
          <a:bodyPr wrap="none" lIns="0" rIns="0" tIns="0" bIns="0">
            <a:spAutoFit/>
          </a:bodyPr>
          <a:lstStyle/>
          <a:p>
            <a:pPr>
              <a:lnSpc>
                <a:spcPts val="1364"/>
              </a:lnSpc>
              <a:spcAft>
                <a:spcPts val="0"/>
              </a:spcAft>
              <a:defRPr sz="1100" b="1">
                <a:solidFill>
                  <a:srgbClr val="F45E2B"/>
                </a:solidFill>
                <a:latin typeface="Arial"/>
              </a:defRPr>
            </a:pPr>
            <a:r>
              <a:t>03</a:t>
            </a:r>
          </a:p>
        </p:txBody>
      </p:sp>
      <p:sp>
        <p:nvSpPr>
          <p:cNvPr id="22" name="TextBox 21"/>
          <p:cNvSpPr txBox="1"/>
          <p:nvPr/>
        </p:nvSpPr>
        <p:spPr>
          <a:xfrm>
            <a:off x="6438900" y="3568700"/>
            <a:ext cx="2133600" cy="444500"/>
          </a:xfrm>
          <a:prstGeom prst="rect">
            <a:avLst/>
          </a:prstGeom>
          <a:noFill/>
        </p:spPr>
        <p:txBody>
          <a:bodyPr wrap="none" lIns="0" rIns="0" tIns="0" bIns="0">
            <a:spAutoFit/>
          </a:bodyPr>
          <a:lstStyle/>
          <a:p>
            <a:pPr>
              <a:lnSpc>
                <a:spcPts val="2728"/>
              </a:lnSpc>
              <a:spcAft>
                <a:spcPts val="0"/>
              </a:spcAft>
              <a:defRPr sz="2200" b="1">
                <a:solidFill>
                  <a:srgbClr val="181817"/>
                </a:solidFill>
                <a:latin typeface="Arial"/>
              </a:defRPr>
            </a:pPr>
            <a:r>
              <a:t>S2</a:t>
            </a:r>
          </a:p>
        </p:txBody>
      </p:sp>
      <p:sp>
        <p:nvSpPr>
          <p:cNvPr id="23" name="TextBox 22"/>
          <p:cNvSpPr txBox="1"/>
          <p:nvPr/>
        </p:nvSpPr>
        <p:spPr>
          <a:xfrm>
            <a:off x="6438900" y="4140200"/>
            <a:ext cx="2133600" cy="406400"/>
          </a:xfrm>
          <a:prstGeom prst="rect">
            <a:avLst/>
          </a:prstGeom>
          <a:noFill/>
        </p:spPr>
        <p:txBody>
          <a:bodyPr wrap="none" lIns="0" rIns="0" tIns="0" bIns="0">
            <a:spAutoFit/>
          </a:bodyPr>
          <a:lstStyle/>
          <a:p>
            <a:pPr>
              <a:lnSpc>
                <a:spcPts val="1488"/>
              </a:lnSpc>
              <a:spcAft>
                <a:spcPts val="0"/>
              </a:spcAft>
              <a:defRPr sz="1200" b="0">
                <a:solidFill>
                  <a:srgbClr val="181817"/>
                </a:solidFill>
                <a:latin typeface="Arial"/>
              </a:defRPr>
            </a:pPr>
            <a:r>
              <a:t>Vyhledat Atlas</a:t>
            </a:r>
          </a:p>
        </p:txBody>
      </p:sp>
      <p:sp>
        <p:nvSpPr>
          <p:cNvPr id="24" name="TextBox 23"/>
          <p:cNvSpPr txBox="1"/>
          <p:nvPr/>
        </p:nvSpPr>
        <p:spPr>
          <a:xfrm>
            <a:off x="8813800" y="3657600"/>
            <a:ext cx="292100" cy="394208"/>
          </a:xfrm>
          <a:prstGeom prst="rect">
            <a:avLst/>
          </a:prstGeom>
          <a:noFill/>
        </p:spPr>
        <p:txBody>
          <a:bodyPr wrap="none" lIns="0" rIns="0" tIns="0" bIns="0">
            <a:spAutoFit/>
          </a:bodyPr>
          <a:lstStyle/>
          <a:p>
            <a:pPr>
              <a:lnSpc>
                <a:spcPts val="2604"/>
              </a:lnSpc>
              <a:spcAft>
                <a:spcPts val="0"/>
              </a:spcAft>
              <a:defRPr sz="2100" b="1">
                <a:solidFill>
                  <a:srgbClr val="181817"/>
                </a:solidFill>
                <a:latin typeface="Arial"/>
              </a:defRPr>
            </a:pPr>
            <a:r>
              <a:t>›</a:t>
            </a:r>
          </a:p>
        </p:txBody>
      </p:sp>
      <p:sp>
        <p:nvSpPr>
          <p:cNvPr id="25" name="Rectangle 24"/>
          <p:cNvSpPr/>
          <p:nvPr/>
        </p:nvSpPr>
        <p:spPr>
          <a:xfrm>
            <a:off x="9105900" y="2946400"/>
            <a:ext cx="2552700" cy="1765300"/>
          </a:xfrm>
          <a:prstGeom prst="rect">
            <a:avLst/>
          </a:prstGeom>
          <a:solidFill>
            <a:srgbClr val="E7E0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96400" y="3162300"/>
            <a:ext cx="2133600" cy="236728"/>
          </a:xfrm>
          <a:prstGeom prst="rect">
            <a:avLst/>
          </a:prstGeom>
          <a:noFill/>
        </p:spPr>
        <p:txBody>
          <a:bodyPr wrap="none" lIns="0" rIns="0" tIns="0" bIns="0">
            <a:spAutoFit/>
          </a:bodyPr>
          <a:lstStyle/>
          <a:p>
            <a:pPr>
              <a:lnSpc>
                <a:spcPts val="1364"/>
              </a:lnSpc>
              <a:spcAft>
                <a:spcPts val="0"/>
              </a:spcAft>
              <a:defRPr sz="1100" b="1">
                <a:solidFill>
                  <a:srgbClr val="F45E2B"/>
                </a:solidFill>
                <a:latin typeface="Arial"/>
              </a:defRPr>
            </a:pPr>
            <a:r>
              <a:t>04</a:t>
            </a:r>
          </a:p>
        </p:txBody>
      </p:sp>
      <p:sp>
        <p:nvSpPr>
          <p:cNvPr id="27" name="TextBox 26"/>
          <p:cNvSpPr txBox="1"/>
          <p:nvPr/>
        </p:nvSpPr>
        <p:spPr>
          <a:xfrm>
            <a:off x="9296400" y="3568700"/>
            <a:ext cx="2133600" cy="444500"/>
          </a:xfrm>
          <a:prstGeom prst="rect">
            <a:avLst/>
          </a:prstGeom>
          <a:noFill/>
        </p:spPr>
        <p:txBody>
          <a:bodyPr wrap="none" lIns="0" rIns="0" tIns="0" bIns="0">
            <a:spAutoFit/>
          </a:bodyPr>
          <a:lstStyle/>
          <a:p>
            <a:pPr>
              <a:lnSpc>
                <a:spcPts val="2728"/>
              </a:lnSpc>
              <a:spcAft>
                <a:spcPts val="0"/>
              </a:spcAft>
              <a:defRPr sz="2200" b="1">
                <a:solidFill>
                  <a:srgbClr val="181817"/>
                </a:solidFill>
                <a:latin typeface="Arial"/>
              </a:defRPr>
            </a:pPr>
            <a:r>
              <a:t>Detail</a:t>
            </a:r>
          </a:p>
        </p:txBody>
      </p:sp>
      <p:sp>
        <p:nvSpPr>
          <p:cNvPr id="28" name="TextBox 27"/>
          <p:cNvSpPr txBox="1"/>
          <p:nvPr/>
        </p:nvSpPr>
        <p:spPr>
          <a:xfrm>
            <a:off x="9296400" y="4140200"/>
            <a:ext cx="2133600" cy="406400"/>
          </a:xfrm>
          <a:prstGeom prst="rect">
            <a:avLst/>
          </a:prstGeom>
          <a:noFill/>
        </p:spPr>
        <p:txBody>
          <a:bodyPr wrap="none" lIns="0" rIns="0" tIns="0" bIns="0">
            <a:spAutoFit/>
          </a:bodyPr>
          <a:lstStyle/>
          <a:p>
            <a:pPr>
              <a:lnSpc>
                <a:spcPts val="1488"/>
              </a:lnSpc>
              <a:spcAft>
                <a:spcPts val="0"/>
              </a:spcAft>
              <a:defRPr sz="1200" b="0">
                <a:solidFill>
                  <a:srgbClr val="181817"/>
                </a:solidFill>
                <a:latin typeface="Arial"/>
              </a:defRPr>
            </a:pPr>
            <a:r>
              <a:t>Otevřít koncert</a:t>
            </a:r>
          </a:p>
        </p:txBody>
      </p:sp>
      <p:sp>
        <p:nvSpPr>
          <p:cNvPr id="29" name="TextBox 28"/>
          <p:cNvSpPr txBox="1"/>
          <p:nvPr/>
        </p:nvSpPr>
        <p:spPr>
          <a:xfrm>
            <a:off x="533400" y="5207000"/>
            <a:ext cx="11125200" cy="1016000"/>
          </a:xfrm>
          <a:prstGeom prst="rect">
            <a:avLst/>
          </a:prstGeom>
          <a:noFill/>
        </p:spPr>
        <p:txBody>
          <a:bodyPr wrap="none" lIns="0" rIns="0" tIns="0" bIns="0">
            <a:spAutoFit/>
          </a:bodyPr>
          <a:lstStyle/>
          <a:p>
            <a:pPr>
              <a:lnSpc>
                <a:spcPts val="2108"/>
              </a:lnSpc>
              <a:spcAft>
                <a:spcPts val="0"/>
              </a:spcAft>
              <a:defRPr sz="1700" b="0">
                <a:solidFill>
                  <a:srgbClr val="181817"/>
                </a:solidFill>
                <a:latin typeface="Arial"/>
              </a:defRPr>
            </a:pPr>
            <a:r>
              <a:t>Klávesnice: viditelný focus, dialog a návrat.</a:t>
            </a:r>
          </a:p>
          <a:p>
            <a:pPr>
              <a:lnSpc>
                <a:spcPts val="2108"/>
              </a:lnSpc>
              <a:spcAft>
                <a:spcPts val="0"/>
              </a:spcAft>
              <a:defRPr sz="1700" b="0">
                <a:solidFill>
                  <a:srgbClr val="181817"/>
                </a:solidFill>
                <a:latin typeface="Arial"/>
              </a:defRPr>
            </a:pPr>
            <a:r>
              <a:t>Obsah: stejná data v seznamu i detailu.</a:t>
            </a:r>
          </a:p>
        </p:txBody>
      </p:sp>
      <p:sp>
        <p:nvSpPr>
          <p:cNvPr id="30" name="TextBox 29"/>
          <p:cNvSpPr txBox="1"/>
          <p:nvPr/>
        </p:nvSpPr>
        <p:spPr>
          <a:xfrm>
            <a:off x="533400" y="6413500"/>
            <a:ext cx="10033000" cy="181610"/>
          </a:xfrm>
          <a:prstGeom prst="rect">
            <a:avLst/>
          </a:prstGeom>
          <a:noFill/>
        </p:spPr>
        <p:txBody>
          <a:bodyPr wrap="none" lIns="0" rIns="0" tIns="0" bIns="0">
            <a:spAutoFit/>
          </a:bodyPr>
          <a:lstStyle/>
          <a:p>
            <a:pPr>
              <a:lnSpc>
                <a:spcPts val="930"/>
              </a:lnSpc>
              <a:spcAft>
                <a:spcPts val="0"/>
              </a:spcAft>
              <a:defRPr sz="750" b="0">
                <a:solidFill>
                  <a:srgbClr val="68635B"/>
                </a:solidFill>
                <a:latin typeface="Arial"/>
              </a:defRPr>
            </a:pPr>
            <a:r>
              <a:t>DODATEČNĚ PŘIPRAVENÝ PODKLAD K MILNÍKU</a:t>
            </a:r>
          </a:p>
        </p:txBody>
      </p:sp>
      <p:sp>
        <p:nvSpPr>
          <p:cNvPr id="31" name="TextBox 30"/>
          <p:cNvSpPr txBox="1"/>
          <p:nvPr/>
        </p:nvSpPr>
        <p:spPr>
          <a:xfrm>
            <a:off x="10947400" y="6350000"/>
            <a:ext cx="825500" cy="220979"/>
          </a:xfrm>
          <a:prstGeom prst="rect">
            <a:avLst/>
          </a:prstGeom>
          <a:noFill/>
        </p:spPr>
        <p:txBody>
          <a:bodyPr wrap="none" lIns="0" rIns="0" tIns="0" bIns="0">
            <a:spAutoFit/>
          </a:bodyPr>
          <a:lstStyle/>
          <a:p>
            <a:pPr>
              <a:lnSpc>
                <a:spcPts val="1240"/>
              </a:lnSpc>
              <a:spcAft>
                <a:spcPts val="0"/>
              </a:spcAft>
              <a:defRPr sz="1000" b="1">
                <a:solidFill>
                  <a:srgbClr val="68635B"/>
                </a:solidFill>
                <a:latin typeface="Arial"/>
              </a:defRPr>
            </a:pPr>
            <a:r>
              <a:t>04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0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3400" y="304800"/>
            <a:ext cx="1905000" cy="283972"/>
          </a:xfrm>
          <a:prstGeom prst="rect">
            <a:avLst/>
          </a:prstGeom>
          <a:noFill/>
        </p:spPr>
        <p:txBody>
          <a:bodyPr wrap="none" lIns="0" rIns="0" tIns="0" bIns="0">
            <a:spAutoFit/>
          </a:bodyPr>
          <a:lstStyle/>
          <a:p>
            <a:pPr>
              <a:lnSpc>
                <a:spcPts val="1736"/>
              </a:lnSpc>
              <a:spcAft>
                <a:spcPts val="0"/>
              </a:spcAft>
              <a:defRPr sz="1400" b="1">
                <a:solidFill>
                  <a:srgbClr val="181817"/>
                </a:solidFill>
                <a:latin typeface="Arial"/>
              </a:defRPr>
            </a:pPr>
            <a:r>
              <a:t>PRAGUE</a:t>
            </a:r>
          </a:p>
        </p:txBody>
      </p:sp>
      <p:sp>
        <p:nvSpPr>
          <p:cNvPr id="4" name="TextBox 3"/>
          <p:cNvSpPr txBox="1"/>
          <p:nvPr/>
        </p:nvSpPr>
        <p:spPr>
          <a:xfrm>
            <a:off x="533400" y="495300"/>
            <a:ext cx="1905000" cy="409956"/>
          </a:xfrm>
          <a:prstGeom prst="rect">
            <a:avLst/>
          </a:prstGeom>
          <a:noFill/>
        </p:spPr>
        <p:txBody>
          <a:bodyPr wrap="none" lIns="0" rIns="0" tIns="0" bIns="0">
            <a:spAutoFit/>
          </a:bodyPr>
          <a:lstStyle/>
          <a:p>
            <a:pPr>
              <a:lnSpc>
                <a:spcPts val="2728"/>
              </a:lnSpc>
              <a:spcAft>
                <a:spcPts val="0"/>
              </a:spcAft>
              <a:defRPr sz="2200" b="1">
                <a:solidFill>
                  <a:srgbClr val="181817"/>
                </a:solidFill>
                <a:latin typeface="Arial"/>
              </a:defRPr>
            </a:pPr>
            <a:r>
              <a:t>PULSE</a:t>
            </a:r>
          </a:p>
        </p:txBody>
      </p:sp>
      <p:sp>
        <p:nvSpPr>
          <p:cNvPr id="5" name="TextBox 4"/>
          <p:cNvSpPr txBox="1"/>
          <p:nvPr/>
        </p:nvSpPr>
        <p:spPr>
          <a:xfrm>
            <a:off x="533400" y="812800"/>
            <a:ext cx="2032000" cy="165862"/>
          </a:xfrm>
          <a:prstGeom prst="rect">
            <a:avLst/>
          </a:prstGeom>
          <a:noFill/>
        </p:spPr>
        <p:txBody>
          <a:bodyPr wrap="none" lIns="0" rIns="0" tIns="0" bIns="0">
            <a:spAutoFit/>
          </a:bodyPr>
          <a:lstStyle/>
          <a:p>
            <a:pPr>
              <a:lnSpc>
                <a:spcPts val="806"/>
              </a:lnSpc>
              <a:spcAft>
                <a:spcPts val="0"/>
              </a:spcAft>
              <a:defRPr sz="650" b="1">
                <a:solidFill>
                  <a:srgbClr val="181817"/>
                </a:solidFill>
                <a:latin typeface="Arial"/>
              </a:defRPr>
            </a:pPr>
            <a:r>
              <a:t>FEST / 2027</a:t>
            </a:r>
          </a:p>
        </p:txBody>
      </p:sp>
      <p:sp>
        <p:nvSpPr>
          <p:cNvPr id="6" name="Rectangle 5"/>
          <p:cNvSpPr/>
          <p:nvPr/>
        </p:nvSpPr>
        <p:spPr>
          <a:xfrm>
            <a:off x="1866900" y="368300"/>
            <a:ext cx="88900" cy="431800"/>
          </a:xfrm>
          <a:prstGeom prst="rect">
            <a:avLst/>
          </a:prstGeom>
          <a:solidFill>
            <a:srgbClr val="F45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88000" y="533400"/>
            <a:ext cx="6070600" cy="220979"/>
          </a:xfrm>
          <a:prstGeom prst="rect">
            <a:avLst/>
          </a:prstGeom>
          <a:noFill/>
        </p:spPr>
        <p:txBody>
          <a:bodyPr wrap="none" lIns="0" rIns="0" tIns="0" bIns="0">
            <a:spAutoFit/>
          </a:bodyPr>
          <a:lstStyle/>
          <a:p>
            <a:pPr>
              <a:lnSpc>
                <a:spcPts val="1240"/>
              </a:lnSpc>
              <a:spcAft>
                <a:spcPts val="0"/>
              </a:spcAft>
              <a:defRPr sz="1000" b="1">
                <a:solidFill>
                  <a:srgbClr val="68635B"/>
                </a:solidFill>
                <a:latin typeface="Arial"/>
              </a:defRPr>
            </a:pPr>
            <a:r>
              <a:t>XML → PŘIBALENÝ EXPORT → ROZHRANÍ</a:t>
            </a:r>
          </a:p>
        </p:txBody>
      </p:sp>
      <p:sp>
        <p:nvSpPr>
          <p:cNvPr id="8" name="Rectangle 7"/>
          <p:cNvSpPr/>
          <p:nvPr/>
        </p:nvSpPr>
        <p:spPr>
          <a:xfrm>
            <a:off x="533400" y="1155700"/>
            <a:ext cx="11125200" cy="25400"/>
          </a:xfrm>
          <a:prstGeom prst="rect">
            <a:avLst/>
          </a:prstGeom>
          <a:solidFill>
            <a:srgbClr val="1818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8000" y="1422400"/>
            <a:ext cx="11176000" cy="1079500"/>
          </a:xfrm>
          <a:prstGeom prst="rect">
            <a:avLst/>
          </a:prstGeom>
          <a:noFill/>
        </p:spPr>
        <p:txBody>
          <a:bodyPr wrap="none" lIns="0" rIns="0" tIns="0" bIns="0">
            <a:spAutoFit/>
          </a:bodyPr>
          <a:lstStyle/>
          <a:p>
            <a:pPr>
              <a:lnSpc>
                <a:spcPts val="3740"/>
              </a:lnSpc>
              <a:spcAft>
                <a:spcPts val="0"/>
              </a:spcAft>
              <a:defRPr sz="3400" b="1">
                <a:solidFill>
                  <a:srgbClr val="181817"/>
                </a:solidFill>
                <a:latin typeface="Arial"/>
              </a:defRPr>
            </a:pPr>
            <a:r>
              <a:t>Zdroj dat zůstává jeden.</a:t>
            </a:r>
          </a:p>
        </p:txBody>
      </p:sp>
      <p:sp>
        <p:nvSpPr>
          <p:cNvPr id="10" name="Rectangle 9"/>
          <p:cNvSpPr/>
          <p:nvPr/>
        </p:nvSpPr>
        <p:spPr>
          <a:xfrm>
            <a:off x="533400" y="2768600"/>
            <a:ext cx="5448300" cy="2603500"/>
          </a:xfrm>
          <a:prstGeom prst="rect">
            <a:avLst/>
          </a:prstGeom>
          <a:solidFill>
            <a:srgbClr val="1818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768600"/>
            <a:ext cx="5448300" cy="76200"/>
          </a:xfrm>
          <a:prstGeom prst="rect">
            <a:avLst/>
          </a:prstGeom>
          <a:solidFill>
            <a:srgbClr val="F45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300" y="3035300"/>
            <a:ext cx="5016500" cy="685800"/>
          </a:xfrm>
          <a:prstGeom prst="rect">
            <a:avLst/>
          </a:prstGeom>
          <a:noFill/>
        </p:spPr>
        <p:txBody>
          <a:bodyPr wrap="none" lIns="0" rIns="0" tIns="0" bIns="0">
            <a:spAutoFit/>
          </a:bodyPr>
          <a:lstStyle/>
          <a:p>
            <a:pPr>
              <a:lnSpc>
                <a:spcPts val="2200"/>
              </a:lnSpc>
              <a:spcAft>
                <a:spcPts val="0"/>
              </a:spcAft>
              <a:defRPr sz="2000" b="1">
                <a:solidFill>
                  <a:srgbClr val="F4F0E7"/>
                </a:solidFill>
                <a:latin typeface="Arial"/>
              </a:defRPr>
            </a:pPr>
            <a:r>
              <a:t>Konzistence</a:t>
            </a:r>
          </a:p>
        </p:txBody>
      </p:sp>
      <p:sp>
        <p:nvSpPr>
          <p:cNvPr id="13" name="TextBox 12"/>
          <p:cNvSpPr txBox="1"/>
          <p:nvPr/>
        </p:nvSpPr>
        <p:spPr>
          <a:xfrm>
            <a:off x="749300" y="3733800"/>
            <a:ext cx="5016500" cy="1511300"/>
          </a:xfrm>
          <a:prstGeom prst="rect">
            <a:avLst/>
          </a:prstGeom>
          <a:noFill/>
        </p:spPr>
        <p:txBody>
          <a:bodyPr wrap="none" lIns="0" rIns="0" tIns="0" bIns="0">
            <a:spAutoFit/>
          </a:bodyPr>
          <a:lstStyle/>
          <a:p>
            <a:pPr>
              <a:lnSpc>
                <a:spcPts val="1689"/>
              </a:lnSpc>
              <a:spcAft>
                <a:spcPts val="0"/>
              </a:spcAft>
              <a:defRPr sz="1420" b="0">
                <a:solidFill>
                  <a:srgbClr val="F4F0E7"/>
                </a:solidFill>
                <a:latin typeface="Arial"/>
              </a:defRPr>
            </a:pPr>
            <a:r>
              <a:t>Názvy, časy, scény a tarify vycházejí z XML.</a:t>
            </a:r>
          </a:p>
          <a:p>
            <a:pPr>
              <a:lnSpc>
                <a:spcPts val="1689"/>
              </a:lnSpc>
              <a:spcAft>
                <a:spcPts val="0"/>
              </a:spcAft>
              <a:defRPr sz="1420" b="0">
                <a:solidFill>
                  <a:srgbClr val="F4F0E7"/>
                </a:solidFill>
                <a:latin typeface="Arial"/>
              </a:defRPr>
            </a:pPr>
          </a:p>
          <a:p>
            <a:pPr>
              <a:lnSpc>
                <a:spcPts val="1689"/>
              </a:lnSpc>
              <a:spcAft>
                <a:spcPts val="0"/>
              </a:spcAft>
              <a:defRPr sz="1420" b="0">
                <a:solidFill>
                  <a:srgbClr val="F4F0E7"/>
                </a:solidFill>
                <a:latin typeface="Arial"/>
              </a:defRPr>
            </a:pPr>
            <a:r>
              <a:t>Vývojový generátor není nutný pro běh.</a:t>
            </a:r>
          </a:p>
        </p:txBody>
      </p:sp>
      <p:sp>
        <p:nvSpPr>
          <p:cNvPr id="14" name="Rectangle 13"/>
          <p:cNvSpPr/>
          <p:nvPr/>
        </p:nvSpPr>
        <p:spPr>
          <a:xfrm>
            <a:off x="6210300" y="2768600"/>
            <a:ext cx="5448300" cy="2603500"/>
          </a:xfrm>
          <a:prstGeom prst="rect">
            <a:avLst/>
          </a:prstGeom>
          <a:solidFill>
            <a:srgbClr val="E7E0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0300" y="2768600"/>
            <a:ext cx="5448300" cy="76200"/>
          </a:xfrm>
          <a:prstGeom prst="rect">
            <a:avLst/>
          </a:prstGeom>
          <a:solidFill>
            <a:srgbClr val="F45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6200" y="3035300"/>
            <a:ext cx="5016500" cy="685800"/>
          </a:xfrm>
          <a:prstGeom prst="rect">
            <a:avLst/>
          </a:prstGeom>
          <a:noFill/>
        </p:spPr>
        <p:txBody>
          <a:bodyPr wrap="none" lIns="0" rIns="0" tIns="0" bIns="0">
            <a:spAutoFit/>
          </a:bodyPr>
          <a:lstStyle/>
          <a:p>
            <a:pPr>
              <a:lnSpc>
                <a:spcPts val="2200"/>
              </a:lnSpc>
              <a:spcAft>
                <a:spcPts val="0"/>
              </a:spcAft>
              <a:defRPr sz="2000" b="1">
                <a:solidFill>
                  <a:srgbClr val="181817"/>
                </a:solidFill>
                <a:latin typeface="Arial"/>
              </a:defRPr>
            </a:pPr>
            <a:r>
              <a:t>Bez instalace</a:t>
            </a:r>
          </a:p>
        </p:txBody>
      </p:sp>
      <p:sp>
        <p:nvSpPr>
          <p:cNvPr id="17" name="TextBox 16"/>
          <p:cNvSpPr txBox="1"/>
          <p:nvPr/>
        </p:nvSpPr>
        <p:spPr>
          <a:xfrm>
            <a:off x="6426200" y="3733800"/>
            <a:ext cx="5016500" cy="1511300"/>
          </a:xfrm>
          <a:prstGeom prst="rect">
            <a:avLst/>
          </a:prstGeom>
          <a:noFill/>
        </p:spPr>
        <p:txBody>
          <a:bodyPr wrap="none" lIns="0" rIns="0" tIns="0" bIns="0">
            <a:spAutoFit/>
          </a:bodyPr>
          <a:lstStyle/>
          <a:p>
            <a:pPr>
              <a:lnSpc>
                <a:spcPts val="1689"/>
              </a:lnSpc>
              <a:spcAft>
                <a:spcPts val="0"/>
              </a:spcAft>
              <a:defRPr sz="1420" b="0">
                <a:solidFill>
                  <a:srgbClr val="181817"/>
                </a:solidFill>
                <a:latin typeface="Arial"/>
              </a:defRPr>
            </a:pPr>
            <a:r>
              <a:t>HTML, CSS, JavaScript a lokální zdroje.</a:t>
            </a:r>
          </a:p>
          <a:p>
            <a:pPr>
              <a:lnSpc>
                <a:spcPts val="1689"/>
              </a:lnSpc>
              <a:spcAft>
                <a:spcPts val="0"/>
              </a:spcAft>
              <a:defRPr sz="1420" b="0">
                <a:solidFill>
                  <a:srgbClr val="181817"/>
                </a:solidFill>
                <a:latin typeface="Arial"/>
              </a:defRPr>
            </a:pPr>
          </a:p>
          <a:p>
            <a:pPr>
              <a:lnSpc>
                <a:spcPts val="1689"/>
              </a:lnSpc>
              <a:spcAft>
                <a:spcPts val="0"/>
              </a:spcAft>
              <a:defRPr sz="1420" b="0">
                <a:solidFill>
                  <a:srgbClr val="181817"/>
                </a:solidFill>
                <a:latin typeface="Arial"/>
              </a:defRPr>
            </a:pPr>
            <a:r>
              <a:t>Bez serveru, databáze, balíčků a produkčních plateb.</a:t>
            </a:r>
          </a:p>
        </p:txBody>
      </p:sp>
      <p:sp>
        <p:nvSpPr>
          <p:cNvPr id="18" name="TextBox 17"/>
          <p:cNvSpPr txBox="1"/>
          <p:nvPr/>
        </p:nvSpPr>
        <p:spPr>
          <a:xfrm>
            <a:off x="533400" y="5676900"/>
            <a:ext cx="11125200" cy="546100"/>
          </a:xfrm>
          <a:prstGeom prst="rect">
            <a:avLst/>
          </a:prstGeom>
          <a:noFill/>
        </p:spPr>
        <p:txBody>
          <a:bodyPr wrap="none" lIns="0" rIns="0" tIns="0" bIns="0">
            <a:spAutoFit/>
          </a:bodyPr>
          <a:lstStyle/>
          <a:p>
            <a:pPr>
              <a:lnSpc>
                <a:spcPts val="1583"/>
              </a:lnSpc>
              <a:spcAft>
                <a:spcPts val="0"/>
              </a:spcAft>
              <a:defRPr sz="1320" b="0">
                <a:solidFill>
                  <a:srgbClr val="68635B"/>
                </a:solidFill>
                <a:latin typeface="Arial"/>
              </a:defRPr>
            </a:pPr>
            <a:r>
              <a:t>PDF je skutečný dokument; přenos e-mailu součástí klientské verze není.</a:t>
            </a:r>
          </a:p>
        </p:txBody>
      </p:sp>
      <p:sp>
        <p:nvSpPr>
          <p:cNvPr id="19" name="TextBox 18"/>
          <p:cNvSpPr txBox="1"/>
          <p:nvPr/>
        </p:nvSpPr>
        <p:spPr>
          <a:xfrm>
            <a:off x="533400" y="6413500"/>
            <a:ext cx="10033000" cy="181610"/>
          </a:xfrm>
          <a:prstGeom prst="rect">
            <a:avLst/>
          </a:prstGeom>
          <a:noFill/>
        </p:spPr>
        <p:txBody>
          <a:bodyPr wrap="none" lIns="0" rIns="0" tIns="0" bIns="0">
            <a:spAutoFit/>
          </a:bodyPr>
          <a:lstStyle/>
          <a:p>
            <a:pPr>
              <a:lnSpc>
                <a:spcPts val="930"/>
              </a:lnSpc>
              <a:spcAft>
                <a:spcPts val="0"/>
              </a:spcAft>
              <a:defRPr sz="750" b="0">
                <a:solidFill>
                  <a:srgbClr val="68635B"/>
                </a:solidFill>
                <a:latin typeface="Arial"/>
              </a:defRPr>
            </a:pPr>
            <a:r>
              <a:t>DODATEČNĚ PŘIPRAVENÝ PODKLAD K MILNÍKU</a:t>
            </a:r>
          </a:p>
        </p:txBody>
      </p:sp>
      <p:sp>
        <p:nvSpPr>
          <p:cNvPr id="20" name="TextBox 19"/>
          <p:cNvSpPr txBox="1"/>
          <p:nvPr/>
        </p:nvSpPr>
        <p:spPr>
          <a:xfrm>
            <a:off x="10947400" y="6350000"/>
            <a:ext cx="825500" cy="220979"/>
          </a:xfrm>
          <a:prstGeom prst="rect">
            <a:avLst/>
          </a:prstGeom>
          <a:noFill/>
        </p:spPr>
        <p:txBody>
          <a:bodyPr wrap="none" lIns="0" rIns="0" tIns="0" bIns="0">
            <a:spAutoFit/>
          </a:bodyPr>
          <a:lstStyle/>
          <a:p>
            <a:pPr>
              <a:lnSpc>
                <a:spcPts val="1240"/>
              </a:lnSpc>
              <a:spcAft>
                <a:spcPts val="0"/>
              </a:spcAft>
              <a:defRPr sz="1000" b="1">
                <a:solidFill>
                  <a:srgbClr val="68635B"/>
                </a:solidFill>
                <a:latin typeface="Arial"/>
              </a:defRPr>
            </a:pPr>
            <a:r>
              <a:t>04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0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3400" y="304800"/>
            <a:ext cx="1905000" cy="283972"/>
          </a:xfrm>
          <a:prstGeom prst="rect">
            <a:avLst/>
          </a:prstGeom>
          <a:noFill/>
        </p:spPr>
        <p:txBody>
          <a:bodyPr wrap="none" lIns="0" rIns="0" tIns="0" bIns="0">
            <a:spAutoFit/>
          </a:bodyPr>
          <a:lstStyle/>
          <a:p>
            <a:pPr>
              <a:lnSpc>
                <a:spcPts val="1736"/>
              </a:lnSpc>
              <a:spcAft>
                <a:spcPts val="0"/>
              </a:spcAft>
              <a:defRPr sz="1400" b="1">
                <a:solidFill>
                  <a:srgbClr val="181817"/>
                </a:solidFill>
                <a:latin typeface="Arial"/>
              </a:defRPr>
            </a:pPr>
            <a:r>
              <a:t>PRAGUE</a:t>
            </a:r>
          </a:p>
        </p:txBody>
      </p:sp>
      <p:sp>
        <p:nvSpPr>
          <p:cNvPr id="4" name="TextBox 3"/>
          <p:cNvSpPr txBox="1"/>
          <p:nvPr/>
        </p:nvSpPr>
        <p:spPr>
          <a:xfrm>
            <a:off x="533400" y="495300"/>
            <a:ext cx="1905000" cy="409956"/>
          </a:xfrm>
          <a:prstGeom prst="rect">
            <a:avLst/>
          </a:prstGeom>
          <a:noFill/>
        </p:spPr>
        <p:txBody>
          <a:bodyPr wrap="none" lIns="0" rIns="0" tIns="0" bIns="0">
            <a:spAutoFit/>
          </a:bodyPr>
          <a:lstStyle/>
          <a:p>
            <a:pPr>
              <a:lnSpc>
                <a:spcPts val="2728"/>
              </a:lnSpc>
              <a:spcAft>
                <a:spcPts val="0"/>
              </a:spcAft>
              <a:defRPr sz="2200" b="1">
                <a:solidFill>
                  <a:srgbClr val="181817"/>
                </a:solidFill>
                <a:latin typeface="Arial"/>
              </a:defRPr>
            </a:pPr>
            <a:r>
              <a:t>PULSE</a:t>
            </a:r>
          </a:p>
        </p:txBody>
      </p:sp>
      <p:sp>
        <p:nvSpPr>
          <p:cNvPr id="5" name="TextBox 4"/>
          <p:cNvSpPr txBox="1"/>
          <p:nvPr/>
        </p:nvSpPr>
        <p:spPr>
          <a:xfrm>
            <a:off x="533400" y="812800"/>
            <a:ext cx="2032000" cy="165862"/>
          </a:xfrm>
          <a:prstGeom prst="rect">
            <a:avLst/>
          </a:prstGeom>
          <a:noFill/>
        </p:spPr>
        <p:txBody>
          <a:bodyPr wrap="none" lIns="0" rIns="0" tIns="0" bIns="0">
            <a:spAutoFit/>
          </a:bodyPr>
          <a:lstStyle/>
          <a:p>
            <a:pPr>
              <a:lnSpc>
                <a:spcPts val="806"/>
              </a:lnSpc>
              <a:spcAft>
                <a:spcPts val="0"/>
              </a:spcAft>
              <a:defRPr sz="650" b="1">
                <a:solidFill>
                  <a:srgbClr val="181817"/>
                </a:solidFill>
                <a:latin typeface="Arial"/>
              </a:defRPr>
            </a:pPr>
            <a:r>
              <a:t>FEST / 2027</a:t>
            </a:r>
          </a:p>
        </p:txBody>
      </p:sp>
      <p:sp>
        <p:nvSpPr>
          <p:cNvPr id="6" name="Rectangle 5"/>
          <p:cNvSpPr/>
          <p:nvPr/>
        </p:nvSpPr>
        <p:spPr>
          <a:xfrm>
            <a:off x="1866900" y="368300"/>
            <a:ext cx="88900" cy="431800"/>
          </a:xfrm>
          <a:prstGeom prst="rect">
            <a:avLst/>
          </a:prstGeom>
          <a:solidFill>
            <a:srgbClr val="F45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88000" y="533400"/>
            <a:ext cx="6070600" cy="220979"/>
          </a:xfrm>
          <a:prstGeom prst="rect">
            <a:avLst/>
          </a:prstGeom>
          <a:noFill/>
        </p:spPr>
        <p:txBody>
          <a:bodyPr wrap="none" lIns="0" rIns="0" tIns="0" bIns="0">
            <a:spAutoFit/>
          </a:bodyPr>
          <a:lstStyle/>
          <a:p>
            <a:pPr>
              <a:lnSpc>
                <a:spcPts val="1240"/>
              </a:lnSpc>
              <a:spcAft>
                <a:spcPts val="0"/>
              </a:spcAft>
              <a:defRPr sz="1000" b="1">
                <a:solidFill>
                  <a:srgbClr val="68635B"/>
                </a:solidFill>
                <a:latin typeface="Arial"/>
              </a:defRPr>
            </a:pPr>
            <a:r>
              <a:t>OVĚŘENÍ AI A VLASTNÍHO ŘEŠENÍ</a:t>
            </a:r>
          </a:p>
        </p:txBody>
      </p:sp>
      <p:sp>
        <p:nvSpPr>
          <p:cNvPr id="8" name="Rectangle 7"/>
          <p:cNvSpPr/>
          <p:nvPr/>
        </p:nvSpPr>
        <p:spPr>
          <a:xfrm>
            <a:off x="533400" y="1155700"/>
            <a:ext cx="11125200" cy="25400"/>
          </a:xfrm>
          <a:prstGeom prst="rect">
            <a:avLst/>
          </a:prstGeom>
          <a:solidFill>
            <a:srgbClr val="1818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8000" y="1422400"/>
            <a:ext cx="11176000" cy="1079500"/>
          </a:xfrm>
          <a:prstGeom prst="rect">
            <a:avLst/>
          </a:prstGeom>
          <a:noFill/>
        </p:spPr>
        <p:txBody>
          <a:bodyPr wrap="none" lIns="0" rIns="0" tIns="0" bIns="0">
            <a:spAutoFit/>
          </a:bodyPr>
          <a:lstStyle/>
          <a:p>
            <a:pPr>
              <a:lnSpc>
                <a:spcPts val="3740"/>
              </a:lnSpc>
              <a:spcAft>
                <a:spcPts val="0"/>
              </a:spcAft>
              <a:defRPr sz="3400" b="1">
                <a:solidFill>
                  <a:srgbClr val="181817"/>
                </a:solidFill>
                <a:latin typeface="Arial"/>
              </a:defRPr>
            </a:pPr>
            <a:r>
              <a:t>Kontrola má konkrétní výstup.</a:t>
            </a:r>
          </a:p>
        </p:txBody>
      </p:sp>
      <p:sp>
        <p:nvSpPr>
          <p:cNvPr id="10" name="Rectangle 9"/>
          <p:cNvSpPr/>
          <p:nvPr/>
        </p:nvSpPr>
        <p:spPr>
          <a:xfrm>
            <a:off x="533400" y="2768600"/>
            <a:ext cx="5448300" cy="2603500"/>
          </a:xfrm>
          <a:prstGeom prst="rect">
            <a:avLst/>
          </a:prstGeom>
          <a:solidFill>
            <a:srgbClr val="1818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768600"/>
            <a:ext cx="5448300" cy="76200"/>
          </a:xfrm>
          <a:prstGeom prst="rect">
            <a:avLst/>
          </a:prstGeom>
          <a:solidFill>
            <a:srgbClr val="F45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300" y="3035300"/>
            <a:ext cx="5016500" cy="685800"/>
          </a:xfrm>
          <a:prstGeom prst="rect">
            <a:avLst/>
          </a:prstGeom>
          <a:noFill/>
        </p:spPr>
        <p:txBody>
          <a:bodyPr wrap="none" lIns="0" rIns="0" tIns="0" bIns="0">
            <a:spAutoFit/>
          </a:bodyPr>
          <a:lstStyle/>
          <a:p>
            <a:pPr>
              <a:lnSpc>
                <a:spcPts val="2200"/>
              </a:lnSpc>
              <a:spcAft>
                <a:spcPts val="0"/>
              </a:spcAft>
              <a:defRPr sz="2000" b="1">
                <a:solidFill>
                  <a:srgbClr val="F4F0E7"/>
                </a:solidFill>
                <a:latin typeface="Arial"/>
              </a:defRPr>
            </a:pPr>
            <a:r>
              <a:t>Technické důkazy</a:t>
            </a:r>
          </a:p>
        </p:txBody>
      </p:sp>
      <p:sp>
        <p:nvSpPr>
          <p:cNvPr id="13" name="TextBox 12"/>
          <p:cNvSpPr txBox="1"/>
          <p:nvPr/>
        </p:nvSpPr>
        <p:spPr>
          <a:xfrm>
            <a:off x="749300" y="3733800"/>
            <a:ext cx="5016500" cy="1511300"/>
          </a:xfrm>
          <a:prstGeom prst="rect">
            <a:avLst/>
          </a:prstGeom>
          <a:noFill/>
        </p:spPr>
        <p:txBody>
          <a:bodyPr wrap="none" lIns="0" rIns="0" tIns="0" bIns="0">
            <a:spAutoFit/>
          </a:bodyPr>
          <a:lstStyle/>
          <a:p>
            <a:pPr>
              <a:lnSpc>
                <a:spcPts val="1689"/>
              </a:lnSpc>
              <a:spcAft>
                <a:spcPts val="0"/>
              </a:spcAft>
              <a:defRPr sz="1420" b="0">
                <a:solidFill>
                  <a:srgbClr val="F4F0E7"/>
                </a:solidFill>
                <a:latin typeface="Arial"/>
              </a:defRPr>
            </a:pPr>
            <a:r>
              <a:t>Datový validátor a browserové průchody.</a:t>
            </a:r>
          </a:p>
          <a:p>
            <a:pPr>
              <a:lnSpc>
                <a:spcPts val="1689"/>
              </a:lnSpc>
              <a:spcAft>
                <a:spcPts val="0"/>
              </a:spcAft>
              <a:defRPr sz="1420" b="0">
                <a:solidFill>
                  <a:srgbClr val="F4F0E7"/>
                </a:solidFill>
                <a:latin typeface="Arial"/>
              </a:defRPr>
            </a:pPr>
          </a:p>
          <a:p>
            <a:pPr>
              <a:lnSpc>
                <a:spcPts val="1689"/>
              </a:lnSpc>
              <a:spcAft>
                <a:spcPts val="0"/>
              </a:spcAft>
              <a:defRPr sz="1420" b="0">
                <a:solidFill>
                  <a:srgbClr val="F4F0E7"/>
                </a:solidFill>
                <a:latin typeface="Arial"/>
              </a:defRPr>
            </a:pPr>
            <a:r>
              <a:t>Aktuální výsledky: validation_report.md.</a:t>
            </a:r>
          </a:p>
        </p:txBody>
      </p:sp>
      <p:sp>
        <p:nvSpPr>
          <p:cNvPr id="14" name="Rectangle 13"/>
          <p:cNvSpPr/>
          <p:nvPr/>
        </p:nvSpPr>
        <p:spPr>
          <a:xfrm>
            <a:off x="6210300" y="2768600"/>
            <a:ext cx="5448300" cy="2603500"/>
          </a:xfrm>
          <a:prstGeom prst="rect">
            <a:avLst/>
          </a:prstGeom>
          <a:solidFill>
            <a:srgbClr val="E7E0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0300" y="2768600"/>
            <a:ext cx="5448300" cy="76200"/>
          </a:xfrm>
          <a:prstGeom prst="rect">
            <a:avLst/>
          </a:prstGeom>
          <a:solidFill>
            <a:srgbClr val="F45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6200" y="3035300"/>
            <a:ext cx="5016500" cy="685800"/>
          </a:xfrm>
          <a:prstGeom prst="rect">
            <a:avLst/>
          </a:prstGeom>
          <a:noFill/>
        </p:spPr>
        <p:txBody>
          <a:bodyPr wrap="none" lIns="0" rIns="0" tIns="0" bIns="0">
            <a:spAutoFit/>
          </a:bodyPr>
          <a:lstStyle/>
          <a:p>
            <a:pPr>
              <a:lnSpc>
                <a:spcPts val="2200"/>
              </a:lnSpc>
              <a:spcAft>
                <a:spcPts val="0"/>
              </a:spcAft>
              <a:defRPr sz="2000" b="1">
                <a:solidFill>
                  <a:srgbClr val="181817"/>
                </a:solidFill>
                <a:latin typeface="Arial"/>
              </a:defRPr>
            </a:pPr>
            <a:r>
              <a:t>Poctivé limity</a:t>
            </a:r>
          </a:p>
        </p:txBody>
      </p:sp>
      <p:sp>
        <p:nvSpPr>
          <p:cNvPr id="17" name="TextBox 16"/>
          <p:cNvSpPr txBox="1"/>
          <p:nvPr/>
        </p:nvSpPr>
        <p:spPr>
          <a:xfrm>
            <a:off x="6426200" y="3733800"/>
            <a:ext cx="5016500" cy="1511300"/>
          </a:xfrm>
          <a:prstGeom prst="rect">
            <a:avLst/>
          </a:prstGeom>
          <a:noFill/>
        </p:spPr>
        <p:txBody>
          <a:bodyPr wrap="none" lIns="0" rIns="0" tIns="0" bIns="0">
            <a:spAutoFit/>
          </a:bodyPr>
          <a:lstStyle/>
          <a:p>
            <a:pPr>
              <a:lnSpc>
                <a:spcPts val="1689"/>
              </a:lnSpc>
              <a:spcAft>
                <a:spcPts val="0"/>
              </a:spcAft>
              <a:defRPr sz="1420" b="0">
                <a:solidFill>
                  <a:srgbClr val="181817"/>
                </a:solidFill>
                <a:latin typeface="Arial"/>
              </a:defRPr>
            </a:pPr>
            <a:r>
              <a:t>Žádná smyšlená měření uživatelů ani peer review.</a:t>
            </a:r>
          </a:p>
          <a:p>
            <a:pPr>
              <a:lnSpc>
                <a:spcPts val="1689"/>
              </a:lnSpc>
              <a:spcAft>
                <a:spcPts val="0"/>
              </a:spcAft>
              <a:defRPr sz="1420" b="0">
                <a:solidFill>
                  <a:srgbClr val="181817"/>
                </a:solidFill>
                <a:latin typeface="Arial"/>
              </a:defRPr>
            </a:pPr>
          </a:p>
          <a:p>
            <a:pPr>
              <a:lnSpc>
                <a:spcPts val="1689"/>
              </a:lnSpc>
              <a:spcAft>
                <a:spcPts val="0"/>
              </a:spcAft>
              <a:defRPr sz="1420" b="0">
                <a:solidFill>
                  <a:srgbClr val="181817"/>
                </a:solidFill>
                <a:latin typeface="Arial"/>
              </a:defRPr>
            </a:pPr>
            <a:r>
              <a:t>Fyzické telefony a plný audit WCAG nejsou doloženy.</a:t>
            </a:r>
          </a:p>
        </p:txBody>
      </p:sp>
      <p:sp>
        <p:nvSpPr>
          <p:cNvPr id="18" name="TextBox 17"/>
          <p:cNvSpPr txBox="1"/>
          <p:nvPr/>
        </p:nvSpPr>
        <p:spPr>
          <a:xfrm>
            <a:off x="533400" y="5676900"/>
            <a:ext cx="11125200" cy="546100"/>
          </a:xfrm>
          <a:prstGeom prst="rect">
            <a:avLst/>
          </a:prstGeom>
          <a:noFill/>
        </p:spPr>
        <p:txBody>
          <a:bodyPr wrap="none" lIns="0" rIns="0" tIns="0" bIns="0">
            <a:spAutoFit/>
          </a:bodyPr>
          <a:lstStyle/>
          <a:p>
            <a:pPr>
              <a:lnSpc>
                <a:spcPts val="1583"/>
              </a:lnSpc>
              <a:spcAft>
                <a:spcPts val="0"/>
              </a:spcAft>
              <a:defRPr sz="1320" b="0">
                <a:solidFill>
                  <a:srgbClr val="68635B"/>
                </a:solidFill>
                <a:latin typeface="Arial"/>
              </a:defRPr>
            </a:pPr>
            <a:r>
              <a:t>Přijato: vlastní identita a mobile-first. Odmítnuto: backend a kopie značky.</a:t>
            </a:r>
          </a:p>
        </p:txBody>
      </p:sp>
      <p:sp>
        <p:nvSpPr>
          <p:cNvPr id="19" name="TextBox 18"/>
          <p:cNvSpPr txBox="1"/>
          <p:nvPr/>
        </p:nvSpPr>
        <p:spPr>
          <a:xfrm>
            <a:off x="533400" y="6413500"/>
            <a:ext cx="10033000" cy="181610"/>
          </a:xfrm>
          <a:prstGeom prst="rect">
            <a:avLst/>
          </a:prstGeom>
          <a:noFill/>
        </p:spPr>
        <p:txBody>
          <a:bodyPr wrap="none" lIns="0" rIns="0" tIns="0" bIns="0">
            <a:spAutoFit/>
          </a:bodyPr>
          <a:lstStyle/>
          <a:p>
            <a:pPr>
              <a:lnSpc>
                <a:spcPts val="930"/>
              </a:lnSpc>
              <a:spcAft>
                <a:spcPts val="0"/>
              </a:spcAft>
              <a:defRPr sz="750" b="0">
                <a:solidFill>
                  <a:srgbClr val="68635B"/>
                </a:solidFill>
                <a:latin typeface="Arial"/>
              </a:defRPr>
            </a:pPr>
            <a:r>
              <a:t>DODATEČNĚ PŘIPRAVENÝ PODKLAD K MILNÍKU</a:t>
            </a:r>
          </a:p>
        </p:txBody>
      </p:sp>
      <p:sp>
        <p:nvSpPr>
          <p:cNvPr id="20" name="TextBox 19"/>
          <p:cNvSpPr txBox="1"/>
          <p:nvPr/>
        </p:nvSpPr>
        <p:spPr>
          <a:xfrm>
            <a:off x="10947400" y="6350000"/>
            <a:ext cx="825500" cy="220979"/>
          </a:xfrm>
          <a:prstGeom prst="rect">
            <a:avLst/>
          </a:prstGeom>
          <a:noFill/>
        </p:spPr>
        <p:txBody>
          <a:bodyPr wrap="none" lIns="0" rIns="0" tIns="0" bIns="0">
            <a:spAutoFit/>
          </a:bodyPr>
          <a:lstStyle/>
          <a:p>
            <a:pPr>
              <a:lnSpc>
                <a:spcPts val="1240"/>
              </a:lnSpc>
              <a:spcAft>
                <a:spcPts val="0"/>
              </a:spcAft>
              <a:defRPr sz="1000" b="1">
                <a:solidFill>
                  <a:srgbClr val="68635B"/>
                </a:solidFill>
                <a:latin typeface="Arial"/>
              </a:defRPr>
            </a:pPr>
            <a:r>
              <a:t>04 / 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Prague Pulse Fest — cvičení 04: První funkční implementace</dc:title>
  <dc:subject>Dodatečně připravený milník podle zadání; nikoli doložená historie semestru.</dc:subject>
  <dc:creator>Prague Pulse Fest — projektové podklady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