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wireframe navazuje kompletní současná implementace. Obsahuje výraznější vlastní identitu, tmavou celoplošnou hlavičku a skutečnou historickou fotografii Výstaviště. Identitu doplňuje typografické logo bez zvukových sloupců Prague Pulse Fest. Inspirací je obecný festivalový vizuální styl, nikoli převzetí loga nebo grafiky jiné akce. Materiály byly připraveny ze současné verze, protože skutečný historický export ze cvičení nebyl poskytnut. Při prezentaci ukážeme mobilní a desktopové zobrazení a dvě nejdůležitější cesty. Není třeba instalovat runtime nebo spouštět build. Název vracíme na Prague Pulse Fest a termín na výslovnou volbu zadavatele posouváme na 1.–3. srpna 2027. Hlavička má na notebooku hledání a navigaci v jednom řádku; odpočet pracuje s pražskou časovou zónou.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Implementace pokrývá třináct HTML vstupů a všechny povinné části. Program rozlišuje hlavní mezinárodní jména, českou scénu a klubovou elektroniku. Detaily mají biografii, konkrétní subžánr a hudební odkazy; ověřený profil se odlišuje od vyhledávání. Návštěvník si vybere jeden, dva libovolné nebo tři dny. VIP a Regular si ručně označí v mapě, stání vybírá počtem. Kemp se přidává v košíku. Soukromí, Podmínky a Kredity mají vlastní stránky, praktické Info se soustředí na návštěvu.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 Flexbox se pro tento web hodí, zejména pro navigaci a řady ovládacích prvků. Pro více řad karet je vhodnější Grid. Pružné velikosti a clamp přizpůsobují typografii prostoru, místo pevného navrhování pro konkrétní telefon. Responzivitu však nedokazuje jediný screenshot prázdného úvodu. Kontrolujeme i dlouhé názvy, otevřené menu, formuláře, dialogy a neprázdný košík. Při prezentaci vedle sebe ukážeme úzký a široký viewport stejného scénáře, aby bylo vidět, že zůstává stejná logika.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Zopakujeme S1 a S2 ve finálním rozhraní. Nejprve filtrujeme program a ověříme uložení osobního výběru. Potom hledáme DARKZY a přejdeme z detailu k jeho koncertu. Při ukázce sledujeme názvy, datum a scénu; efektní animace nesmí nahradit správný obsah. Krátce ukážeme klávesnici a zavření dialogu. Přístupnost není pouze kontrast: důležité je správné pořadí, popisky, zachování focusu a srozumitelná změna stavu. Plnou shodu s WCAG bez odpovídajícího auditu netvrdíme.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Ceny a model daně vycházejí z XML. Dva dny stojí součet dvou jednodenních tarifů, tři dny mají zvýhodněný balíček. Příklad: dvě dvoudenní VIP jsou 2360 korun, PULSE10 odečte 236 a stan pro dvě osoby přidá 650. Výsledek je 2774 korun; kemp se nezlevňuje. V ceně je modelová dvanáctiprocentní DPH, nikoli příplatek. Výpočet je školní model, ne právní potvrzení sazby roku 2027. PDF vypíše skutečné vybrané dny a pro kemp přidá samostatný voucher.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pomohla s rozvržením, texty, originální grafikou, implementací a testovacími skripty. Testy ale musí běžet proti skutečné výsledné verzi. Přiložený validační záznam uvádí konkrétní výsledek, rozsah a přeskočené kontroly. Datové minimum a reference kontrolujeme odděleně od prohlížeče. PDF posuzujeme jako soubor a ne pouze potvrzení na obrazovce. Historické odevzdání, testy s reálnými návštěvníky ani externí cross-review nejsou doloženy. Tým musí umět vysvětlit, co přijal a které limity zůstávají. Dne 18. října 2026 jsme přímo přečetli Google SEO Starter Guide, Google AI features and your website a WAI Page Structure Tutorial. Používáme konkrétní titulky, vnitřní odkazy, viditelný text, pravdivé JSON-LD a logické landmarky a nadpisy. Zvláštní AI schéma ani speciální textový soubor nejsou vyžadované. Nové fotografie jsou částečně CC BY-NC-SA: dva snímky lze použít v tomto nekomerčním školním rozsahu, nikoli automaticky pro komerční festival.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851900" y="0"/>
            <a:ext cx="3340100" cy="68580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3400" y="381000"/>
            <a:ext cx="2476500" cy="350113"/>
          </a:xfrm>
          <a:prstGeom prst="rect">
            <a:avLst/>
          </a:prstGeom>
          <a:noFill/>
        </p:spPr>
        <p:txBody>
          <a:bodyPr wrap="none" lIns="0" rIns="0" tIns="0" bIns="0">
            <a:spAutoFit/>
          </a:bodyPr>
          <a:lstStyle/>
          <a:p>
            <a:pPr>
              <a:lnSpc>
                <a:spcPts val="2256"/>
              </a:lnSpc>
              <a:spcAft>
                <a:spcPts val="0"/>
              </a:spcAft>
              <a:defRPr sz="1820" b="1">
                <a:solidFill>
                  <a:srgbClr val="F4F0E7"/>
                </a:solidFill>
                <a:latin typeface="Arial"/>
              </a:defRPr>
            </a:pPr>
            <a:r>
              <a:t>PRAGUE</a:t>
            </a:r>
          </a:p>
        </p:txBody>
      </p:sp>
      <p:sp>
        <p:nvSpPr>
          <p:cNvPr id="5" name="TextBox 4"/>
          <p:cNvSpPr txBox="1"/>
          <p:nvPr/>
        </p:nvSpPr>
        <p:spPr>
          <a:xfrm>
            <a:off x="533400" y="628650"/>
            <a:ext cx="2476500" cy="513892"/>
          </a:xfrm>
          <a:prstGeom prst="rect">
            <a:avLst/>
          </a:prstGeom>
          <a:noFill/>
        </p:spPr>
        <p:txBody>
          <a:bodyPr wrap="none" lIns="0" rIns="0" tIns="0" bIns="0">
            <a:spAutoFit/>
          </a:bodyPr>
          <a:lstStyle/>
          <a:p>
            <a:pPr>
              <a:lnSpc>
                <a:spcPts val="3546"/>
              </a:lnSpc>
              <a:spcAft>
                <a:spcPts val="0"/>
              </a:spcAft>
              <a:defRPr sz="2860" b="1">
                <a:solidFill>
                  <a:srgbClr val="F4F0E7"/>
                </a:solidFill>
                <a:latin typeface="Arial"/>
              </a:defRPr>
            </a:pPr>
            <a:r>
              <a:t>PULSE</a:t>
            </a:r>
          </a:p>
        </p:txBody>
      </p:sp>
      <p:sp>
        <p:nvSpPr>
          <p:cNvPr id="6" name="TextBox 5"/>
          <p:cNvSpPr txBox="1"/>
          <p:nvPr/>
        </p:nvSpPr>
        <p:spPr>
          <a:xfrm>
            <a:off x="533400" y="1041400"/>
            <a:ext cx="2641600" cy="196570"/>
          </a:xfrm>
          <a:prstGeom prst="rect">
            <a:avLst/>
          </a:prstGeom>
          <a:noFill/>
        </p:spPr>
        <p:txBody>
          <a:bodyPr wrap="none" lIns="0" rIns="0" tIns="0" bIns="0">
            <a:spAutoFit/>
          </a:bodyPr>
          <a:lstStyle/>
          <a:p>
            <a:pPr>
              <a:lnSpc>
                <a:spcPts val="1047"/>
              </a:lnSpc>
              <a:spcAft>
                <a:spcPts val="0"/>
              </a:spcAft>
              <a:defRPr sz="845" b="1">
                <a:solidFill>
                  <a:srgbClr val="F4F0E7"/>
                </a:solidFill>
                <a:latin typeface="Arial"/>
              </a:defRPr>
            </a:pPr>
            <a:r>
              <a:t>FEST / 2027</a:t>
            </a:r>
          </a:p>
        </p:txBody>
      </p:sp>
      <p:sp>
        <p:nvSpPr>
          <p:cNvPr id="7" name="TextBox 6"/>
          <p:cNvSpPr txBox="1"/>
          <p:nvPr/>
        </p:nvSpPr>
        <p:spPr>
          <a:xfrm>
            <a:off x="533400" y="1536700"/>
            <a:ext cx="7874000" cy="236728"/>
          </a:xfrm>
          <a:prstGeom prst="rect">
            <a:avLst/>
          </a:prstGeom>
          <a:noFill/>
        </p:spPr>
        <p:txBody>
          <a:bodyPr wrap="none" lIns="0" rIns="0" tIns="0" bIns="0">
            <a:spAutoFit/>
          </a:bodyPr>
          <a:lstStyle/>
          <a:p>
            <a:pPr>
              <a:lnSpc>
                <a:spcPts val="1364"/>
              </a:lnSpc>
              <a:spcAft>
                <a:spcPts val="0"/>
              </a:spcAft>
              <a:defRPr sz="1100" b="1">
                <a:solidFill>
                  <a:srgbClr val="F4F0E7"/>
                </a:solidFill>
                <a:latin typeface="Arial"/>
              </a:defRPr>
            </a:pPr>
            <a:r>
              <a:t>CVIČENÍ 04 / IMPLEMENTACE</a:t>
            </a:r>
          </a:p>
        </p:txBody>
      </p:sp>
      <p:sp>
        <p:nvSpPr>
          <p:cNvPr id="8" name="TextBox 7"/>
          <p:cNvSpPr txBox="1"/>
          <p:nvPr/>
        </p:nvSpPr>
        <p:spPr>
          <a:xfrm>
            <a:off x="482600" y="2133600"/>
            <a:ext cx="8001000" cy="2095500"/>
          </a:xfrm>
          <a:prstGeom prst="rect">
            <a:avLst/>
          </a:prstGeom>
          <a:noFill/>
        </p:spPr>
        <p:txBody>
          <a:bodyPr wrap="none" lIns="0" rIns="0" tIns="0" bIns="0">
            <a:spAutoFit/>
          </a:bodyPr>
          <a:lstStyle/>
          <a:p>
            <a:pPr>
              <a:lnSpc>
                <a:spcPts val="5830"/>
              </a:lnSpc>
              <a:spcAft>
                <a:spcPts val="0"/>
              </a:spcAft>
              <a:defRPr sz="5500" b="1">
                <a:solidFill>
                  <a:srgbClr val="F4F0E7"/>
                </a:solidFill>
                <a:latin typeface="Arial"/>
              </a:defRPr>
            </a:pPr>
            <a:r>
              <a:t>Festival má</a:t>
            </a:r>
          </a:p>
          <a:p>
            <a:pPr>
              <a:lnSpc>
                <a:spcPts val="5830"/>
              </a:lnSpc>
              <a:spcAft>
                <a:spcPts val="0"/>
              </a:spcAft>
              <a:defRPr sz="5500" b="1">
                <a:solidFill>
                  <a:srgbClr val="F4F0E7"/>
                </a:solidFill>
                <a:latin typeface="Arial"/>
              </a:defRPr>
            </a:pPr>
            <a:r>
              <a:t>vlastní tvář.</a:t>
            </a:r>
          </a:p>
        </p:txBody>
      </p:sp>
      <p:sp>
        <p:nvSpPr>
          <p:cNvPr id="9" name="TextBox 8"/>
          <p:cNvSpPr txBox="1"/>
          <p:nvPr/>
        </p:nvSpPr>
        <p:spPr>
          <a:xfrm>
            <a:off x="533400" y="4724400"/>
            <a:ext cx="7747000" cy="1104900"/>
          </a:xfrm>
          <a:prstGeom prst="rect">
            <a:avLst/>
          </a:prstGeom>
          <a:noFill/>
        </p:spPr>
        <p:txBody>
          <a:bodyPr wrap="none" lIns="0" rIns="0" tIns="0" bIns="0">
            <a:spAutoFit/>
          </a:bodyPr>
          <a:lstStyle/>
          <a:p>
            <a:pPr>
              <a:lnSpc>
                <a:spcPts val="2356"/>
              </a:lnSpc>
              <a:spcAft>
                <a:spcPts val="0"/>
              </a:spcAft>
              <a:defRPr sz="1900" b="0">
                <a:solidFill>
                  <a:srgbClr val="F4F0E7"/>
                </a:solidFill>
                <a:latin typeface="Arial"/>
              </a:defRPr>
            </a:pPr>
            <a:r>
              <a:t>Výrazná typografie. Asymetrická kompozice.</a:t>
            </a:r>
          </a:p>
          <a:p>
            <a:pPr>
              <a:lnSpc>
                <a:spcPts val="2356"/>
              </a:lnSpc>
              <a:spcAft>
                <a:spcPts val="0"/>
              </a:spcAft>
              <a:defRPr sz="1900" b="0">
                <a:solidFill>
                  <a:srgbClr val="F4F0E7"/>
                </a:solidFill>
                <a:latin typeface="Arial"/>
              </a:defRPr>
            </a:pPr>
            <a:r>
              <a:t>HTML · CSS · JavaScript.</a:t>
            </a:r>
          </a:p>
        </p:txBody>
      </p:sp>
      <p:sp>
        <p:nvSpPr>
          <p:cNvPr id="10" name="TextBox 9"/>
          <p:cNvSpPr txBox="1"/>
          <p:nvPr/>
        </p:nvSpPr>
        <p:spPr>
          <a:xfrm>
            <a:off x="9220200" y="889000"/>
            <a:ext cx="2667000" cy="961135"/>
          </a:xfrm>
          <a:prstGeom prst="rect">
            <a:avLst/>
          </a:prstGeom>
          <a:noFill/>
        </p:spPr>
        <p:txBody>
          <a:bodyPr wrap="none" lIns="0" rIns="0" tIns="0" bIns="0">
            <a:spAutoFit/>
          </a:bodyPr>
          <a:lstStyle/>
          <a:p>
            <a:pPr>
              <a:lnSpc>
                <a:spcPts val="7067"/>
              </a:lnSpc>
              <a:spcAft>
                <a:spcPts val="0"/>
              </a:spcAft>
              <a:defRPr sz="5700" b="1">
                <a:solidFill>
                  <a:srgbClr val="181817"/>
                </a:solidFill>
                <a:latin typeface="Arial"/>
              </a:defRPr>
            </a:pPr>
            <a:r>
              <a:t>1—3</a:t>
            </a:r>
          </a:p>
        </p:txBody>
      </p:sp>
      <p:sp>
        <p:nvSpPr>
          <p:cNvPr id="11" name="TextBox 10"/>
          <p:cNvSpPr txBox="1"/>
          <p:nvPr/>
        </p:nvSpPr>
        <p:spPr>
          <a:xfrm>
            <a:off x="9220200" y="1765300"/>
            <a:ext cx="2667000" cy="551688"/>
          </a:xfrm>
          <a:prstGeom prst="rect">
            <a:avLst/>
          </a:prstGeom>
          <a:noFill/>
        </p:spPr>
        <p:txBody>
          <a:bodyPr wrap="none" lIns="0" rIns="0" tIns="0" bIns="0">
            <a:spAutoFit/>
          </a:bodyPr>
          <a:lstStyle/>
          <a:p>
            <a:pPr>
              <a:lnSpc>
                <a:spcPts val="3844"/>
              </a:lnSpc>
              <a:spcAft>
                <a:spcPts val="0"/>
              </a:spcAft>
              <a:defRPr sz="3100" b="1">
                <a:solidFill>
                  <a:srgbClr val="181817"/>
                </a:solidFill>
                <a:latin typeface="Arial"/>
              </a:defRPr>
            </a:pPr>
            <a:r>
              <a:t>SRPEN</a:t>
            </a:r>
          </a:p>
        </p:txBody>
      </p:sp>
      <p:sp>
        <p:nvSpPr>
          <p:cNvPr id="12" name="TextBox 11"/>
          <p:cNvSpPr txBox="1"/>
          <p:nvPr/>
        </p:nvSpPr>
        <p:spPr>
          <a:xfrm>
            <a:off x="9220200" y="2247900"/>
            <a:ext cx="2667000" cy="724916"/>
          </a:xfrm>
          <a:prstGeom prst="rect">
            <a:avLst/>
          </a:prstGeom>
          <a:noFill/>
        </p:spPr>
        <p:txBody>
          <a:bodyPr wrap="none" lIns="0" rIns="0" tIns="0" bIns="0">
            <a:spAutoFit/>
          </a:bodyPr>
          <a:lstStyle/>
          <a:p>
            <a:pPr>
              <a:lnSpc>
                <a:spcPts val="5208"/>
              </a:lnSpc>
              <a:spcAft>
                <a:spcPts val="0"/>
              </a:spcAft>
              <a:defRPr sz="4200" b="1">
                <a:solidFill>
                  <a:srgbClr val="181817"/>
                </a:solidFill>
                <a:latin typeface="Arial"/>
              </a:defRPr>
            </a:pPr>
            <a:r>
              <a:t>2027</a:t>
            </a:r>
          </a:p>
        </p:txBody>
      </p:sp>
      <p:sp>
        <p:nvSpPr>
          <p:cNvPr id="13" name="TextBox 12"/>
          <p:cNvSpPr txBox="1"/>
          <p:nvPr/>
        </p:nvSpPr>
        <p:spPr>
          <a:xfrm>
            <a:off x="9220200" y="3619500"/>
            <a:ext cx="2540000" cy="598932"/>
          </a:xfrm>
          <a:prstGeom prst="rect">
            <a:avLst/>
          </a:prstGeom>
          <a:noFill/>
        </p:spPr>
        <p:txBody>
          <a:bodyPr wrap="none" lIns="0" rIns="0" tIns="0" bIns="0">
            <a:spAutoFit/>
          </a:bodyPr>
          <a:lstStyle/>
          <a:p>
            <a:pPr>
              <a:lnSpc>
                <a:spcPts val="2108"/>
              </a:lnSpc>
              <a:spcAft>
                <a:spcPts val="0"/>
              </a:spcAft>
              <a:defRPr sz="1700" b="1">
                <a:solidFill>
                  <a:srgbClr val="181817"/>
                </a:solidFill>
                <a:latin typeface="Arial"/>
              </a:defRPr>
            </a:pPr>
            <a:r>
              <a:t>PRAHA</a:t>
            </a:r>
          </a:p>
          <a:p>
            <a:pPr>
              <a:lnSpc>
                <a:spcPts val="2108"/>
              </a:lnSpc>
              <a:spcAft>
                <a:spcPts val="0"/>
              </a:spcAft>
              <a:defRPr sz="1700" b="1">
                <a:solidFill>
                  <a:srgbClr val="181817"/>
                </a:solidFill>
                <a:latin typeface="Arial"/>
              </a:defRPr>
            </a:pPr>
            <a:r>
              <a:t>VLTAVA PARK</a:t>
            </a:r>
          </a:p>
        </p:txBody>
      </p:sp>
      <p:sp>
        <p:nvSpPr>
          <p:cNvPr id="14" name="TextBox 13"/>
          <p:cNvSpPr txBox="1"/>
          <p:nvPr/>
        </p:nvSpPr>
        <p:spPr>
          <a:xfrm>
            <a:off x="9220200" y="5054600"/>
            <a:ext cx="2540000" cy="882396"/>
          </a:xfrm>
          <a:prstGeom prst="rect">
            <a:avLst/>
          </a:prstGeom>
          <a:noFill/>
        </p:spPr>
        <p:txBody>
          <a:bodyPr wrap="none" lIns="0" rIns="0" tIns="0" bIns="0">
            <a:spAutoFit/>
          </a:bodyPr>
          <a:lstStyle/>
          <a:p>
            <a:pPr>
              <a:lnSpc>
                <a:spcPts val="3224"/>
              </a:lnSpc>
              <a:spcAft>
                <a:spcPts val="0"/>
              </a:spcAft>
              <a:defRPr sz="2600" b="1">
                <a:solidFill>
                  <a:srgbClr val="181817"/>
                </a:solidFill>
                <a:latin typeface="Arial"/>
              </a:defRPr>
            </a:pPr>
            <a:r>
              <a:t>CVIČENÍ</a:t>
            </a:r>
          </a:p>
          <a:p>
            <a:pPr>
              <a:lnSpc>
                <a:spcPts val="3224"/>
              </a:lnSpc>
              <a:spcAft>
                <a:spcPts val="0"/>
              </a:spcAft>
              <a:defRPr sz="2600" b="1">
                <a:solidFill>
                  <a:srgbClr val="181817"/>
                </a:solidFill>
                <a:latin typeface="Arial"/>
              </a:defRPr>
            </a:pPr>
            <a:r>
              <a:t>04</a:t>
            </a:r>
          </a:p>
        </p:txBody>
      </p:sp>
      <p:sp>
        <p:nvSpPr>
          <p:cNvPr id="15" name="TextBox 14"/>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F4F0E7"/>
                </a:solidFill>
                <a:latin typeface="Arial"/>
              </a:defRPr>
            </a:pPr>
            <a:r>
              <a:t>DODATEČNĚ PŘIPRAVENÝ PODKLAD K MILNÍKU</a:t>
            </a:r>
          </a:p>
        </p:txBody>
      </p:sp>
      <p:sp>
        <p:nvSpPr>
          <p:cNvPr id="16" name="TextBox 15"/>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F4F0E7"/>
                </a:solidFill>
                <a:latin typeface="Arial"/>
              </a:defRPr>
            </a:pPr>
            <a:r>
              <a:t>04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OBSAH A FUNKCE</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Hlavní části jsou propojené.</a:t>
            </a:r>
          </a:p>
        </p:txBody>
      </p:sp>
      <p:sp>
        <p:nvSpPr>
          <p:cNvPr id="9" name="Rectangle 8"/>
          <p:cNvSpPr/>
          <p:nvPr/>
        </p:nvSpPr>
        <p:spPr>
          <a:xfrm>
            <a:off x="533400" y="2768600"/>
            <a:ext cx="35560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31242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Objevovat</a:t>
            </a:r>
          </a:p>
        </p:txBody>
      </p:sp>
      <p:sp>
        <p:nvSpPr>
          <p:cNvPr id="12" name="TextBox 11"/>
          <p:cNvSpPr txBox="1"/>
          <p:nvPr/>
        </p:nvSpPr>
        <p:spPr>
          <a:xfrm>
            <a:off x="749300" y="3733800"/>
            <a:ext cx="31242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Úvod, novinky, 60 skutečných</a:t>
            </a:r>
          </a:p>
          <a:p>
            <a:pPr>
              <a:lnSpc>
                <a:spcPts val="1689"/>
              </a:lnSpc>
              <a:spcAft>
                <a:spcPts val="0"/>
              </a:spcAft>
              <a:defRPr sz="1420" b="0">
                <a:solidFill>
                  <a:srgbClr val="F4F0E7"/>
                </a:solidFill>
                <a:latin typeface="Arial"/>
              </a:defRPr>
            </a:pPr>
            <a:r>
              <a:t>interpretů, biografické detaily a</a:t>
            </a:r>
          </a:p>
          <a:p>
            <a:pPr>
              <a:lnSpc>
                <a:spcPts val="1689"/>
              </a:lnSpc>
              <a:spcAft>
                <a:spcPts val="0"/>
              </a:spcAft>
              <a:defRPr sz="1420" b="0">
                <a:solidFill>
                  <a:srgbClr val="F4F0E7"/>
                </a:solidFill>
                <a:latin typeface="Arial"/>
              </a:defRPr>
            </a:pPr>
            <a:r>
              <a:t>hledání.</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CZ / EN pro zahraniční</a:t>
            </a:r>
          </a:p>
          <a:p>
            <a:pPr>
              <a:lnSpc>
                <a:spcPts val="1689"/>
              </a:lnSpc>
              <a:spcAft>
                <a:spcPts val="0"/>
              </a:spcAft>
              <a:defRPr sz="1420" b="0">
                <a:solidFill>
                  <a:srgbClr val="F4F0E7"/>
                </a:solidFill>
                <a:latin typeface="Arial"/>
              </a:defRPr>
            </a:pPr>
            <a:r>
              <a:t>návštěvníky.</a:t>
            </a:r>
          </a:p>
        </p:txBody>
      </p:sp>
      <p:sp>
        <p:nvSpPr>
          <p:cNvPr id="13" name="Rectangle 12"/>
          <p:cNvSpPr/>
          <p:nvPr/>
        </p:nvSpPr>
        <p:spPr>
          <a:xfrm>
            <a:off x="43180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80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39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Plánovat</a:t>
            </a:r>
          </a:p>
        </p:txBody>
      </p:sp>
      <p:sp>
        <p:nvSpPr>
          <p:cNvPr id="16" name="TextBox 15"/>
          <p:cNvSpPr txBox="1"/>
          <p:nvPr/>
        </p:nvSpPr>
        <p:spPr>
          <a:xfrm>
            <a:off x="45339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Mezinárodní / česká / klubová</a:t>
            </a:r>
          </a:p>
          <a:p>
            <a:pPr>
              <a:lnSpc>
                <a:spcPts val="1689"/>
              </a:lnSpc>
              <a:spcAft>
                <a:spcPts val="0"/>
              </a:spcAft>
              <a:defRPr sz="1420" b="0">
                <a:solidFill>
                  <a:srgbClr val="181817"/>
                </a:solidFill>
                <a:latin typeface="Arial"/>
              </a:defRPr>
            </a:pPr>
            <a:r>
              <a:t>scéna.</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Osobní program, doprava a offline</a:t>
            </a:r>
          </a:p>
          <a:p>
            <a:pPr>
              <a:lnSpc>
                <a:spcPts val="1689"/>
              </a:lnSpc>
              <a:spcAft>
                <a:spcPts val="0"/>
              </a:spcAft>
              <a:defRPr sz="1420" b="0">
                <a:solidFill>
                  <a:srgbClr val="181817"/>
                </a:solidFill>
                <a:latin typeface="Arial"/>
              </a:defRPr>
            </a:pPr>
            <a:r>
              <a:t>plánek.</a:t>
            </a:r>
          </a:p>
        </p:txBody>
      </p:sp>
      <p:sp>
        <p:nvSpPr>
          <p:cNvPr id="17" name="Rectangle 16"/>
          <p:cNvSpPr/>
          <p:nvPr/>
        </p:nvSpPr>
        <p:spPr>
          <a:xfrm>
            <a:off x="81026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26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85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Vybrat vstupenku</a:t>
            </a:r>
          </a:p>
        </p:txBody>
      </p:sp>
      <p:sp>
        <p:nvSpPr>
          <p:cNvPr id="20" name="TextBox 19"/>
          <p:cNvSpPr txBox="1"/>
          <p:nvPr/>
        </p:nvSpPr>
        <p:spPr>
          <a:xfrm>
            <a:off x="83185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Jeden, dva nebo tři dny. Vlastní</a:t>
            </a:r>
          </a:p>
          <a:p>
            <a:pPr>
              <a:lnSpc>
                <a:spcPts val="1689"/>
              </a:lnSpc>
              <a:spcAft>
                <a:spcPts val="0"/>
              </a:spcAft>
              <a:defRPr sz="1420" b="0">
                <a:solidFill>
                  <a:srgbClr val="181817"/>
                </a:solidFill>
                <a:latin typeface="Arial"/>
              </a:defRPr>
            </a:pPr>
            <a:r>
              <a:t>sedadlo nebo stání.</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Kemp, promo a daňový rozpis v</a:t>
            </a:r>
          </a:p>
          <a:p>
            <a:pPr>
              <a:lnSpc>
                <a:spcPts val="1689"/>
              </a:lnSpc>
              <a:spcAft>
                <a:spcPts val="0"/>
              </a:spcAft>
              <a:defRPr sz="1420" b="0">
                <a:solidFill>
                  <a:srgbClr val="181817"/>
                </a:solidFill>
                <a:latin typeface="Arial"/>
              </a:defRPr>
            </a:pPr>
            <a:r>
              <a:t>PDF.</a:t>
            </a:r>
          </a:p>
        </p:txBody>
      </p:sp>
      <p:sp>
        <p:nvSpPr>
          <p:cNvPr id="21" name="TextBox 20"/>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22" name="TextBox 21"/>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MOBILNÍ A DESKTOPOVÉ ZOBRAZENÍ</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Flexbox i Grid mají své místo.</a:t>
            </a:r>
          </a:p>
        </p:txBody>
      </p:sp>
      <p:sp>
        <p:nvSpPr>
          <p:cNvPr id="9" name="Rectangle 8"/>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Flexbox</a:t>
            </a:r>
          </a:p>
        </p:txBody>
      </p:sp>
      <p:sp>
        <p:nvSpPr>
          <p:cNvPr id="12" name="TextBox 11"/>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Navigace, akce, přepínače a řádky formulářů.</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Zalamování podle dostupného prostoru.</a:t>
            </a:r>
          </a:p>
        </p:txBody>
      </p:sp>
      <p:sp>
        <p:nvSpPr>
          <p:cNvPr id="13" name="Rectangle 12"/>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Grid</a:t>
            </a:r>
          </a:p>
        </p:txBody>
      </p:sp>
      <p:sp>
        <p:nvSpPr>
          <p:cNvPr id="16" name="TextBox 15"/>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Přehledy interpretů, program a obsahové bloky.</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Pružné sloupce, rozumné mezery, čitelná hierarchie.</a:t>
            </a:r>
          </a:p>
        </p:txBody>
      </p:sp>
      <p:sp>
        <p:nvSpPr>
          <p:cNvPr id="17" name="TextBox 16"/>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Kontrolujeme přetékání, čitelnost, ovládání, dialogy i vyplněný košík.</a:t>
            </a:r>
          </a:p>
        </p:txBody>
      </p:sp>
      <p:sp>
        <p:nvSpPr>
          <p:cNvPr id="18" name="TextBox 17"/>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19" name="TextBox 18"/>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UKÁZKA IMPLEMENTACE</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Dva scénáře předvést, ne popsat.</a:t>
            </a:r>
          </a:p>
        </p:txBody>
      </p:sp>
      <p:sp>
        <p:nvSpPr>
          <p:cNvPr id="9" name="Rectangle 8"/>
          <p:cNvSpPr/>
          <p:nvPr/>
        </p:nvSpPr>
        <p:spPr>
          <a:xfrm>
            <a:off x="533400" y="2946400"/>
            <a:ext cx="2552700" cy="17653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39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01</a:t>
            </a:r>
          </a:p>
        </p:txBody>
      </p:sp>
      <p:sp>
        <p:nvSpPr>
          <p:cNvPr id="11" name="TextBox 10"/>
          <p:cNvSpPr txBox="1"/>
          <p:nvPr/>
        </p:nvSpPr>
        <p:spPr>
          <a:xfrm>
            <a:off x="723900" y="3568700"/>
            <a:ext cx="2133600" cy="444500"/>
          </a:xfrm>
          <a:prstGeom prst="rect">
            <a:avLst/>
          </a:prstGeom>
          <a:noFill/>
        </p:spPr>
        <p:txBody>
          <a:bodyPr wrap="none" lIns="0" rIns="0" tIns="0" bIns="0">
            <a:spAutoFit/>
          </a:bodyPr>
          <a:lstStyle/>
          <a:p>
            <a:pPr>
              <a:lnSpc>
                <a:spcPts val="2728"/>
              </a:lnSpc>
              <a:spcAft>
                <a:spcPts val="0"/>
              </a:spcAft>
              <a:defRPr sz="2200" b="1">
                <a:solidFill>
                  <a:srgbClr val="F4F0E7"/>
                </a:solidFill>
                <a:latin typeface="Arial"/>
              </a:defRPr>
            </a:pPr>
            <a:r>
              <a:t>S1</a:t>
            </a:r>
          </a:p>
        </p:txBody>
      </p:sp>
      <p:sp>
        <p:nvSpPr>
          <p:cNvPr id="12" name="TextBox 11"/>
          <p:cNvSpPr txBox="1"/>
          <p:nvPr/>
        </p:nvSpPr>
        <p:spPr>
          <a:xfrm>
            <a:off x="723900" y="4140200"/>
            <a:ext cx="2133600" cy="406400"/>
          </a:xfrm>
          <a:prstGeom prst="rect">
            <a:avLst/>
          </a:prstGeom>
          <a:noFill/>
        </p:spPr>
        <p:txBody>
          <a:bodyPr wrap="none" lIns="0" rIns="0" tIns="0" bIns="0">
            <a:spAutoFit/>
          </a:bodyPr>
          <a:lstStyle/>
          <a:p>
            <a:pPr>
              <a:lnSpc>
                <a:spcPts val="1488"/>
              </a:lnSpc>
              <a:spcAft>
                <a:spcPts val="0"/>
              </a:spcAft>
              <a:defRPr sz="1200" b="0">
                <a:solidFill>
                  <a:srgbClr val="F4F0E7"/>
                </a:solidFill>
                <a:latin typeface="Arial"/>
              </a:defRPr>
            </a:pPr>
            <a:r>
              <a:t>Den + scéna</a:t>
            </a:r>
          </a:p>
        </p:txBody>
      </p:sp>
      <p:sp>
        <p:nvSpPr>
          <p:cNvPr id="13" name="TextBox 12"/>
          <p:cNvSpPr txBox="1"/>
          <p:nvPr/>
        </p:nvSpPr>
        <p:spPr>
          <a:xfrm>
            <a:off x="30988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14" name="Rectangle 13"/>
          <p:cNvSpPr/>
          <p:nvPr/>
        </p:nvSpPr>
        <p:spPr>
          <a:xfrm>
            <a:off x="33909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14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02</a:t>
            </a:r>
          </a:p>
        </p:txBody>
      </p:sp>
      <p:sp>
        <p:nvSpPr>
          <p:cNvPr id="16" name="TextBox 15"/>
          <p:cNvSpPr txBox="1"/>
          <p:nvPr/>
        </p:nvSpPr>
        <p:spPr>
          <a:xfrm>
            <a:off x="35814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Výběr</a:t>
            </a:r>
          </a:p>
        </p:txBody>
      </p:sp>
      <p:sp>
        <p:nvSpPr>
          <p:cNvPr id="17" name="TextBox 16"/>
          <p:cNvSpPr txBox="1"/>
          <p:nvPr/>
        </p:nvSpPr>
        <p:spPr>
          <a:xfrm>
            <a:off x="35814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Uložit koncert</a:t>
            </a:r>
          </a:p>
        </p:txBody>
      </p:sp>
      <p:sp>
        <p:nvSpPr>
          <p:cNvPr id="18" name="TextBox 17"/>
          <p:cNvSpPr txBox="1"/>
          <p:nvPr/>
        </p:nvSpPr>
        <p:spPr>
          <a:xfrm>
            <a:off x="59563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19" name="Rectangle 18"/>
          <p:cNvSpPr/>
          <p:nvPr/>
        </p:nvSpPr>
        <p:spPr>
          <a:xfrm>
            <a:off x="62484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89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03</a:t>
            </a:r>
          </a:p>
        </p:txBody>
      </p:sp>
      <p:sp>
        <p:nvSpPr>
          <p:cNvPr id="21" name="TextBox 20"/>
          <p:cNvSpPr txBox="1"/>
          <p:nvPr/>
        </p:nvSpPr>
        <p:spPr>
          <a:xfrm>
            <a:off x="64389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S2</a:t>
            </a:r>
          </a:p>
        </p:txBody>
      </p:sp>
      <p:sp>
        <p:nvSpPr>
          <p:cNvPr id="22" name="TextBox 21"/>
          <p:cNvSpPr txBox="1"/>
          <p:nvPr/>
        </p:nvSpPr>
        <p:spPr>
          <a:xfrm>
            <a:off x="64389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Vyhledat DARKZY</a:t>
            </a:r>
          </a:p>
        </p:txBody>
      </p:sp>
      <p:sp>
        <p:nvSpPr>
          <p:cNvPr id="23" name="TextBox 22"/>
          <p:cNvSpPr txBox="1"/>
          <p:nvPr/>
        </p:nvSpPr>
        <p:spPr>
          <a:xfrm>
            <a:off x="88138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24" name="Rectangle 23"/>
          <p:cNvSpPr/>
          <p:nvPr/>
        </p:nvSpPr>
        <p:spPr>
          <a:xfrm>
            <a:off x="91059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64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04</a:t>
            </a:r>
          </a:p>
        </p:txBody>
      </p:sp>
      <p:sp>
        <p:nvSpPr>
          <p:cNvPr id="26" name="TextBox 25"/>
          <p:cNvSpPr txBox="1"/>
          <p:nvPr/>
        </p:nvSpPr>
        <p:spPr>
          <a:xfrm>
            <a:off x="92964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Detail</a:t>
            </a:r>
          </a:p>
        </p:txBody>
      </p:sp>
      <p:sp>
        <p:nvSpPr>
          <p:cNvPr id="27" name="TextBox 26"/>
          <p:cNvSpPr txBox="1"/>
          <p:nvPr/>
        </p:nvSpPr>
        <p:spPr>
          <a:xfrm>
            <a:off x="92964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Otevřít koncert</a:t>
            </a:r>
          </a:p>
        </p:txBody>
      </p:sp>
      <p:sp>
        <p:nvSpPr>
          <p:cNvPr id="28" name="TextBox 27"/>
          <p:cNvSpPr txBox="1"/>
          <p:nvPr/>
        </p:nvSpPr>
        <p:spPr>
          <a:xfrm>
            <a:off x="533400" y="5207000"/>
            <a:ext cx="11125200" cy="1016000"/>
          </a:xfrm>
          <a:prstGeom prst="rect">
            <a:avLst/>
          </a:prstGeom>
          <a:noFill/>
        </p:spPr>
        <p:txBody>
          <a:bodyPr wrap="none" lIns="0" rIns="0" tIns="0" bIns="0">
            <a:spAutoFit/>
          </a:bodyPr>
          <a:lstStyle/>
          <a:p>
            <a:pPr>
              <a:lnSpc>
                <a:spcPts val="2108"/>
              </a:lnSpc>
              <a:spcAft>
                <a:spcPts val="0"/>
              </a:spcAft>
              <a:defRPr sz="1700" b="0">
                <a:solidFill>
                  <a:srgbClr val="181817"/>
                </a:solidFill>
                <a:latin typeface="Arial"/>
              </a:defRPr>
            </a:pPr>
            <a:r>
              <a:t>Klávesnice: viditelný focus, dialog a návrat.</a:t>
            </a:r>
          </a:p>
          <a:p>
            <a:pPr>
              <a:lnSpc>
                <a:spcPts val="2108"/>
              </a:lnSpc>
              <a:spcAft>
                <a:spcPts val="0"/>
              </a:spcAft>
              <a:defRPr sz="1700" b="0">
                <a:solidFill>
                  <a:srgbClr val="181817"/>
                </a:solidFill>
                <a:latin typeface="Arial"/>
              </a:defRPr>
            </a:pPr>
            <a:r>
              <a:t>Obsah: stejná data v seznamu i detailu.</a:t>
            </a:r>
          </a:p>
        </p:txBody>
      </p:sp>
      <p:sp>
        <p:nvSpPr>
          <p:cNvPr id="29" name="TextBox 28"/>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30" name="TextBox 29"/>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XML → PŘIBALENÝ EXPORT → ROZHRANÍ</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Zdroj dat zůstává jeden.</a:t>
            </a:r>
          </a:p>
        </p:txBody>
      </p:sp>
      <p:sp>
        <p:nvSpPr>
          <p:cNvPr id="9" name="Rectangle 8"/>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XML jako zdroj</a:t>
            </a:r>
          </a:p>
        </p:txBody>
      </p:sp>
      <p:sp>
        <p:nvSpPr>
          <p:cNvPr id="12" name="TextBox 11"/>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60 jmen, 60 akcí, tarify, kemp a modelová sazba DPH.</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Dvě vybraná data zůstávají přesná i v PDF.</a:t>
            </a:r>
          </a:p>
        </p:txBody>
      </p:sp>
      <p:sp>
        <p:nvSpPr>
          <p:cNvPr id="13" name="Rectangle 12"/>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Přehledný součet</a:t>
            </a:r>
          </a:p>
        </p:txBody>
      </p:sp>
      <p:sp>
        <p:nvSpPr>
          <p:cNvPr id="16" name="TextBox 15"/>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Promo jen na vstupenky, kemp samostatně.</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Ceny obsahují 12% DPH; poplatek objednávky 0 Kč.</a:t>
            </a:r>
          </a:p>
        </p:txBody>
      </p:sp>
      <p:sp>
        <p:nvSpPr>
          <p:cNvPr id="17" name="TextBox 16"/>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2× dvoudenní VIP + PULSE10 + stan pro 2 = 2 774 Kč včetně modelové DPH.</a:t>
            </a:r>
          </a:p>
        </p:txBody>
      </p:sp>
      <p:sp>
        <p:nvSpPr>
          <p:cNvPr id="18" name="TextBox 17"/>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19" name="TextBox 18"/>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OVĚŘENÍ AI A VLASTNÍHO ŘEŠENÍ</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Kontrola má konkrétní výstup.</a:t>
            </a:r>
          </a:p>
        </p:txBody>
      </p:sp>
      <p:sp>
        <p:nvSpPr>
          <p:cNvPr id="9" name="Rectangle 8"/>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Technické důkazy</a:t>
            </a:r>
          </a:p>
        </p:txBody>
      </p:sp>
      <p:sp>
        <p:nvSpPr>
          <p:cNvPr id="12" name="TextBox 11"/>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Datový validátor a browserové průchody.</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Aktuální výsledky: validation_report.md.</a:t>
            </a:r>
          </a:p>
        </p:txBody>
      </p:sp>
      <p:sp>
        <p:nvSpPr>
          <p:cNvPr id="13" name="Rectangle 12"/>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Poctivé limity</a:t>
            </a:r>
          </a:p>
        </p:txBody>
      </p:sp>
      <p:sp>
        <p:nvSpPr>
          <p:cNvPr id="16" name="TextBox 15"/>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Žádná smyšlená měření uživatelů ani peer review.</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Fyzické telefony a plný audit WCAG nejsou doloženy.</a:t>
            </a:r>
          </a:p>
        </p:txBody>
      </p:sp>
      <p:sp>
        <p:nvSpPr>
          <p:cNvPr id="17" name="TextBox 16"/>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Přijato: vlastní identita a mobile-first. Odmítnuto: backend a kopie značky.</a:t>
            </a:r>
          </a:p>
        </p:txBody>
      </p:sp>
      <p:sp>
        <p:nvSpPr>
          <p:cNvPr id="18" name="TextBox 17"/>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19" name="TextBox 18"/>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Prague Pulse Fest — cvičení 04: První funkční implementace</dc:title>
  <dc:subject>Dodatečně připravený milník podle zadání; nikoli doložená historie semestru.</dc:subject>
  <dc:creator>Prague Pulse Fest — projektové podklady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