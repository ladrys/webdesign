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s] Oproti wireframu ukazujeme současný hotový web s vlastní vizuální identitou, češtinou a angličtinou a rozšířenými funkcemi. Základem zůstává HTML, CSS a JavaScript bez backendu a instalačního kroku.  Při prezentaci se zaměříme na mobilní i desktopové zobrazení, funkční navigaci a dva stejné scénáře jako v prototypu.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Proti wireframu máme propojený nákup. Detail interpreta používá jeho skutečné vystoupení a předvyplní den a scénu. Návštěvník může přepnout na jiné dny či společný vstup. U sedadel počet osob vychází z počtu označených míst, u stání ho zadává. Dvoudenní vstup vyžaduje dvě různé zvolené hodnoty. Změna výběru i odebrání z košíku okamžitě přepočítají cenu. Kapacita vychází z platných objednávek a před dokončením se znovu kontroluje. Stejná objednávka je zdrojem historie a PDF, včetně použitého kódu a slevy.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 včetně ukázky] Ukážeme stejnou stránku v úzké a široké podobě. Flexbox se hodí na navigaci a ovládací řádky, Grid na více řad obsahových karet. Pružná typografie a sloupce využívají dostupný prostor. Zkoušíme přetékání, čitelnost, formuláře a dosah na hlavní akce. Prázdný úvod nestačí: rozhraní musí fungovat i s dlouhými názvy, chybovým stavem, otevřeným dialogem nebo naplněným košíkem. Automatické ověření šířek doplňuje vizuální kontrola těchto stavů.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 včetně ukázky] V prvním průchodu vybereme první srpen a River Stage a uložíme koncert. Otevřeme osobní program a po obnovení ověříme zachování výběru. Potom vyhledáme DARKZY a z jeho detailu přejdeme na vstup pro jeho koncert. Ukážeme předvolenou scénu a den, zbývající kapacitu a cenu. Přidáme vstup do košíku a po odebrání zkontrolujeme nový součet. Důležité funkce nejsou pevné odkazy na náhodnou nabídku: hodnoty se odvozují z propojených objektů. Stejné kroky lze zopakovat na telefonu a klávesnicí.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s] Přístupnost řešíme konkrétními prvky: sémantikou, popisky, focusy a chybovými zprávami. Technické SEO stojí na obsahu, jedinečných titulcích a srozumitelném propojení. JSON-LD je strojově čitelný popis festivalu vložený do stránky, nenahrazuje XML zdroj dat. Pro generativní vyhledávání nevytváříme smyšlená hodnocení ani údajně povinný speciální AI soubor. Dokumentace uvádí konkrétní zdroje Google Search Central a WAI a jejich uplatnění. Plnou shodu s WCAG bez auditu netvrdíme.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s] AI pomáhala s grafickým směrem, texty, kódem a testovacími skripty. Přijali jsme vlastní typografickou identitu, ale upravili navigaci a konkrétní obsah podle zpětné vazby. Nepřevzali jsme cizí logo ani serverové řešení. Validátor porovnává XML s přibalenými daty a browserové testy ověřují hledání, účty, ceny i obsazenost. PDF kontrolujeme jako skutečný soubor. Výsledky a limity uvádí validation_report.md. Skutečné fotografie mají kredity; oproti požadavku na AI obrázky jde o výslovně popsanou odchylku, nikoli AI generované portréty. Zaznamenané datové a browserové kontroly prošly; přesný rozsah je v reportu, ne v odhadu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55000" y="0"/>
            <a:ext cx="3937000" cy="68580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55000" y="0"/>
            <a:ext cx="39370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"/>
            <a:ext cx="1097280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652"/>
              </a:lnSpc>
              <a:spcAft>
                <a:spcPts val="0"/>
              </a:spcAft>
              <a:defRPr sz="1400" b="1">
                <a:solidFill>
                  <a:srgbClr val="FF885D"/>
                </a:solidFill>
                <a:latin typeface="Arial"/>
              </a:defRPr>
            </a:pPr>
            <a:r>
              <a:t>CVIČENÍ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193800"/>
            <a:ext cx="10985500" cy="1879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PRAGUE</a:t>
            </a:r>
          </a:p>
          <a:p>
            <a:pPr>
              <a:lnSpc>
                <a:spcPts val="6467"/>
              </a:lnSpc>
              <a:spcAft>
                <a:spcPts val="0"/>
              </a:spcAft>
              <a:defRPr sz="6600" b="1">
                <a:solidFill>
                  <a:srgbClr val="F5F6FA"/>
                </a:solidFill>
                <a:latin typeface="Arial"/>
              </a:defRPr>
            </a:pPr>
            <a:r>
              <a:t>PULSE FEST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492500"/>
            <a:ext cx="10858500" cy="1092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28"/>
              </a:lnSpc>
              <a:spcAft>
                <a:spcPts val="0"/>
              </a:spcAft>
              <a:defRPr sz="3800" b="1">
                <a:solidFill>
                  <a:srgbClr val="FF885D"/>
                </a:solidFill>
                <a:latin typeface="Arial"/>
              </a:defRPr>
            </a:pPr>
            <a:r>
              <a:t>První funkční implementace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889500"/>
            <a:ext cx="10858500" cy="825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Prague Pulse Fest · 1.–3. srpna 2027</a:t>
            </a:r>
          </a:p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Výstaviště Praha · fiktivní festival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880100"/>
            <a:ext cx="10972800" cy="330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F5F6FA"/>
                </a:solidFill>
                <a:latin typeface="Arial"/>
              </a:defRPr>
            </a:pPr>
            <a:r>
              <a:t>Michal Ladra · Matěj Mlejnek · Jan Martínek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PROTI PROTOTYPU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Co přibylo proti prototypu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Seznam, detail, program a vstupenka používají stejná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Detail interpreta předvolí přesný den a scénu nákupu.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Kapacita a cena se mění podle vybraných vstupenek.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Host i účet: objednávka, historie a datové PDF.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ROZLOŽENÍ A OVLÁDÁNÍ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Mobilní a desktopové zobrazení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Flexbox: navigace, tlačítka a řádky formulářů.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Grid: obsahové seznamy a karty podle šířky.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Pružné rozměry místo rozložení pro konkrétní telefon.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Kontrola i s otevřeným menu, dialogem a plným košíkem.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NAVIGACE A INTERAKTIVITA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Dva scénáře ve finálním rozhraní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09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6600" y="2286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247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S1 / 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65700" y="2273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Den a River 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3035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3111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2400" y="3073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Uložit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5700" y="3098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Otevřít můj program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8608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600" y="39370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400" y="38989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S2 / Interpret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700" y="39243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Vyhledat DARKZY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86300"/>
            <a:ext cx="609600" cy="482600"/>
          </a:xfrm>
          <a:prstGeom prst="rect">
            <a:avLst/>
          </a:prstGeom>
          <a:solidFill>
            <a:srgbClr val="1D22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600" y="4762500"/>
            <a:ext cx="482600" cy="368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477"/>
              </a:lnSpc>
              <a:spcAft>
                <a:spcPts val="0"/>
              </a:spcAft>
              <a:defRPr sz="2100" b="1">
                <a:solidFill>
                  <a:srgbClr val="FF885D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2400" y="4724400"/>
            <a:ext cx="3403600" cy="685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832"/>
              </a:lnSpc>
              <a:spcAft>
                <a:spcPts val="0"/>
              </a:spcAft>
              <a:defRPr sz="2400" b="1">
                <a:solidFill>
                  <a:srgbClr val="F5F6FA"/>
                </a:solidFill>
                <a:latin typeface="Arial"/>
              </a:defRPr>
            </a:pPr>
            <a:r>
              <a:t>Vstupenka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700" y="4749800"/>
            <a:ext cx="6515100" cy="698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713"/>
              </a:lnSpc>
              <a:spcAft>
                <a:spcPts val="0"/>
              </a:spcAft>
              <a:defRPr sz="2300" b="0">
                <a:solidFill>
                  <a:srgbClr val="B7BFCC"/>
                </a:solidFill>
                <a:latin typeface="Arial"/>
              </a:defRPr>
            </a:pPr>
            <a:r>
              <a:t>Správný den a Club 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651500"/>
            <a:ext cx="10972800" cy="508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2124"/>
              </a:lnSpc>
              <a:spcAft>
                <a:spcPts val="0"/>
              </a:spcAft>
              <a:defRPr sz="1800" b="0">
                <a:solidFill>
                  <a:srgbClr val="B7BFCC"/>
                </a:solidFill>
                <a:latin typeface="Arial"/>
              </a:defRPr>
            </a:pPr>
            <a:r>
              <a:t>Ukázka: navigace, změna výsledků a práce s klávesnicí.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POUŽITÉ POSTUPY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Konkrétní principy UX, přístupnosti a SEO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Sémantické nadpisy, landmarky, popisky a viditelný focus.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Textové chyby formulářů a podpora omezeného pohybu.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Konkrétní titulky, popisy stránek a vnitřní odkazy.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JSON-LD popisuje festival; údaje mají odpovídat stránce.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2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444500"/>
            <a:ext cx="10972800" cy="279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534"/>
              </a:lnSpc>
              <a:spcAft>
                <a:spcPts val="0"/>
              </a:spcAft>
              <a:defRPr sz="1300" b="1">
                <a:solidFill>
                  <a:srgbClr val="B7BFCC"/>
                </a:solidFill>
                <a:latin typeface="Arial"/>
              </a:defRPr>
            </a:pPr>
            <a:r>
              <a:t>DŮKAZ JE VE VÝSLEDKU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76300"/>
            <a:ext cx="685800" cy="508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206500"/>
            <a:ext cx="10998200" cy="11303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4032"/>
              </a:lnSpc>
              <a:spcAft>
                <a:spcPts val="0"/>
              </a:spcAft>
              <a:defRPr sz="3600" b="1">
                <a:solidFill>
                  <a:srgbClr val="F5F6FA"/>
                </a:solidFill>
                <a:latin typeface="Arial"/>
              </a:defRPr>
            </a:pPr>
            <a:r>
              <a:t>AI a kontrola implementace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1200" y="23368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800" y="22098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AI: návrh rozhraní, obsah, kód a pomocné testy.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1200" y="30099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6800" y="28829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Upraveno: mobilní navigace, biografie a součty objednávky.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1200" y="36830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6800" y="35560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Odmítnuto: kopie cizí značky a backend mimo zadání.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1200" y="4356100"/>
            <a:ext cx="101600" cy="101600"/>
          </a:xfrm>
          <a:prstGeom prst="rect">
            <a:avLst/>
          </a:prstGeom>
          <a:solidFill>
            <a:srgbClr val="FF8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6800" y="4229100"/>
            <a:ext cx="10160000" cy="4191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3360"/>
              </a:lnSpc>
              <a:spcAft>
                <a:spcPts val="0"/>
              </a:spcAft>
              <a:defRPr sz="2800" b="0">
                <a:solidFill>
                  <a:srgbClr val="F5F6FA"/>
                </a:solidFill>
                <a:latin typeface="Arial"/>
              </a:defRPr>
            </a:pPr>
            <a:r>
              <a:t>Ověřeno: XML, browserové scénáře a obsah výsledného PDF.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6273800"/>
            <a:ext cx="10972800" cy="12700"/>
          </a:xfrm>
          <a:prstGeom prst="rect">
            <a:avLst/>
          </a:prstGeom>
          <a:solidFill>
            <a:srgbClr val="3D4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" y="6464300"/>
            <a:ext cx="9906000" cy="20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297"/>
              </a:lnSpc>
              <a:spcAft>
                <a:spcPts val="0"/>
              </a:spcAft>
              <a:defRPr sz="1100" b="0">
                <a:solidFill>
                  <a:srgbClr val="B7BFCC"/>
                </a:solidFill>
                <a:latin typeface="Arial"/>
              </a:defRPr>
            </a:pPr>
            <a:r>
              <a:t>Prague Pulse Fest · Výstaviště Praha ·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8900"/>
            <a:ext cx="609600" cy="215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lnSpc>
                <a:spcPts val="1416"/>
              </a:lnSpc>
              <a:spcAft>
                <a:spcPts val="0"/>
              </a:spcAft>
              <a:defRPr sz="1200" b="0">
                <a:solidFill>
                  <a:srgbClr val="B7BFCC"/>
                </a:solidFill>
                <a:latin typeface="Arial"/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Prague Pulse Fest — cvičení 04: První funkční implementace</dc:title>
  <dc:subject>Webdesign: návrh, data, uživatelské scénáře a ověření Prague Pulse Fest.</dc:subject>
  <dc:creator>Michal Ladra, Matěj Mlejnek, Jan Martínek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