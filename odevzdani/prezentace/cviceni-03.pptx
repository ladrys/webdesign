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s] Oproti specifikaci máme spustitelný HTML wireframe. Otevře se bez instalace a používá stejnou datovou základnu jako web. Záměrně má jednoduchou grafiku: ověřujeme pořadí obsahu, navigaci a dva klíčové scénáře. Prototyp není šablona, kterou by hotový web při spuštění načítal; je to samostatná návrhová ukázka.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s] Mobile-first zde znamená navrhnout použitelný úzký základ, ne pouze zmenšit desktop. Návštěvník nejprve vidí hledání a důležitý obsah, podrobnosti následují. Filtry zůstávají dostupné bez vodorovného posouvání celé stránky. Na desktopu se seznam rozšíří do více sloupců, význam tlačítek ale zůstává stejný. Flexbox obsluhuje navigaci a Grid obsahové karty. Už ve wireframu kontrolujeme popisky a klávesnici, abychom problémy neodkládali až na finální grafiku.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s] První funkce kombinuje den a scénu; seznam musí splnit obě podmínky současně. Druhá ukládá vybraná vystoupení a umožní zobrazit pouze osobní program. Třetí hledá podle části názvu a propojuje detail s koncertem. Hledání nerozlišuje velikost písmen ani diakritiku. Menu nebo slideshow nepovažujeme za samostatnou požadovanou interakci. Každá zde uvedená funkce mění obsah nebo uchovává uživatelovo rozhodnutí a navazuje na potřebu ze specifikace.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 včetně ukázky] Otevřeme prototyp, přejdeme na Program a zvolíme první srpen s River Stage. Ověříme datum a scénu výsledků, ne jen počet karet. Vybraný koncert uložíme a zapneme Jen uložené. Po obnovení stránky se k výběru vrátíme. Pokud není žádný výsledek, rozhraní má nabídnout pochopitelnou cestu ke změně filtrů. Při kontrole musí uložené ID odpovídat stejnému vystoupení ve zdrojových datech.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 včetně ukázky] Do hledání zadáme DARKZY a otevřeme detail stejnojmenného interpreta. Z detailu přejdeme do jeho programu. Ukážeme správný čas a scénu a zavření dialogu klávesou Escape. Vyzkoušíme také dotaz bez výsledku. Přesné vazby porovnáváme s daty, nikoli s tím, zda výsledek vypadá věrohodně. Zadaný text musí být vykreslený jako text, proto kontrolujeme i vstup připomínající HTML. Výsledky jsou zaznamenané v prototype-validation.md.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s] AI vytvořila návrh rozložení a část kódu. Přijali jsme propojení filtrů a detailů, upravili pořadí obsahu pro malé displeje a odmítli pouhou slideshow jako důkaz interaktivity. Samostatný test prochází dva scénáře, obnovu uloženého programu, vyhledávání a dialog. V určených šířkách kontroluje přetékání. Konkrétní výstup je přiložen, samotný návrh AI není validace. Prototyp zatím nezahrnuje objednávku, PDF ani jazykové mutace; ty ukazuje následující implementační milník. Přiložený test prošel bez chyb běhu a potvrdil zachování uloženého programu.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55000" y="0"/>
            <a:ext cx="3937000" cy="6858000"/>
          </a:xfrm>
          <a:prstGeom prst="rect">
            <a:avLst/>
          </a:prstGeom>
          <a:solidFill>
            <a:srgbClr val="1D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5000" y="0"/>
            <a:ext cx="39370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4610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400" b="1">
                <a:solidFill>
                  <a:srgbClr val="FF885D"/>
                </a:solidFill>
                <a:latin typeface="Arial"/>
              </a:defRPr>
            </a:pPr>
            <a:r>
              <a:t>CVIČENÍ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193800"/>
            <a:ext cx="10985500" cy="187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6467"/>
              </a:lnSpc>
              <a:spcAft>
                <a:spcPts val="0"/>
              </a:spcAft>
              <a:defRPr sz="6600" b="1">
                <a:solidFill>
                  <a:srgbClr val="F5F6FA"/>
                </a:solidFill>
                <a:latin typeface="Arial"/>
              </a:defRPr>
            </a:pPr>
            <a:r>
              <a:t>PRAGUE</a:t>
            </a:r>
          </a:p>
          <a:p>
            <a:pPr>
              <a:lnSpc>
                <a:spcPts val="6467"/>
              </a:lnSpc>
              <a:spcAft>
                <a:spcPts val="0"/>
              </a:spcAft>
              <a:defRPr sz="6600" b="1">
                <a:solidFill>
                  <a:srgbClr val="F5F6FA"/>
                </a:solidFill>
                <a:latin typeface="Arial"/>
              </a:defRPr>
            </a:pPr>
            <a:r>
              <a:t>PULSE 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92500"/>
            <a:ext cx="10858500" cy="1092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28"/>
              </a:lnSpc>
              <a:spcAft>
                <a:spcPts val="0"/>
              </a:spcAft>
              <a:defRPr sz="3800" b="1">
                <a:solidFill>
                  <a:srgbClr val="FF885D"/>
                </a:solidFill>
                <a:latin typeface="Arial"/>
              </a:defRPr>
            </a:pPr>
            <a:r>
              <a:t>UX návrh a prototyp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889500"/>
            <a:ext cx="10858500" cy="825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Prague Pulse Fest · 1.–3. srpna 2027</a:t>
            </a:r>
          </a:p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Výstaviště Praha · fiktivní festival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880100"/>
            <a:ext cx="10972800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24"/>
              </a:lnSpc>
              <a:spcAft>
                <a:spcPts val="0"/>
              </a:spcAft>
              <a:defRPr sz="1800" b="0">
                <a:solidFill>
                  <a:srgbClr val="F5F6FA"/>
                </a:solidFill>
                <a:latin typeface="Arial"/>
              </a:defRPr>
            </a:pPr>
            <a:r>
              <a:t>Michal Ladra · Matěj Mlejnek · Jan Martínek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Prague Pulse Fest · Výstaviště Praha ·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44500"/>
            <a:ext cx="109728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B7BFCC"/>
                </a:solidFill>
                <a:latin typeface="Arial"/>
              </a:defRPr>
            </a:pPr>
            <a:r>
              <a:t>HLAVNÍ NÁVRHOVÁ ROZHODNUTÍ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76300"/>
            <a:ext cx="685800" cy="508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1206500"/>
            <a:ext cx="10998200" cy="1130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32"/>
              </a:lnSpc>
              <a:spcAft>
                <a:spcPts val="0"/>
              </a:spcAft>
              <a:defRPr sz="3600" b="1">
                <a:solidFill>
                  <a:srgbClr val="F5F6FA"/>
                </a:solidFill>
                <a:latin typeface="Arial"/>
              </a:defRPr>
            </a:pPr>
            <a:r>
              <a:t>Od specifikace k wireframu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23368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2098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Nově: spustitelný wireframe a dva průchozí scénáře.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30099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8829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Mobil: jeden sloupec, hlavní úkol před doplňujícím obsahem.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36830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5560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Desktop: stejné funkce, více karet podle šířky.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43561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42291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Popisky, viditelný focus a zalamování navigace i filtrů.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Prague Pulse Fest · Výstaviště Praha ·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44500"/>
            <a:ext cx="109728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B7BFCC"/>
                </a:solidFill>
                <a:latin typeface="Arial"/>
              </a:defRPr>
            </a:pPr>
            <a:r>
              <a:t>INTERAKTIVITA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76300"/>
            <a:ext cx="685800" cy="508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1206500"/>
            <a:ext cx="10998200" cy="1130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32"/>
              </a:lnSpc>
              <a:spcAft>
                <a:spcPts val="0"/>
              </a:spcAft>
              <a:defRPr sz="3600" b="1">
                <a:solidFill>
                  <a:srgbClr val="F5F6FA"/>
                </a:solidFill>
                <a:latin typeface="Arial"/>
              </a:defRPr>
            </a:pPr>
            <a:r>
              <a:t>Tři funkce řeší konkrétní potřeby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23368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2098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Filtr dne a scény → najít relevantní část programu.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30099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8829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Osobní program → uložit výběr a vrátit se k němu.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36830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5560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Hledání a detail → přejít od jména ke konkrétnímu koncertu.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Prague Pulse Fest · Výstaviště Praha ·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44500"/>
            <a:ext cx="109728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B7BFCC"/>
                </a:solidFill>
                <a:latin typeface="Arial"/>
              </a:defRPr>
            </a:pPr>
            <a:r>
              <a:t>UKÁZKA V PROTOTYPU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76300"/>
            <a:ext cx="685800" cy="508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1206500"/>
            <a:ext cx="10998200" cy="1130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32"/>
              </a:lnSpc>
              <a:spcAft>
                <a:spcPts val="0"/>
              </a:spcAft>
              <a:defRPr sz="3600" b="1">
                <a:solidFill>
                  <a:srgbClr val="F5F6FA"/>
                </a:solidFill>
                <a:latin typeface="Arial"/>
              </a:defRPr>
            </a:pPr>
            <a:r>
              <a:t>S1: sestavení osobního programu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09800"/>
            <a:ext cx="609600" cy="482600"/>
          </a:xfrm>
          <a:prstGeom prst="rect">
            <a:avLst/>
          </a:prstGeom>
          <a:solidFill>
            <a:srgbClr val="1D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600" y="2286000"/>
            <a:ext cx="4826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Aft>
                <a:spcPts val="0"/>
              </a:spcAft>
              <a:defRPr sz="2100" b="1">
                <a:solidFill>
                  <a:srgbClr val="FF885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2400" y="2247900"/>
            <a:ext cx="340360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32"/>
              </a:lnSpc>
              <a:spcAft>
                <a:spcPts val="0"/>
              </a:spcAft>
              <a:defRPr sz="2400" b="1">
                <a:solidFill>
                  <a:srgbClr val="F5F6FA"/>
                </a:solidFill>
                <a:latin typeface="Arial"/>
              </a:defRPr>
            </a:pPr>
            <a:r>
              <a:t>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700" y="2273300"/>
            <a:ext cx="6515100" cy="698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Otevřít seznam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035300"/>
            <a:ext cx="609600" cy="482600"/>
          </a:xfrm>
          <a:prstGeom prst="rect">
            <a:avLst/>
          </a:prstGeom>
          <a:solidFill>
            <a:srgbClr val="1D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3111500"/>
            <a:ext cx="4826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Aft>
                <a:spcPts val="0"/>
              </a:spcAft>
              <a:defRPr sz="2100" b="1">
                <a:solidFill>
                  <a:srgbClr val="FF885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2400" y="3073400"/>
            <a:ext cx="340360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32"/>
              </a:lnSpc>
              <a:spcAft>
                <a:spcPts val="0"/>
              </a:spcAft>
              <a:defRPr sz="2400" b="1">
                <a:solidFill>
                  <a:srgbClr val="F5F6FA"/>
                </a:solidFill>
                <a:latin typeface="Arial"/>
              </a:defRPr>
            </a:pPr>
            <a:r>
              <a:t>Den a scéna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700" y="3098800"/>
            <a:ext cx="6515100" cy="698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1. 8. / River Stage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860800"/>
            <a:ext cx="609600" cy="482600"/>
          </a:xfrm>
          <a:prstGeom prst="rect">
            <a:avLst/>
          </a:prstGeom>
          <a:solidFill>
            <a:srgbClr val="1D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600" y="3937000"/>
            <a:ext cx="4826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Aft>
                <a:spcPts val="0"/>
              </a:spcAft>
              <a:defRPr sz="2100" b="1">
                <a:solidFill>
                  <a:srgbClr val="FF885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2400" y="3898900"/>
            <a:ext cx="340360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32"/>
              </a:lnSpc>
              <a:spcAft>
                <a:spcPts val="0"/>
              </a:spcAft>
              <a:defRPr sz="2400" b="1">
                <a:solidFill>
                  <a:srgbClr val="F5F6FA"/>
                </a:solidFill>
                <a:latin typeface="Arial"/>
              </a:defRPr>
            </a:pPr>
            <a:r>
              <a:t>Uložit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700" y="3924300"/>
            <a:ext cx="6515100" cy="698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Vybrat koncert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4686300"/>
            <a:ext cx="609600" cy="482600"/>
          </a:xfrm>
          <a:prstGeom prst="rect">
            <a:avLst/>
          </a:prstGeom>
          <a:solidFill>
            <a:srgbClr val="1D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600" y="4762500"/>
            <a:ext cx="4826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Aft>
                <a:spcPts val="0"/>
              </a:spcAft>
              <a:defRPr sz="2100" b="1">
                <a:solidFill>
                  <a:srgbClr val="FF885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2400" y="4724400"/>
            <a:ext cx="340360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32"/>
              </a:lnSpc>
              <a:spcAft>
                <a:spcPts val="0"/>
              </a:spcAft>
              <a:defRPr sz="2400" b="1">
                <a:solidFill>
                  <a:srgbClr val="F5F6FA"/>
                </a:solidFill>
                <a:latin typeface="Arial"/>
              </a:defRPr>
            </a:pPr>
            <a:r>
              <a:t>Můj výběr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700" y="4749800"/>
            <a:ext cx="6515100" cy="698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Obnovit stránku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651500"/>
            <a:ext cx="10972800" cy="508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24"/>
              </a:lnSpc>
              <a:spcAft>
                <a:spcPts val="0"/>
              </a:spcAft>
              <a:defRPr sz="1800" b="0">
                <a:solidFill>
                  <a:srgbClr val="B7BFCC"/>
                </a:solidFill>
                <a:latin typeface="Arial"/>
              </a:defRPr>
            </a:pPr>
            <a:r>
              <a:t>Očekávaný výsledek: správný filtr a zachovaný výběr.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Prague Pulse Fest · Výstaviště Praha ·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44500"/>
            <a:ext cx="109728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B7BFCC"/>
                </a:solidFill>
                <a:latin typeface="Arial"/>
              </a:defRPr>
            </a:pPr>
            <a:r>
              <a:t>UKÁZKA V PROTOTYPU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76300"/>
            <a:ext cx="685800" cy="508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1206500"/>
            <a:ext cx="10998200" cy="1130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32"/>
              </a:lnSpc>
              <a:spcAft>
                <a:spcPts val="0"/>
              </a:spcAft>
              <a:defRPr sz="3600" b="1">
                <a:solidFill>
                  <a:srgbClr val="F5F6FA"/>
                </a:solidFill>
                <a:latin typeface="Arial"/>
              </a:defRPr>
            </a:pPr>
            <a:r>
              <a:t>S2: od hledání ke koncertu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09800"/>
            <a:ext cx="609600" cy="482600"/>
          </a:xfrm>
          <a:prstGeom prst="rect">
            <a:avLst/>
          </a:prstGeom>
          <a:solidFill>
            <a:srgbClr val="1D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600" y="2286000"/>
            <a:ext cx="4826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Aft>
                <a:spcPts val="0"/>
              </a:spcAft>
              <a:defRPr sz="2100" b="1">
                <a:solidFill>
                  <a:srgbClr val="FF885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2400" y="2247900"/>
            <a:ext cx="340360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32"/>
              </a:lnSpc>
              <a:spcAft>
                <a:spcPts val="0"/>
              </a:spcAft>
              <a:defRPr sz="2400" b="1">
                <a:solidFill>
                  <a:srgbClr val="F5F6FA"/>
                </a:solidFill>
                <a:latin typeface="Arial"/>
              </a:defRPr>
            </a:pPr>
            <a:r>
              <a:t>DARKZY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700" y="2273300"/>
            <a:ext cx="6515100" cy="698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Zadat dotaz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035300"/>
            <a:ext cx="609600" cy="482600"/>
          </a:xfrm>
          <a:prstGeom prst="rect">
            <a:avLst/>
          </a:prstGeom>
          <a:solidFill>
            <a:srgbClr val="1D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3111500"/>
            <a:ext cx="4826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Aft>
                <a:spcPts val="0"/>
              </a:spcAft>
              <a:defRPr sz="2100" b="1">
                <a:solidFill>
                  <a:srgbClr val="FF885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2400" y="3073400"/>
            <a:ext cx="340360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32"/>
              </a:lnSpc>
              <a:spcAft>
                <a:spcPts val="0"/>
              </a:spcAft>
              <a:defRPr sz="2400" b="1">
                <a:solidFill>
                  <a:srgbClr val="F5F6FA"/>
                </a:solidFill>
                <a:latin typeface="Arial"/>
              </a:defRPr>
            </a:pPr>
            <a:r>
              <a:t>Výsledek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700" y="3098800"/>
            <a:ext cx="6515100" cy="698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Vybrat interpreta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860800"/>
            <a:ext cx="609600" cy="482600"/>
          </a:xfrm>
          <a:prstGeom prst="rect">
            <a:avLst/>
          </a:prstGeom>
          <a:solidFill>
            <a:srgbClr val="1D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600" y="3937000"/>
            <a:ext cx="4826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Aft>
                <a:spcPts val="0"/>
              </a:spcAft>
              <a:defRPr sz="2100" b="1">
                <a:solidFill>
                  <a:srgbClr val="FF885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2400" y="3898900"/>
            <a:ext cx="340360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32"/>
              </a:lnSpc>
              <a:spcAft>
                <a:spcPts val="0"/>
              </a:spcAft>
              <a:defRPr sz="2400" b="1">
                <a:solidFill>
                  <a:srgbClr val="F5F6FA"/>
                </a:solidFill>
                <a:latin typeface="Arial"/>
              </a:defRPr>
            </a:pPr>
            <a:r>
              <a:t>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700" y="3924300"/>
            <a:ext cx="6515100" cy="698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Jméno a popis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4686300"/>
            <a:ext cx="609600" cy="482600"/>
          </a:xfrm>
          <a:prstGeom prst="rect">
            <a:avLst/>
          </a:prstGeom>
          <a:solidFill>
            <a:srgbClr val="1D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600" y="4762500"/>
            <a:ext cx="4826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Aft>
                <a:spcPts val="0"/>
              </a:spcAft>
              <a:defRPr sz="2100" b="1">
                <a:solidFill>
                  <a:srgbClr val="FF885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2400" y="4724400"/>
            <a:ext cx="340360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32"/>
              </a:lnSpc>
              <a:spcAft>
                <a:spcPts val="0"/>
              </a:spcAft>
              <a:defRPr sz="2400" b="1">
                <a:solidFill>
                  <a:srgbClr val="F5F6FA"/>
                </a:solidFill>
                <a:latin typeface="Arial"/>
              </a:defRPr>
            </a:pPr>
            <a:r>
              <a:t>Koncert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700" y="4749800"/>
            <a:ext cx="6515100" cy="698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13"/>
              </a:lnSpc>
              <a:spcAft>
                <a:spcPts val="0"/>
              </a:spcAft>
              <a:defRPr sz="2300" b="0">
                <a:solidFill>
                  <a:srgbClr val="B7BFCC"/>
                </a:solidFill>
                <a:latin typeface="Arial"/>
              </a:defRPr>
            </a:pPr>
            <a:r>
              <a:t>Datum, čas a scéna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651500"/>
            <a:ext cx="10972800" cy="508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24"/>
              </a:lnSpc>
              <a:spcAft>
                <a:spcPts val="0"/>
              </a:spcAft>
              <a:defRPr sz="1800" b="0">
                <a:solidFill>
                  <a:srgbClr val="B7BFCC"/>
                </a:solidFill>
                <a:latin typeface="Arial"/>
              </a:defRPr>
            </a:pPr>
            <a:r>
              <a:t>Očekávaný výsledek: detail a program používají stejná data.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Prague Pulse Fest · Výstaviště Praha ·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44500"/>
            <a:ext cx="109728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B7BFCC"/>
                </a:solidFill>
                <a:latin typeface="Arial"/>
              </a:defRPr>
            </a:pPr>
            <a:r>
              <a:t>PŘIJATO, UPRAVENO, ZKONTROLOVÁNO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76300"/>
            <a:ext cx="685800" cy="508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200" y="1206500"/>
            <a:ext cx="10998200" cy="1130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32"/>
              </a:lnSpc>
              <a:spcAft>
                <a:spcPts val="0"/>
              </a:spcAft>
              <a:defRPr sz="3600" b="1">
                <a:solidFill>
                  <a:srgbClr val="F5F6FA"/>
                </a:solidFill>
                <a:latin typeface="Arial"/>
              </a:defRPr>
            </a:pPr>
            <a:r>
              <a:t>AI a ověření prototypu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23368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2098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AI: wireframe, návrh textů a obsluha dat.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30099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8829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Přijato: filtry; upraveno: hierarchie obsahu pro mobil.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36830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5560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Ověřeno: scénáře, uložení, dialog a šířky 320 / 768 / 1440 px.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4356100"/>
            <a:ext cx="101600" cy="101600"/>
          </a:xfrm>
          <a:prstGeom prst="rect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4229100"/>
            <a:ext cx="10160000" cy="419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5F6FA"/>
                </a:solidFill>
                <a:latin typeface="Arial"/>
              </a:defRPr>
            </a:pPr>
            <a:r>
              <a:t>Výsledky porovnány s očekávanými ID ve zdrojových datech.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6273800"/>
            <a:ext cx="10972800" cy="12700"/>
          </a:xfrm>
          <a:prstGeom prst="rect">
            <a:avLst/>
          </a:prstGeom>
          <a:solidFill>
            <a:srgbClr val="3D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6464300"/>
            <a:ext cx="9906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B7BFCC"/>
                </a:solidFill>
                <a:latin typeface="Arial"/>
              </a:defRPr>
            </a:pPr>
            <a:r>
              <a:t>Prague Pulse Fest · Výstaviště Praha ·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8900"/>
            <a:ext cx="609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0">
                <a:solidFill>
                  <a:srgbClr val="B7BFCC"/>
                </a:solidFill>
                <a:latin typeface="Arial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Prague Pulse Fest — cvičení 03: UX návrh a interaktivní prototyp</dc:title>
  <dc:subject>Webdesign: návrh, data, uživatelské scénáře a ověření Prague Pulse Fest.</dc:subject>
  <dc:creator>Michal Ladra, Matěj Mlejnek, Jan Martínek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