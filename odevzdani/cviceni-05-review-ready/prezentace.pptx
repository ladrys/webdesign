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Předáváme současnou review-ready verzi druhému týmu. Balíček obsahuje web, specifikaci, data a progress popisující stav i omezení. Materiál je připraven dodatečně ze současné implementace a nevydáváme jej za historicky doložené odevzdání. Reviewer nemusí instalovat framework ani server. Naším cílem je, aby mohl nezávisle projít klíčové úkoly a zaznamenat reprodukovatelné nálezy. Dnes nepředstavujeme výsledky cizího hodnocení; ty zatím nebyly poskytnuty.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Web obsahuje všechny hlavní obsahové části, takže hodnocení nemusí stát na prázdných zástupných stránkách. K dispozici je šedesát interpretů a vystoupení během tří dnů na třech scénách. Vyhledávání a filtry mají skutečný datový podklad. Doplňkové cesty zahrnují lokalitu, jazykovou volbu a objednávku. Čísla dokazují rozsah obsahu, nikoli automaticky kvalitu UX. Proto předáváme konkrétní scénáře, očekávané výsledky a známé limity, aby review nezůstalo u obecného dojmu z grafiky.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Hodnotitelům doporučujeme nejprve plánování programu. Důkazem není kliknutí na tlačítko, ale správně omezený seznam a zachování oblíbeného po obnovení. Druhý úkol sleduje cestu od části názvu interpreta k času jeho koncertu. Třetí úkol kontroluje porozumění tarifům, košík a výstup PDF. Použijte smyšlené údaje, protože nejde o skutečný nákup. U každého úkolu zaznamenejte, kde vznikla nejistota, co se očekávalo a co rozhraní udělalo ve skutečnosti.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Vlastní kontroly mají reviewerům ušetřit čas na základních chybách. Datový validátor ověřuje reference a odvozený export, browserové testy důležité interakce a různé šířky. Zvlášť kontrolujeme vyplněný košík a výsledný PDF dokument. Aktuální záznam je přiložen, včetně limitů. Automatický test ovšem nepozná každou nejasnou formulaci ani nevhodné pořadí informací. Právě proto potřebujeme nezávislé expertní hodnocení a skutečný průchod uživatelskými scénáři druhého týmu.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 důležité nehodnotit klientský školní projekt jako produkční ticketing. Účty a obsazenost se nešíří mezi zařízeními, PDF se stahuje místně a e-mail se automaticky neposílá. Mapa je doplněk závislý na připojení. Známé jsou také limity ověření: nemáme plný audit se čtečkou, všechna fyzická zařízení ani doložený výzkum s návštěvníky. Tyto informace neomlouvají chyby v základních scénářích, ale dávají reviewerům správný kontext a brání zavádějícím závěrům.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Prosíme o nálezy s přesnými kroky, důkazem a vysvětlením dopadu. Závažnost odvozujte od toho, zda problém blokuje cíl, způsobuje opakované chyby nebo jde o drobnost. Použít lze Nielsenovy heuristiky a kognitivní průchod; vlastní vizuální preference samy o sobě nejsou závada. AI může pomoci strukturovat záznam, ale každý problém musí člověk reprodukovat. Po přijetí review zapíšeme rozhodnutí a provedenou změnu do dokumentace. Zatím žádné skutečné review od druhého týmu poskytnuto nebylo.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51900" y="0"/>
            <a:ext cx="3340100" cy="68580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381000"/>
            <a:ext cx="2476500" cy="350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6"/>
              </a:lnSpc>
              <a:spcAft>
                <a:spcPts val="0"/>
              </a:spcAft>
              <a:defRPr sz="1820" b="1">
                <a:solidFill>
                  <a:srgbClr val="F4F0E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28650"/>
            <a:ext cx="2476500" cy="5138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46"/>
              </a:lnSpc>
              <a:spcAft>
                <a:spcPts val="0"/>
              </a:spcAft>
              <a:defRPr sz="2860" b="1">
                <a:solidFill>
                  <a:srgbClr val="F4F0E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041400"/>
            <a:ext cx="2641600" cy="196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7"/>
              </a:lnSpc>
              <a:spcAft>
                <a:spcPts val="0"/>
              </a:spcAft>
              <a:defRPr sz="845" b="1">
                <a:solidFill>
                  <a:srgbClr val="F4F0E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2266950" y="463550"/>
            <a:ext cx="115570" cy="56134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1536700"/>
            <a:ext cx="7874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1">
                <a:solidFill>
                  <a:srgbClr val="F4F0E7"/>
                </a:solidFill>
                <a:latin typeface="Arial"/>
              </a:defRPr>
            </a:pPr>
            <a:r>
              <a:t>CVIČENÍ 05 / REVIEW-READY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133600"/>
            <a:ext cx="8001000" cy="2095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830"/>
              </a:lnSpc>
              <a:spcAft>
                <a:spcPts val="0"/>
              </a:spcAft>
              <a:defRPr sz="5500" b="1">
                <a:solidFill>
                  <a:srgbClr val="F4F0E7"/>
                </a:solidFill>
                <a:latin typeface="Arial"/>
              </a:defRPr>
            </a:pPr>
            <a:r>
              <a:t>Připraveno</a:t>
            </a:r>
          </a:p>
          <a:p>
            <a:pPr>
              <a:lnSpc>
                <a:spcPts val="5830"/>
              </a:lnSpc>
              <a:spcAft>
                <a:spcPts val="0"/>
              </a:spcAft>
              <a:defRPr sz="5500" b="1">
                <a:solidFill>
                  <a:srgbClr val="F4F0E7"/>
                </a:solidFill>
                <a:latin typeface="Arial"/>
              </a:defRPr>
            </a:pPr>
            <a:r>
              <a:t>ke kontrole.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724400"/>
            <a:ext cx="7747000" cy="1104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Aft>
                <a:spcPts val="0"/>
              </a:spcAft>
              <a:defRPr sz="1900" b="0">
                <a:solidFill>
                  <a:srgbClr val="F4F0E7"/>
                </a:solidFill>
                <a:latin typeface="Arial"/>
              </a:defRPr>
            </a:pPr>
            <a:r>
              <a:t>Spustitelný web + specifikace + data.</a:t>
            </a:r>
          </a:p>
          <a:p>
            <a:pPr>
              <a:lnSpc>
                <a:spcPts val="2356"/>
              </a:lnSpc>
              <a:spcAft>
                <a:spcPts val="0"/>
              </a:spcAft>
              <a:defRPr sz="1900" b="0">
                <a:solidFill>
                  <a:srgbClr val="F4F0E7"/>
                </a:solidFill>
                <a:latin typeface="Arial"/>
              </a:defRPr>
            </a:pPr>
            <a:r>
              <a:t>Přesné scénáře pro hodnotící tým.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0200" y="889000"/>
            <a:ext cx="2667000" cy="9611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067"/>
              </a:lnSpc>
              <a:spcAft>
                <a:spcPts val="0"/>
              </a:spcAft>
              <a:defRPr sz="5700" b="1">
                <a:solidFill>
                  <a:srgbClr val="181817"/>
                </a:solidFill>
                <a:latin typeface="Arial"/>
              </a:defRPr>
            </a:pPr>
            <a:r>
              <a:t>1—3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0200" y="1765300"/>
            <a:ext cx="2667000" cy="551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4"/>
              </a:lnSpc>
              <a:spcAft>
                <a:spcPts val="0"/>
              </a:spcAft>
              <a:defRPr sz="3100" b="1">
                <a:solidFill>
                  <a:srgbClr val="181817"/>
                </a:solidFill>
                <a:latin typeface="Arial"/>
              </a:defRPr>
            </a:pPr>
            <a:r>
              <a:t>SRPEN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0200" y="2247900"/>
            <a:ext cx="2667000" cy="7249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208"/>
              </a:lnSpc>
              <a:spcAft>
                <a:spcPts val="0"/>
              </a:spcAft>
              <a:defRPr sz="4200" b="1">
                <a:solidFill>
                  <a:srgbClr val="181817"/>
                </a:solidFill>
                <a:latin typeface="Arial"/>
              </a:defRPr>
            </a:pPr>
            <a:r>
              <a:t>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0200" y="3619500"/>
            <a:ext cx="25400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Aft>
                <a:spcPts val="0"/>
              </a:spcAft>
              <a:defRPr sz="1700" b="1">
                <a:solidFill>
                  <a:srgbClr val="181817"/>
                </a:solidFill>
                <a:latin typeface="Arial"/>
              </a:defRPr>
            </a:pPr>
            <a:r>
              <a:t>PRAHA</a:t>
            </a:r>
          </a:p>
          <a:p>
            <a:pPr>
              <a:lnSpc>
                <a:spcPts val="2108"/>
              </a:lnSpc>
              <a:spcAft>
                <a:spcPts val="0"/>
              </a:spcAft>
              <a:defRPr sz="1700" b="1">
                <a:solidFill>
                  <a:srgbClr val="181817"/>
                </a:solidFill>
                <a:latin typeface="Arial"/>
              </a:defRPr>
            </a:pPr>
            <a:r>
              <a:t>VLTAVA PARK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200" y="5054600"/>
            <a:ext cx="2540000" cy="8823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24"/>
              </a:lnSpc>
              <a:spcAft>
                <a:spcPts val="0"/>
              </a:spcAft>
              <a:defRPr sz="2600" b="1">
                <a:solidFill>
                  <a:srgbClr val="181817"/>
                </a:solidFill>
                <a:latin typeface="Arial"/>
              </a:defRPr>
            </a:pPr>
            <a:r>
              <a:t>CVIČENÍ</a:t>
            </a:r>
          </a:p>
          <a:p>
            <a:pPr>
              <a:lnSpc>
                <a:spcPts val="3224"/>
              </a:lnSpc>
              <a:spcAft>
                <a:spcPts val="0"/>
              </a:spcAft>
              <a:defRPr sz="2600" b="1">
                <a:solidFill>
                  <a:srgbClr val="181817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F4F0E7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F4F0E7"/>
                </a:solidFill>
                <a:latin typeface="Arial"/>
              </a:defRPr>
            </a:pPr>
            <a:r>
              <a:t>05 /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368300"/>
            <a:ext cx="88900" cy="4318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ROZSAH PŘEDÁNÍ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Obsah pro skutečný průchod.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794000"/>
            <a:ext cx="2552700" cy="20955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921000"/>
            <a:ext cx="2133600" cy="11028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184"/>
              </a:lnSpc>
              <a:spcAft>
                <a:spcPts val="0"/>
              </a:spcAft>
              <a:defRPr sz="6600" b="1">
                <a:solidFill>
                  <a:srgbClr val="18181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65600"/>
            <a:ext cx="21336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181817"/>
                </a:solidFill>
                <a:latin typeface="Arial"/>
              </a:defRPr>
            </a:pPr>
            <a:r>
              <a:t>dny programu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794000"/>
            <a:ext cx="2552700" cy="2095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9500" y="2921000"/>
            <a:ext cx="2133600" cy="11028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184"/>
              </a:lnSpc>
              <a:spcAft>
                <a:spcPts val="0"/>
              </a:spcAft>
              <a:defRPr sz="6600" b="1">
                <a:solidFill>
                  <a:srgbClr val="181817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4165600"/>
            <a:ext cx="21336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181817"/>
                </a:solidFill>
                <a:latin typeface="Arial"/>
              </a:defRPr>
            </a:pPr>
            <a:r>
              <a:t>scény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2794000"/>
            <a:ext cx="2552700" cy="2095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7000" y="2921000"/>
            <a:ext cx="2133600" cy="11028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184"/>
              </a:lnSpc>
              <a:spcAft>
                <a:spcPts val="0"/>
              </a:spcAft>
              <a:defRPr sz="6600" b="1">
                <a:solidFill>
                  <a:srgbClr val="181817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4165600"/>
            <a:ext cx="21336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181817"/>
                </a:solidFill>
                <a:latin typeface="Arial"/>
              </a:defRPr>
            </a:pPr>
            <a:r>
              <a:t>detailů interpretů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05900" y="2794000"/>
            <a:ext cx="2552700" cy="2095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4500" y="2921000"/>
            <a:ext cx="2133600" cy="11028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184"/>
              </a:lnSpc>
              <a:spcAft>
                <a:spcPts val="0"/>
              </a:spcAft>
              <a:defRPr sz="6600" b="1">
                <a:solidFill>
                  <a:srgbClr val="181817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500" y="4165600"/>
            <a:ext cx="21336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181817"/>
                </a:solidFill>
                <a:latin typeface="Arial"/>
              </a:defRPr>
            </a:pPr>
            <a:r>
              <a:t>vystoupení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5295900"/>
            <a:ext cx="111252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Aft>
                <a:spcPts val="0"/>
              </a:spcAft>
              <a:defRPr sz="1800" b="0">
                <a:solidFill>
                  <a:srgbClr val="181817"/>
                </a:solidFill>
                <a:latin typeface="Arial"/>
              </a:defRPr>
            </a:pPr>
            <a:r>
              <a:t>Hledání · filtry · osobní program · CZ / EN</a:t>
            </a:r>
          </a:p>
          <a:p>
            <a:pPr>
              <a:lnSpc>
                <a:spcPts val="2232"/>
              </a:lnSpc>
              <a:spcAft>
                <a:spcPts val="0"/>
              </a:spcAft>
              <a:defRPr sz="1800" b="0">
                <a:solidFill>
                  <a:srgbClr val="181817"/>
                </a:solidFill>
                <a:latin typeface="Arial"/>
              </a:defRPr>
            </a:pPr>
            <a:r>
              <a:t>Vstupenky · košík · účet · historie · 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05 /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368300"/>
            <a:ext cx="88900" cy="4318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PROSÍME PROJÍT A ZAZNAMENAT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Tři úkoly pro hodnotící tým.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768600"/>
            <a:ext cx="3556000" cy="26035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2768600"/>
            <a:ext cx="35560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300" y="30353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F4F0E7"/>
                </a:solidFill>
                <a:latin typeface="Arial"/>
              </a:defRPr>
            </a:pPr>
            <a:r>
              <a:t>S1 /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300" y="3733800"/>
            <a:ext cx="31242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Den 1 + River Stage → uložit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koncert → osobní program →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obnovit.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Sedí filtr a zůstal výběr?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8000" y="2768600"/>
            <a:ext cx="3556000" cy="2603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8000" y="2768600"/>
            <a:ext cx="35560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3900" y="30353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181817"/>
                </a:solidFill>
                <a:latin typeface="Arial"/>
              </a:defRPr>
            </a:pPr>
            <a:r>
              <a:t>S2 / Interpret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3900" y="3733800"/>
            <a:ext cx="31242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Atlas → Atlas Motel → detail →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související koncert.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Je jasný datum, čas a scéna?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2600" y="2768600"/>
            <a:ext cx="3556000" cy="2603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2600" y="2768600"/>
            <a:ext cx="35560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8500" y="3035300"/>
            <a:ext cx="31242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181817"/>
                </a:solidFill>
                <a:latin typeface="Arial"/>
              </a:defRPr>
            </a:pPr>
            <a:r>
              <a:t>S3 /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500" y="3733800"/>
            <a:ext cx="31242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Tarif nebo místa → košík → host →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dokončení → PDF.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Sedí cena, údaje a ID?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05 /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368300"/>
            <a:ext cx="88900" cy="4318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DŮKAZY PŘILOŽENÉ K WEBU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Co už kontrolujeme sami?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768600"/>
            <a:ext cx="5448300" cy="26035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2768600"/>
            <a:ext cx="54483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300" y="3035300"/>
            <a:ext cx="50165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F4F0E7"/>
                </a:solidFill>
                <a:latin typeface="Arial"/>
              </a:defRPr>
            </a:pPr>
            <a:r>
              <a:t>Data a chování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300" y="3733800"/>
            <a:ext cx="50165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XML reference a shoda exportu. Hledání, program,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úložiště, košík a PDF.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Výsledek v validation_report.md.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300" y="2768600"/>
            <a:ext cx="5448300" cy="2603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300" y="2768600"/>
            <a:ext cx="54483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6200" y="3035300"/>
            <a:ext cx="50165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181817"/>
                </a:solidFill>
                <a:latin typeface="Arial"/>
              </a:defRPr>
            </a:pPr>
            <a:r>
              <a:t>Mobil i desktop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3733800"/>
            <a:ext cx="50165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Přetékání, navigace, dlouhé názvy a vyplněné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formuláře.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Klávesnice a stavové změny.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5676900"/>
            <a:ext cx="1112520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3"/>
              </a:lnSpc>
              <a:spcAft>
                <a:spcPts val="0"/>
              </a:spcAft>
              <a:defRPr sz="1320" b="0">
                <a:solidFill>
                  <a:srgbClr val="68635B"/>
                </a:solidFill>
                <a:latin typeface="Arial"/>
              </a:defRPr>
            </a:pPr>
            <a:r>
              <a:t>Automatické testy nenahrazují nezávislé expertní hodnocení použitelnosti.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05 /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368300"/>
            <a:ext cx="88900" cy="4318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CO REVIEWER POTŘEBUJE VĚDĚT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Známé hranice jsou součást předání.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768600"/>
            <a:ext cx="5448300" cy="26035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2768600"/>
            <a:ext cx="54483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300" y="3035300"/>
            <a:ext cx="50165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F4F0E7"/>
                </a:solidFill>
                <a:latin typeface="Arial"/>
              </a:defRPr>
            </a:pPr>
            <a:r>
              <a:t>Klientské řešení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300" y="3733800"/>
            <a:ext cx="50165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Účty, výběr i obsazenost jsou v jednom prohlížeči.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Není sdílený backend, skutečná platba ani automatický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e-mail.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300" y="2768600"/>
            <a:ext cx="5448300" cy="2603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300" y="2768600"/>
            <a:ext cx="54483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6200" y="3035300"/>
            <a:ext cx="50165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181817"/>
                </a:solidFill>
                <a:latin typeface="Arial"/>
              </a:defRPr>
            </a:pPr>
            <a:r>
              <a:t>Dosud nedoloženo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3733800"/>
            <a:ext cx="50165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Plný audit WCAG, fyzické telefony, všechny prohlížeče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a reálný uživatelský výzkum.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Externí mapa potřebuje síť.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5676900"/>
            <a:ext cx="1112520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3"/>
              </a:lnSpc>
              <a:spcAft>
                <a:spcPts val="0"/>
              </a:spcAft>
              <a:defRPr sz="1320" b="0">
                <a:solidFill>
                  <a:srgbClr val="68635B"/>
                </a:solidFill>
                <a:latin typeface="Arial"/>
              </a:defRPr>
            </a:pPr>
            <a:r>
              <a:t>Fiktivní festival není ověřený skutečný pořadatel nebo reálný prodej.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05 /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905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Aft>
                <a:spcPts val="0"/>
              </a:spcAft>
              <a:defRPr sz="1400" b="1">
                <a:solidFill>
                  <a:srgbClr val="181817"/>
                </a:solidFill>
                <a:latin typeface="Arial"/>
              </a:defRPr>
            </a:pPr>
            <a:r>
              <a:t>PRAGUE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9050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Aft>
                <a:spcPts val="0"/>
              </a:spcAft>
              <a:defRPr sz="2200" b="1">
                <a:solidFill>
                  <a:srgbClr val="181817"/>
                </a:solidFill>
                <a:latin typeface="Arial"/>
              </a:defRPr>
            </a:pPr>
            <a:r>
              <a:t>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812800"/>
            <a:ext cx="2032000" cy="165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06"/>
              </a:lnSpc>
              <a:spcAft>
                <a:spcPts val="0"/>
              </a:spcAft>
              <a:defRPr sz="650" b="1">
                <a:solidFill>
                  <a:srgbClr val="181817"/>
                </a:solidFill>
                <a:latin typeface="Arial"/>
              </a:defRPr>
            </a:pPr>
            <a:r>
              <a:t>FEST /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368300"/>
            <a:ext cx="88900" cy="4318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88000" y="533400"/>
            <a:ext cx="6070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CROSS-REVIEW A POUŽITÍ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155700"/>
            <a:ext cx="11125200" cy="254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000" y="1422400"/>
            <a:ext cx="11176000" cy="1079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40"/>
              </a:lnSpc>
              <a:spcAft>
                <a:spcPts val="0"/>
              </a:spcAft>
              <a:defRPr sz="3400" b="1">
                <a:solidFill>
                  <a:srgbClr val="181817"/>
                </a:solidFill>
                <a:latin typeface="Arial"/>
              </a:defRPr>
            </a:pPr>
            <a:r>
              <a:t>Nález musí jít zopakovat.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768600"/>
            <a:ext cx="5448300" cy="26035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2768600"/>
            <a:ext cx="54483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300" y="3035300"/>
            <a:ext cx="50165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F4F0E7"/>
                </a:solidFill>
                <a:latin typeface="Arial"/>
              </a:defRPr>
            </a:pPr>
            <a:r>
              <a:t>Od reviewerů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300" y="3733800"/>
            <a:ext cx="50165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Stránka + kroky + očekávání + skutečnost + důkaz.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F4F0E7"/>
                </a:solidFill>
                <a:latin typeface="Arial"/>
              </a:defRPr>
            </a:pPr>
            <a:r>
              <a:t>Metoda, závažnost, dopad a konkrétní doporučení.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300" y="2768600"/>
            <a:ext cx="5448300" cy="2603500"/>
          </a:xfrm>
          <a:prstGeom prst="rect">
            <a:avLst/>
          </a:prstGeom>
          <a:solidFill>
            <a:srgbClr val="E7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300" y="2768600"/>
            <a:ext cx="5448300" cy="76200"/>
          </a:xfrm>
          <a:prstGeom prst="rect">
            <a:avLst/>
          </a:prstGeom>
          <a:solidFill>
            <a:srgbClr val="F45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6200" y="3035300"/>
            <a:ext cx="50165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Aft>
                <a:spcPts val="0"/>
              </a:spcAft>
              <a:defRPr sz="2000" b="1">
                <a:solidFill>
                  <a:srgbClr val="181817"/>
                </a:solidFill>
                <a:latin typeface="Arial"/>
              </a:defRPr>
            </a:pPr>
            <a:r>
              <a:t>Naše odpovědnost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3733800"/>
            <a:ext cx="50165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AI pomohla připravit web i kontroly.</a:t>
            </a: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</a:p>
          <a:p>
            <a:pPr>
              <a:lnSpc>
                <a:spcPts val="1689"/>
              </a:lnSpc>
              <a:spcAft>
                <a:spcPts val="0"/>
              </a:spcAft>
              <a:defRPr sz="1420" b="0">
                <a:solidFill>
                  <a:srgbClr val="181817"/>
                </a:solidFill>
                <a:latin typeface="Arial"/>
              </a:defRPr>
            </a:pPr>
            <a:r>
              <a:t>Každý přijatý nález tým ověří; změnu a důvod zapíše.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5676900"/>
            <a:ext cx="1112520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3"/>
              </a:lnSpc>
              <a:spcAft>
                <a:spcPts val="0"/>
              </a:spcAft>
              <a:defRPr sz="1320" b="0">
                <a:solidFill>
                  <a:srgbClr val="68635B"/>
                </a:solidFill>
                <a:latin typeface="Arial"/>
              </a:defRPr>
            </a:pPr>
            <a:r>
              <a:t>Skutečné přijaté review zatím chybí; není nahrazeno vymyšlenými nálezy.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413500"/>
            <a:ext cx="10033000" cy="181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30"/>
              </a:lnSpc>
              <a:spcAft>
                <a:spcPts val="0"/>
              </a:spcAft>
              <a:defRPr sz="750" b="0">
                <a:solidFill>
                  <a:srgbClr val="68635B"/>
                </a:solidFill>
                <a:latin typeface="Arial"/>
              </a:defRPr>
            </a:pPr>
            <a:r>
              <a:t>DODATEČNĚ PŘIPRAVENÝ PODKLAD K MILNÍKU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47400" y="6350000"/>
            <a:ext cx="825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8635B"/>
                </a:solidFill>
                <a:latin typeface="Arial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Prague Pulse Fest — cvičení 05: Review-ready verze</dc:title>
  <dc:subject>Dodatečně připravený milník podle zadání; nikoli doložená historie semestru.</dc:subject>
  <dc:creator>Prague Pulse Fest — projektové podklady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