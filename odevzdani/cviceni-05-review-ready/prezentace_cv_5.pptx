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Dobrý den, jsme tým Prague Pulse Fest. Dnes předáváme web jinému týmu, který ho bude nezávisle hodnotit. Ukážeme, co hodnotitelé dostanou, jaké tři scénáře mají projít, co jsme před předáním opravili a co web zatím záměrně neumí.</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Druhý tým dostane složku s webem a naši projektovou specifikaci. Web se otevře přímo ze souboru index.html, nic se neinstaluje. Obsahuje všechny hlavní části: úvod, program, interprety s detailem, scény, praktické informace a vyhledávání. Obsah je kompletní, šedesát interpretů a šedesát koncertů během tří dnů na třech scénách. Funguje i celý nákup vstupenek až po PDF. Ve specifikaci jsou tři scénáře, které má tým projít. Prosíme, aby web zkusili i na telefonu a jen klávesnicí, tam se chyby hledají nejhůř.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První dva scénáře znáte z minula, teď je hodnotitelé projdou sami. V prvním si návštěvník vybere první srpen a River Stage, uloží si koncert a zobrazí jen svůj program. Výběr musí zůstat i po obnovení stránky. Ve druhém fanoušek napíše do hledání DARK, najde DARKZY a z jeho koncertu přejde na vstupenku. Web mu sám nabídne správný den a Club Stage. Hodnotitelé ověřují, jestli web dělá přesně tohle.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Třetí scénář je nový a prověřuje celý nákup. Návštěvník přijde jen na první a třetí den. Vybere přesně tyto dva dny a kategorii VIP. Pak klikne na dvě sedadla a počet osob se nastaví sám podle sedadel. V košíku přidá stan pro dvě osoby a slevový kód PULSE10. Cena musí sedět: vstupenky 2 360 korun, sleva 236 korun, kemp 650 korun, celkem 2 774 korun. Sleva se počítá jen ze vstupenek, ne z kempu. Nakonec si stáhne vstupenku jako PDF a na ní jsou jeho jméno, oba dny i cena po slevě.</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Než jsme web předali, prošli jsme ho sami jako návštěvníci podle pravidel použitelnosti a krok po kroku podle scénářů. Našli jsme dvacet chyb, tady jsou čtyři typické. Když člověk odebral vstupenku z košíku, zmizely mu vyplněné údaje. Na nejmenším telefonu přetékal odpočet a text souhlasu. Když měl košík otevřený ve dvou oknech, mohla objednávka obsahovat něco jiného, než viděl. A web neupozornil, když si uložil dva koncerty ve stejný čas. Při opravách nám pomáhala AI, ale že oprava opravdu funguje, kontrolují automatické testy. Ty jsme dnes znovu pustili.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Některé věci web záměrně neumí, protože zadání nedovoluje server ani databázi. Účet, košík a nákupy se ukládají jen v daném prohlížeči, na jiném zařízení je neuvidíte. Platba je jen zkušební a e-mail se neodesílá, vstupenka je PDF ke stažení. Mapa Google se načte až po souhlasu, jinak je k dispozici náš vlastní plánek areálu. Říkáme to předem, aby to hodnotitelé nehledali jako chyby. Dnes prošlo 615 automatických kontrol, všech 13 stránek funguje v sedmi velikostech obrazovky a celková cena ve třetím scénáři vychází přesně podle specifikace. Děkujeme a těšíme se na zpětnou vazbu.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8000" y="584200"/>
            <a:ext cx="11176000" cy="5689600"/>
          </a:xfrm>
          <a:prstGeom prst="roundRect">
            <a:avLst>
              <a:gd name="adj" fmla="val 5357"/>
            </a:avLst>
          </a:prstGeom>
          <a:solidFill>
            <a:srgbClr val="1618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7899400" y="1041400"/>
            <a:ext cx="0" cy="4775200"/>
          </a:xfrm>
          <a:prstGeom prst="line">
            <a:avLst/>
          </a:prstGeom>
          <a:ln w="19050">
            <a:solidFill>
              <a:srgbClr val="4A505C"/>
            </a:solidFill>
            <a:prstDash val="dash"/>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7670800" y="355600"/>
            <a:ext cx="457200" cy="457200"/>
          </a:xfrm>
          <a:prstGeom prst="ellipse">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670800" y="6045200"/>
            <a:ext cx="457200" cy="457200"/>
          </a:xfrm>
          <a:prstGeom prst="ellipse">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1092200"/>
            <a:ext cx="6350000" cy="241300"/>
          </a:xfrm>
          <a:prstGeom prst="rect">
            <a:avLst/>
          </a:prstGeom>
          <a:noFill/>
        </p:spPr>
        <p:txBody>
          <a:bodyPr wrap="none" lIns="0" rIns="0" tIns="0" bIns="0">
            <a:noAutofit/>
          </a:bodyPr>
          <a:lstStyle/>
          <a:p>
            <a:pPr>
              <a:lnSpc>
                <a:spcPts val="1534"/>
              </a:lnSpc>
              <a:spcAft>
                <a:spcPts val="0"/>
              </a:spcAft>
              <a:defRPr sz="1300" b="1">
                <a:solidFill>
                  <a:srgbClr val="FF885D"/>
                </a:solidFill>
                <a:latin typeface="Arial"/>
              </a:defRPr>
            </a:pPr>
            <a:r>
              <a:t>CVIČENÍ 5 · VERZE PRO HODNOCENÍ</a:t>
            </a:r>
          </a:p>
        </p:txBody>
      </p:sp>
      <p:sp>
        <p:nvSpPr>
          <p:cNvPr id="8" name="TextBox 7"/>
          <p:cNvSpPr txBox="1"/>
          <p:nvPr/>
        </p:nvSpPr>
        <p:spPr>
          <a:xfrm>
            <a:off x="990600" y="1574800"/>
            <a:ext cx="6604000" cy="1600200"/>
          </a:xfrm>
          <a:prstGeom prst="rect">
            <a:avLst/>
          </a:prstGeom>
          <a:noFill/>
        </p:spPr>
        <p:txBody>
          <a:bodyPr wrap="none" lIns="0" rIns="0" tIns="0" bIns="0">
            <a:noAutofit/>
          </a:bodyPr>
          <a:lstStyle/>
          <a:p>
            <a:pPr>
              <a:lnSpc>
                <a:spcPts val="5684"/>
              </a:lnSpc>
              <a:spcAft>
                <a:spcPts val="0"/>
              </a:spcAft>
              <a:defRPr sz="5800" b="1">
                <a:solidFill>
                  <a:srgbClr val="FFFDF8"/>
                </a:solidFill>
                <a:latin typeface="Arial"/>
              </a:defRPr>
            </a:pPr>
            <a:r>
              <a:t>PRAGUE</a:t>
            </a:r>
          </a:p>
          <a:p>
            <a:pPr>
              <a:lnSpc>
                <a:spcPts val="5684"/>
              </a:lnSpc>
              <a:spcAft>
                <a:spcPts val="0"/>
              </a:spcAft>
              <a:defRPr sz="5800" b="1">
                <a:solidFill>
                  <a:srgbClr val="FFFDF8"/>
                </a:solidFill>
                <a:latin typeface="Arial"/>
              </a:defRPr>
            </a:pPr>
            <a:r>
              <a:t>PULSE FEST</a:t>
            </a:r>
          </a:p>
        </p:txBody>
      </p:sp>
      <p:sp>
        <p:nvSpPr>
          <p:cNvPr id="9" name="TextBox 8"/>
          <p:cNvSpPr txBox="1"/>
          <p:nvPr/>
        </p:nvSpPr>
        <p:spPr>
          <a:xfrm>
            <a:off x="1016000" y="3505200"/>
            <a:ext cx="6350000" cy="965200"/>
          </a:xfrm>
          <a:prstGeom prst="rect">
            <a:avLst/>
          </a:prstGeom>
          <a:noFill/>
        </p:spPr>
        <p:txBody>
          <a:bodyPr wrap="none" lIns="0" rIns="0" tIns="0" bIns="0">
            <a:noAutofit/>
          </a:bodyPr>
          <a:lstStyle/>
          <a:p>
            <a:pPr>
              <a:lnSpc>
                <a:spcPts val="3850"/>
              </a:lnSpc>
              <a:spcAft>
                <a:spcPts val="0"/>
              </a:spcAft>
              <a:defRPr sz="3500" b="1">
                <a:solidFill>
                  <a:srgbClr val="FF885D"/>
                </a:solidFill>
                <a:latin typeface="Arial"/>
              </a:defRPr>
            </a:pPr>
            <a:r>
              <a:t>Web předáváme k hodnocení</a:t>
            </a:r>
          </a:p>
        </p:txBody>
      </p:sp>
      <p:sp>
        <p:nvSpPr>
          <p:cNvPr id="10" name="TextBox 9"/>
          <p:cNvSpPr txBox="1"/>
          <p:nvPr/>
        </p:nvSpPr>
        <p:spPr>
          <a:xfrm>
            <a:off x="1016000" y="4724400"/>
            <a:ext cx="6350000" cy="635000"/>
          </a:xfrm>
          <a:prstGeom prst="rect">
            <a:avLst/>
          </a:prstGeom>
          <a:noFill/>
        </p:spPr>
        <p:txBody>
          <a:bodyPr wrap="none" lIns="0" rIns="0" tIns="0" bIns="0">
            <a:noAutofit/>
          </a:bodyPr>
          <a:lstStyle/>
          <a:p>
            <a:pPr>
              <a:lnSpc>
                <a:spcPts val="2340"/>
              </a:lnSpc>
              <a:spcAft>
                <a:spcPts val="0"/>
              </a:spcAft>
              <a:defRPr sz="1800" b="0">
                <a:solidFill>
                  <a:srgbClr val="C4C9D2"/>
                </a:solidFill>
                <a:latin typeface="Arial"/>
              </a:defRPr>
            </a:pPr>
            <a:r>
              <a:t>Hotové jsou všechny hlavní části webu.</a:t>
            </a:r>
          </a:p>
          <a:p>
            <a:pPr>
              <a:lnSpc>
                <a:spcPts val="2340"/>
              </a:lnSpc>
              <a:spcAft>
                <a:spcPts val="0"/>
              </a:spcAft>
              <a:defRPr sz="1800" b="0">
                <a:solidFill>
                  <a:srgbClr val="C4C9D2"/>
                </a:solidFill>
                <a:latin typeface="Arial"/>
              </a:defRPr>
            </a:pPr>
            <a:r>
              <a:t>Festival 1.–3. srpna 2027 · Výstaviště Praha</a:t>
            </a:r>
          </a:p>
        </p:txBody>
      </p:sp>
      <p:sp>
        <p:nvSpPr>
          <p:cNvPr id="11" name="TextBox 10"/>
          <p:cNvSpPr txBox="1"/>
          <p:nvPr/>
        </p:nvSpPr>
        <p:spPr>
          <a:xfrm>
            <a:off x="1016000" y="5588000"/>
            <a:ext cx="6350000" cy="241300"/>
          </a:xfrm>
          <a:prstGeom prst="rect">
            <a:avLst/>
          </a:prstGeom>
          <a:noFill/>
        </p:spPr>
        <p:txBody>
          <a:bodyPr wrap="none" lIns="0" rIns="0" tIns="0" bIns="0">
            <a:noAutofit/>
          </a:bodyPr>
          <a:lstStyle/>
          <a:p>
            <a:pPr>
              <a:lnSpc>
                <a:spcPts val="1652"/>
              </a:lnSpc>
              <a:spcAft>
                <a:spcPts val="0"/>
              </a:spcAft>
              <a:defRPr sz="1400" b="0">
                <a:solidFill>
                  <a:srgbClr val="FFFDF8"/>
                </a:solidFill>
                <a:latin typeface="Arial"/>
              </a:defRPr>
            </a:pPr>
            <a:r>
              <a:t>Michal Ladra · Matěj Mlejnek · Jan Martínek</a:t>
            </a:r>
          </a:p>
        </p:txBody>
      </p:sp>
      <p:sp>
        <p:nvSpPr>
          <p:cNvPr id="12" name="Rounded Rectangle 11"/>
          <p:cNvSpPr/>
          <p:nvPr/>
        </p:nvSpPr>
        <p:spPr>
          <a:xfrm>
            <a:off x="8686800" y="1066800"/>
            <a:ext cx="2184400" cy="4549856"/>
          </a:xfrm>
          <a:prstGeom prst="roundRect">
            <a:avLst>
              <a:gd name="adj" fmla="val 8139"/>
            </a:avLst>
          </a:prstGeom>
          <a:solidFill>
            <a:srgbClr val="0507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jpg"/>
          <p:cNvPicPr>
            <a:picLocks noChangeAspect="1"/>
          </p:cNvPicPr>
          <p:nvPr/>
        </p:nvPicPr>
        <p:blipFill>
          <a:blip r:embed="rId3"/>
          <a:stretch>
            <a:fillRect/>
          </a:stretch>
        </p:blipFill>
        <p:spPr>
          <a:xfrm>
            <a:off x="8763000" y="1143000"/>
            <a:ext cx="2032000" cy="4397456"/>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5080000" cy="190500"/>
          </a:xfrm>
          <a:prstGeom prst="rect">
            <a:avLst/>
          </a:prstGeom>
          <a:noFill/>
        </p:spPr>
        <p:txBody>
          <a:bodyPr wrap="none" lIns="0" rIns="0" tIns="0" bIns="0">
            <a:noAutofit/>
          </a:bodyPr>
          <a:lstStyle/>
          <a:p>
            <a:pPr>
              <a:lnSpc>
                <a:spcPts val="1180"/>
              </a:lnSpc>
              <a:spcAft>
                <a:spcPts val="0"/>
              </a:spcAft>
              <a:defRPr sz="1000" b="1">
                <a:solidFill>
                  <a:srgbClr val="16181D"/>
                </a:solidFill>
                <a:latin typeface="Arial"/>
              </a:defRPr>
            </a:pPr>
            <a:r>
              <a:t>PRAGUE PULSE FEST · CVIČENÍ 5</a:t>
            </a:r>
          </a:p>
        </p:txBody>
      </p:sp>
      <p:sp>
        <p:nvSpPr>
          <p:cNvPr id="4" name="Rounded Rectangle 3"/>
          <p:cNvSpPr/>
          <p:nvPr/>
        </p:nvSpPr>
        <p:spPr>
          <a:xfrm>
            <a:off x="95250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8806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236200" y="368300"/>
            <a:ext cx="279400" cy="63500"/>
          </a:xfrm>
          <a:prstGeom prst="roundRect">
            <a:avLst>
              <a:gd name="adj" fmla="val 50000"/>
            </a:avLst>
          </a:prstGeom>
          <a:solidFill>
            <a:srgbClr val="D8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591800" y="368300"/>
            <a:ext cx="279400" cy="63500"/>
          </a:xfrm>
          <a:prstGeom prst="roundRect">
            <a:avLst>
              <a:gd name="adj" fmla="val 50000"/>
            </a:avLst>
          </a:prstGeom>
          <a:solidFill>
            <a:srgbClr val="D8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7400" y="368300"/>
            <a:ext cx="279400" cy="63500"/>
          </a:xfrm>
          <a:prstGeom prst="roundRect">
            <a:avLst>
              <a:gd name="adj" fmla="val 50000"/>
            </a:avLst>
          </a:prstGeom>
          <a:solidFill>
            <a:srgbClr val="D8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303000" y="368300"/>
            <a:ext cx="279400" cy="63500"/>
          </a:xfrm>
          <a:prstGeom prst="roundRect">
            <a:avLst>
              <a:gd name="adj" fmla="val 50000"/>
            </a:avLst>
          </a:prstGeom>
          <a:solidFill>
            <a:srgbClr val="D8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600" y="736600"/>
            <a:ext cx="10972800" cy="558800"/>
          </a:xfrm>
          <a:prstGeom prst="rect">
            <a:avLst/>
          </a:prstGeom>
          <a:noFill/>
        </p:spPr>
        <p:txBody>
          <a:bodyPr wrap="none" lIns="0" rIns="0" tIns="0" bIns="0">
            <a:noAutofit/>
          </a:bodyPr>
          <a:lstStyle/>
          <a:p>
            <a:pPr>
              <a:lnSpc>
                <a:spcPts val="4011"/>
              </a:lnSpc>
              <a:spcAft>
                <a:spcPts val="0"/>
              </a:spcAft>
              <a:defRPr sz="3400" b="1">
                <a:solidFill>
                  <a:srgbClr val="16181D"/>
                </a:solidFill>
                <a:latin typeface="Arial"/>
              </a:defRPr>
            </a:pPr>
            <a:r>
              <a:t>Co hodnotitelé dostanou</a:t>
            </a:r>
          </a:p>
        </p:txBody>
      </p:sp>
      <p:sp>
        <p:nvSpPr>
          <p:cNvPr id="11" name="TextBox 10"/>
          <p:cNvSpPr txBox="1"/>
          <p:nvPr/>
        </p:nvSpPr>
        <p:spPr>
          <a:xfrm>
            <a:off x="609600" y="1371600"/>
            <a:ext cx="10972800" cy="304800"/>
          </a:xfrm>
          <a:prstGeom prst="rect">
            <a:avLst/>
          </a:prstGeom>
          <a:noFill/>
        </p:spPr>
        <p:txBody>
          <a:bodyPr wrap="none" lIns="0" rIns="0" tIns="0" bIns="0">
            <a:noAutofit/>
          </a:bodyPr>
          <a:lstStyle/>
          <a:p>
            <a:pPr>
              <a:lnSpc>
                <a:spcPts val="2005"/>
              </a:lnSpc>
              <a:spcAft>
                <a:spcPts val="0"/>
              </a:spcAft>
              <a:defRPr sz="1700" b="0">
                <a:solidFill>
                  <a:srgbClr val="555C67"/>
                </a:solidFill>
                <a:latin typeface="Arial"/>
              </a:defRPr>
            </a:pPr>
            <a:r>
              <a:t>Celý web a specifikaci. Stačí otevřít web/index.html, nic se neinstaluje.</a:t>
            </a:r>
          </a:p>
        </p:txBody>
      </p:sp>
      <p:sp>
        <p:nvSpPr>
          <p:cNvPr id="12" name="Rounded Rectangle 11"/>
          <p:cNvSpPr/>
          <p:nvPr/>
        </p:nvSpPr>
        <p:spPr>
          <a:xfrm>
            <a:off x="609600" y="1905000"/>
            <a:ext cx="2590800" cy="2997200"/>
          </a:xfrm>
          <a:prstGeom prst="roundRect">
            <a:avLst>
              <a:gd name="adj" fmla="val 4901"/>
            </a:avLst>
          </a:prstGeom>
          <a:solidFill>
            <a:srgbClr val="FFFDF8"/>
          </a:solidFill>
          <a:ln w="13970">
            <a:solidFill>
              <a:srgbClr val="E2D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8200" y="2184400"/>
            <a:ext cx="431800" cy="431800"/>
          </a:xfrm>
          <a:prstGeom prst="ellipse">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4063" y="2309622"/>
            <a:ext cx="145473" cy="279400"/>
          </a:xfrm>
          <a:prstGeom prst="rect">
            <a:avLst/>
          </a:prstGeom>
          <a:noFill/>
        </p:spPr>
        <p:txBody>
          <a:bodyPr wrap="none" lIns="0" rIns="0" tIns="0" bIns="0">
            <a:noAutofit/>
          </a:bodyPr>
          <a:lstStyle/>
          <a:p>
            <a:pPr>
              <a:lnSpc>
                <a:spcPts val="2005"/>
              </a:lnSpc>
              <a:spcAft>
                <a:spcPts val="0"/>
              </a:spcAft>
              <a:defRPr sz="1700" b="1">
                <a:solidFill>
                  <a:srgbClr val="16181D"/>
                </a:solidFill>
                <a:latin typeface="Arial"/>
              </a:defRPr>
            </a:pPr>
            <a:r>
              <a:t>1</a:t>
            </a:r>
          </a:p>
        </p:txBody>
      </p:sp>
      <p:sp>
        <p:nvSpPr>
          <p:cNvPr id="15" name="TextBox 14"/>
          <p:cNvSpPr txBox="1"/>
          <p:nvPr/>
        </p:nvSpPr>
        <p:spPr>
          <a:xfrm>
            <a:off x="838200" y="2870200"/>
            <a:ext cx="2159000" cy="617219"/>
          </a:xfrm>
          <a:prstGeom prst="rect">
            <a:avLst/>
          </a:prstGeom>
          <a:noFill/>
        </p:spPr>
        <p:txBody>
          <a:bodyPr wrap="none" lIns="0" rIns="0" tIns="0" bIns="0">
            <a:noAutofit/>
          </a:bodyPr>
          <a:lstStyle/>
          <a:p>
            <a:pPr>
              <a:lnSpc>
                <a:spcPts val="2360"/>
              </a:lnSpc>
              <a:spcAft>
                <a:spcPts val="0"/>
              </a:spcAft>
              <a:defRPr sz="2000" b="1">
                <a:solidFill>
                  <a:srgbClr val="16181D"/>
                </a:solidFill>
                <a:latin typeface="Arial"/>
              </a:defRPr>
            </a:pPr>
            <a:r>
              <a:t>Všechny hlavní</a:t>
            </a:r>
          </a:p>
          <a:p>
            <a:pPr>
              <a:lnSpc>
                <a:spcPts val="2360"/>
              </a:lnSpc>
              <a:spcAft>
                <a:spcPts val="0"/>
              </a:spcAft>
              <a:defRPr sz="2000" b="1">
                <a:solidFill>
                  <a:srgbClr val="16181D"/>
                </a:solidFill>
                <a:latin typeface="Arial"/>
              </a:defRPr>
            </a:pPr>
            <a:r>
              <a:t>části</a:t>
            </a:r>
          </a:p>
        </p:txBody>
      </p:sp>
      <p:sp>
        <p:nvSpPr>
          <p:cNvPr id="16" name="TextBox 15"/>
          <p:cNvSpPr txBox="1"/>
          <p:nvPr/>
        </p:nvSpPr>
        <p:spPr>
          <a:xfrm>
            <a:off x="838200" y="3563620"/>
            <a:ext cx="2159000" cy="1287780"/>
          </a:xfrm>
          <a:prstGeom prst="rect">
            <a:avLst/>
          </a:prstGeom>
          <a:noFill/>
        </p:spPr>
        <p:txBody>
          <a:bodyPr wrap="none" lIns="0" rIns="0" tIns="0" bIns="0">
            <a:noAutofit/>
          </a:bodyPr>
          <a:lstStyle/>
          <a:p>
            <a:pPr>
              <a:lnSpc>
                <a:spcPts val="1950"/>
              </a:lnSpc>
              <a:spcAft>
                <a:spcPts val="0"/>
              </a:spcAft>
              <a:defRPr sz="1500" b="0">
                <a:solidFill>
                  <a:srgbClr val="555C67"/>
                </a:solidFill>
                <a:latin typeface="Arial"/>
              </a:defRPr>
            </a:pPr>
            <a:r>
              <a:t>Úvod, program,</a:t>
            </a:r>
          </a:p>
          <a:p>
            <a:pPr>
              <a:lnSpc>
                <a:spcPts val="1950"/>
              </a:lnSpc>
              <a:spcAft>
                <a:spcPts val="0"/>
              </a:spcAft>
              <a:defRPr sz="1500" b="0">
                <a:solidFill>
                  <a:srgbClr val="555C67"/>
                </a:solidFill>
                <a:latin typeface="Arial"/>
              </a:defRPr>
            </a:pPr>
            <a:r>
              <a:t>interpreti, scény,</a:t>
            </a:r>
          </a:p>
          <a:p>
            <a:pPr>
              <a:lnSpc>
                <a:spcPts val="1950"/>
              </a:lnSpc>
              <a:spcAft>
                <a:spcPts val="0"/>
              </a:spcAft>
              <a:defRPr sz="1500" b="0">
                <a:solidFill>
                  <a:srgbClr val="555C67"/>
                </a:solidFill>
                <a:latin typeface="Arial"/>
              </a:defRPr>
            </a:pPr>
            <a:r>
              <a:t>praktické informace a</a:t>
            </a:r>
          </a:p>
          <a:p>
            <a:pPr>
              <a:lnSpc>
                <a:spcPts val="1950"/>
              </a:lnSpc>
              <a:spcAft>
                <a:spcPts val="0"/>
              </a:spcAft>
              <a:defRPr sz="1500" b="0">
                <a:solidFill>
                  <a:srgbClr val="555C67"/>
                </a:solidFill>
                <a:latin typeface="Arial"/>
              </a:defRPr>
            </a:pPr>
            <a:r>
              <a:t>hledání.</a:t>
            </a:r>
          </a:p>
        </p:txBody>
      </p:sp>
      <p:sp>
        <p:nvSpPr>
          <p:cNvPr id="17" name="Rounded Rectangle 16"/>
          <p:cNvSpPr/>
          <p:nvPr/>
        </p:nvSpPr>
        <p:spPr>
          <a:xfrm>
            <a:off x="3429000" y="1905000"/>
            <a:ext cx="2590800" cy="2997200"/>
          </a:xfrm>
          <a:prstGeom prst="roundRect">
            <a:avLst>
              <a:gd name="adj" fmla="val 4901"/>
            </a:avLst>
          </a:prstGeom>
          <a:solidFill>
            <a:srgbClr val="FFFDF8"/>
          </a:solidFill>
          <a:ln w="13970">
            <a:solidFill>
              <a:srgbClr val="E2D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57600" y="2184400"/>
            <a:ext cx="431800" cy="431800"/>
          </a:xfrm>
          <a:prstGeom prst="ellipse">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13463" y="2309622"/>
            <a:ext cx="145473" cy="279400"/>
          </a:xfrm>
          <a:prstGeom prst="rect">
            <a:avLst/>
          </a:prstGeom>
          <a:noFill/>
        </p:spPr>
        <p:txBody>
          <a:bodyPr wrap="none" lIns="0" rIns="0" tIns="0" bIns="0">
            <a:noAutofit/>
          </a:bodyPr>
          <a:lstStyle/>
          <a:p>
            <a:pPr>
              <a:lnSpc>
                <a:spcPts val="2005"/>
              </a:lnSpc>
              <a:spcAft>
                <a:spcPts val="0"/>
              </a:spcAft>
              <a:defRPr sz="1700" b="1">
                <a:solidFill>
                  <a:srgbClr val="16181D"/>
                </a:solidFill>
                <a:latin typeface="Arial"/>
              </a:defRPr>
            </a:pPr>
            <a:r>
              <a:t>2</a:t>
            </a:r>
          </a:p>
        </p:txBody>
      </p:sp>
      <p:sp>
        <p:nvSpPr>
          <p:cNvPr id="20" name="TextBox 19"/>
          <p:cNvSpPr txBox="1"/>
          <p:nvPr/>
        </p:nvSpPr>
        <p:spPr>
          <a:xfrm>
            <a:off x="3657600" y="2870200"/>
            <a:ext cx="2159000" cy="317500"/>
          </a:xfrm>
          <a:prstGeom prst="rect">
            <a:avLst/>
          </a:prstGeom>
          <a:noFill/>
        </p:spPr>
        <p:txBody>
          <a:bodyPr wrap="none" lIns="0" rIns="0" tIns="0" bIns="0">
            <a:noAutofit/>
          </a:bodyPr>
          <a:lstStyle/>
          <a:p>
            <a:pPr>
              <a:lnSpc>
                <a:spcPts val="2360"/>
              </a:lnSpc>
              <a:spcAft>
                <a:spcPts val="0"/>
              </a:spcAft>
              <a:defRPr sz="2000" b="1">
                <a:solidFill>
                  <a:srgbClr val="16181D"/>
                </a:solidFill>
                <a:latin typeface="Arial"/>
              </a:defRPr>
            </a:pPr>
            <a:r>
              <a:t>Kompletní obsah</a:t>
            </a:r>
          </a:p>
        </p:txBody>
      </p:sp>
      <p:sp>
        <p:nvSpPr>
          <p:cNvPr id="21" name="TextBox 20"/>
          <p:cNvSpPr txBox="1"/>
          <p:nvPr/>
        </p:nvSpPr>
        <p:spPr>
          <a:xfrm>
            <a:off x="3657600" y="3263900"/>
            <a:ext cx="2159000" cy="1587500"/>
          </a:xfrm>
          <a:prstGeom prst="rect">
            <a:avLst/>
          </a:prstGeom>
          <a:noFill/>
        </p:spPr>
        <p:txBody>
          <a:bodyPr wrap="none" lIns="0" rIns="0" tIns="0" bIns="0">
            <a:noAutofit/>
          </a:bodyPr>
          <a:lstStyle/>
          <a:p>
            <a:pPr>
              <a:lnSpc>
                <a:spcPts val="1950"/>
              </a:lnSpc>
              <a:spcAft>
                <a:spcPts val="0"/>
              </a:spcAft>
              <a:defRPr sz="1500" b="0">
                <a:solidFill>
                  <a:srgbClr val="555C67"/>
                </a:solidFill>
                <a:latin typeface="Arial"/>
              </a:defRPr>
            </a:pPr>
            <a:r>
              <a:t>60 interpretů a 60</a:t>
            </a:r>
          </a:p>
          <a:p>
            <a:pPr>
              <a:lnSpc>
                <a:spcPts val="1950"/>
              </a:lnSpc>
              <a:spcAft>
                <a:spcPts val="0"/>
              </a:spcAft>
              <a:defRPr sz="1500" b="0">
                <a:solidFill>
                  <a:srgbClr val="555C67"/>
                </a:solidFill>
                <a:latin typeface="Arial"/>
              </a:defRPr>
            </a:pPr>
            <a:r>
              <a:t>koncertů během tří dnů</a:t>
            </a:r>
          </a:p>
          <a:p>
            <a:pPr>
              <a:lnSpc>
                <a:spcPts val="1950"/>
              </a:lnSpc>
              <a:spcAft>
                <a:spcPts val="0"/>
              </a:spcAft>
              <a:defRPr sz="1500" b="0">
                <a:solidFill>
                  <a:srgbClr val="555C67"/>
                </a:solidFill>
                <a:latin typeface="Arial"/>
              </a:defRPr>
            </a:pPr>
            <a:r>
              <a:t>na třech scénách.</a:t>
            </a:r>
          </a:p>
        </p:txBody>
      </p:sp>
      <p:sp>
        <p:nvSpPr>
          <p:cNvPr id="22" name="Rounded Rectangle 21"/>
          <p:cNvSpPr/>
          <p:nvPr/>
        </p:nvSpPr>
        <p:spPr>
          <a:xfrm>
            <a:off x="6248400" y="1905000"/>
            <a:ext cx="2590800" cy="2997200"/>
          </a:xfrm>
          <a:prstGeom prst="roundRect">
            <a:avLst>
              <a:gd name="adj" fmla="val 4901"/>
            </a:avLst>
          </a:prstGeom>
          <a:solidFill>
            <a:srgbClr val="FFFDF8"/>
          </a:solidFill>
          <a:ln w="13970">
            <a:solidFill>
              <a:srgbClr val="E2D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77000" y="2184400"/>
            <a:ext cx="431800" cy="431800"/>
          </a:xfrm>
          <a:prstGeom prst="ellipse">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32863" y="2309622"/>
            <a:ext cx="145473" cy="279400"/>
          </a:xfrm>
          <a:prstGeom prst="rect">
            <a:avLst/>
          </a:prstGeom>
          <a:noFill/>
        </p:spPr>
        <p:txBody>
          <a:bodyPr wrap="none" lIns="0" rIns="0" tIns="0" bIns="0">
            <a:noAutofit/>
          </a:bodyPr>
          <a:lstStyle/>
          <a:p>
            <a:pPr>
              <a:lnSpc>
                <a:spcPts val="2005"/>
              </a:lnSpc>
              <a:spcAft>
                <a:spcPts val="0"/>
              </a:spcAft>
              <a:defRPr sz="1700" b="1">
                <a:solidFill>
                  <a:srgbClr val="16181D"/>
                </a:solidFill>
                <a:latin typeface="Arial"/>
              </a:defRPr>
            </a:pPr>
            <a:r>
              <a:t>3</a:t>
            </a:r>
          </a:p>
        </p:txBody>
      </p:sp>
      <p:sp>
        <p:nvSpPr>
          <p:cNvPr id="25" name="TextBox 24"/>
          <p:cNvSpPr txBox="1"/>
          <p:nvPr/>
        </p:nvSpPr>
        <p:spPr>
          <a:xfrm>
            <a:off x="6477000" y="2870200"/>
            <a:ext cx="2159000" cy="317500"/>
          </a:xfrm>
          <a:prstGeom prst="rect">
            <a:avLst/>
          </a:prstGeom>
          <a:noFill/>
        </p:spPr>
        <p:txBody>
          <a:bodyPr wrap="none" lIns="0" rIns="0" tIns="0" bIns="0">
            <a:noAutofit/>
          </a:bodyPr>
          <a:lstStyle/>
          <a:p>
            <a:pPr>
              <a:lnSpc>
                <a:spcPts val="2360"/>
              </a:lnSpc>
              <a:spcAft>
                <a:spcPts val="0"/>
              </a:spcAft>
              <a:defRPr sz="2000" b="1">
                <a:solidFill>
                  <a:srgbClr val="16181D"/>
                </a:solidFill>
                <a:latin typeface="Arial"/>
              </a:defRPr>
            </a:pPr>
            <a:r>
              <a:t>Nákup vstupenek</a:t>
            </a:r>
          </a:p>
        </p:txBody>
      </p:sp>
      <p:sp>
        <p:nvSpPr>
          <p:cNvPr id="26" name="TextBox 25"/>
          <p:cNvSpPr txBox="1"/>
          <p:nvPr/>
        </p:nvSpPr>
        <p:spPr>
          <a:xfrm>
            <a:off x="6477000" y="3263900"/>
            <a:ext cx="2159000" cy="1587500"/>
          </a:xfrm>
          <a:prstGeom prst="rect">
            <a:avLst/>
          </a:prstGeom>
          <a:noFill/>
        </p:spPr>
        <p:txBody>
          <a:bodyPr wrap="none" lIns="0" rIns="0" tIns="0" bIns="0">
            <a:noAutofit/>
          </a:bodyPr>
          <a:lstStyle/>
          <a:p>
            <a:pPr>
              <a:lnSpc>
                <a:spcPts val="1950"/>
              </a:lnSpc>
              <a:spcAft>
                <a:spcPts val="0"/>
              </a:spcAft>
              <a:defRPr sz="1500" b="0">
                <a:solidFill>
                  <a:srgbClr val="555C67"/>
                </a:solidFill>
                <a:latin typeface="Arial"/>
              </a:defRPr>
            </a:pPr>
            <a:r>
              <a:t>Výběr dne a scény,</a:t>
            </a:r>
          </a:p>
          <a:p>
            <a:pPr>
              <a:lnSpc>
                <a:spcPts val="1950"/>
              </a:lnSpc>
              <a:spcAft>
                <a:spcPts val="0"/>
              </a:spcAft>
              <a:defRPr sz="1500" b="0">
                <a:solidFill>
                  <a:srgbClr val="555C67"/>
                </a:solidFill>
                <a:latin typeface="Arial"/>
              </a:defRPr>
            </a:pPr>
            <a:r>
              <a:t>sedadla, košík, kemp,</a:t>
            </a:r>
          </a:p>
          <a:p>
            <a:pPr>
              <a:lnSpc>
                <a:spcPts val="1950"/>
              </a:lnSpc>
              <a:spcAft>
                <a:spcPts val="0"/>
              </a:spcAft>
              <a:defRPr sz="1500" b="0">
                <a:solidFill>
                  <a:srgbClr val="555C67"/>
                </a:solidFill>
                <a:latin typeface="Arial"/>
              </a:defRPr>
            </a:pPr>
            <a:r>
              <a:t>slevový kód a PDF.</a:t>
            </a:r>
          </a:p>
        </p:txBody>
      </p:sp>
      <p:sp>
        <p:nvSpPr>
          <p:cNvPr id="27" name="Rounded Rectangle 26"/>
          <p:cNvSpPr/>
          <p:nvPr/>
        </p:nvSpPr>
        <p:spPr>
          <a:xfrm>
            <a:off x="9067800" y="1905000"/>
            <a:ext cx="2590800" cy="2997200"/>
          </a:xfrm>
          <a:prstGeom prst="roundRect">
            <a:avLst>
              <a:gd name="adj" fmla="val 4901"/>
            </a:avLst>
          </a:prstGeom>
          <a:solidFill>
            <a:srgbClr val="FFFDF8"/>
          </a:solidFill>
          <a:ln w="13970">
            <a:solidFill>
              <a:srgbClr val="E2D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96400" y="2184400"/>
            <a:ext cx="431800" cy="431800"/>
          </a:xfrm>
          <a:prstGeom prst="ellipse">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52263" y="2309622"/>
            <a:ext cx="145473" cy="279400"/>
          </a:xfrm>
          <a:prstGeom prst="rect">
            <a:avLst/>
          </a:prstGeom>
          <a:noFill/>
        </p:spPr>
        <p:txBody>
          <a:bodyPr wrap="none" lIns="0" rIns="0" tIns="0" bIns="0">
            <a:noAutofit/>
          </a:bodyPr>
          <a:lstStyle/>
          <a:p>
            <a:pPr>
              <a:lnSpc>
                <a:spcPts val="2005"/>
              </a:lnSpc>
              <a:spcAft>
                <a:spcPts val="0"/>
              </a:spcAft>
              <a:defRPr sz="1700" b="1">
                <a:solidFill>
                  <a:srgbClr val="16181D"/>
                </a:solidFill>
                <a:latin typeface="Arial"/>
              </a:defRPr>
            </a:pPr>
            <a:r>
              <a:t>4</a:t>
            </a:r>
          </a:p>
        </p:txBody>
      </p:sp>
      <p:sp>
        <p:nvSpPr>
          <p:cNvPr id="30" name="TextBox 29"/>
          <p:cNvSpPr txBox="1"/>
          <p:nvPr/>
        </p:nvSpPr>
        <p:spPr>
          <a:xfrm>
            <a:off x="9296400" y="2870200"/>
            <a:ext cx="2159000" cy="317500"/>
          </a:xfrm>
          <a:prstGeom prst="rect">
            <a:avLst/>
          </a:prstGeom>
          <a:noFill/>
        </p:spPr>
        <p:txBody>
          <a:bodyPr wrap="none" lIns="0" rIns="0" tIns="0" bIns="0">
            <a:noAutofit/>
          </a:bodyPr>
          <a:lstStyle/>
          <a:p>
            <a:pPr>
              <a:lnSpc>
                <a:spcPts val="2360"/>
              </a:lnSpc>
              <a:spcAft>
                <a:spcPts val="0"/>
              </a:spcAft>
              <a:defRPr sz="2000" b="1">
                <a:solidFill>
                  <a:srgbClr val="16181D"/>
                </a:solidFill>
                <a:latin typeface="Arial"/>
              </a:defRPr>
            </a:pPr>
            <a:r>
              <a:t>Specifikace</a:t>
            </a:r>
          </a:p>
        </p:txBody>
      </p:sp>
      <p:sp>
        <p:nvSpPr>
          <p:cNvPr id="31" name="TextBox 30"/>
          <p:cNvSpPr txBox="1"/>
          <p:nvPr/>
        </p:nvSpPr>
        <p:spPr>
          <a:xfrm>
            <a:off x="9296400" y="3263900"/>
            <a:ext cx="2159000" cy="1587500"/>
          </a:xfrm>
          <a:prstGeom prst="rect">
            <a:avLst/>
          </a:prstGeom>
          <a:noFill/>
        </p:spPr>
        <p:txBody>
          <a:bodyPr wrap="none" lIns="0" rIns="0" tIns="0" bIns="0">
            <a:noAutofit/>
          </a:bodyPr>
          <a:lstStyle/>
          <a:p>
            <a:pPr>
              <a:lnSpc>
                <a:spcPts val="1950"/>
              </a:lnSpc>
              <a:spcAft>
                <a:spcPts val="0"/>
              </a:spcAft>
              <a:defRPr sz="1500" b="0">
                <a:solidFill>
                  <a:srgbClr val="555C67"/>
                </a:solidFill>
                <a:latin typeface="Arial"/>
              </a:defRPr>
            </a:pPr>
            <a:r>
              <a:t>Popis festivalu a tři</a:t>
            </a:r>
          </a:p>
          <a:p>
            <a:pPr>
              <a:lnSpc>
                <a:spcPts val="1950"/>
              </a:lnSpc>
              <a:spcAft>
                <a:spcPts val="0"/>
              </a:spcAft>
              <a:defRPr sz="1500" b="0">
                <a:solidFill>
                  <a:srgbClr val="555C67"/>
                </a:solidFill>
                <a:latin typeface="Arial"/>
              </a:defRPr>
            </a:pPr>
            <a:r>
              <a:t>scénáře, které má druhý</a:t>
            </a:r>
          </a:p>
          <a:p>
            <a:pPr>
              <a:lnSpc>
                <a:spcPts val="1950"/>
              </a:lnSpc>
              <a:spcAft>
                <a:spcPts val="0"/>
              </a:spcAft>
              <a:defRPr sz="1500" b="0">
                <a:solidFill>
                  <a:srgbClr val="555C67"/>
                </a:solidFill>
                <a:latin typeface="Arial"/>
              </a:defRPr>
            </a:pPr>
            <a:r>
              <a:t>tým projít.</a:t>
            </a:r>
          </a:p>
        </p:txBody>
      </p:sp>
      <p:sp>
        <p:nvSpPr>
          <p:cNvPr id="32" name="Rounded Rectangle 31"/>
          <p:cNvSpPr/>
          <p:nvPr/>
        </p:nvSpPr>
        <p:spPr>
          <a:xfrm>
            <a:off x="609600" y="5232400"/>
            <a:ext cx="10972800" cy="558800"/>
          </a:xfrm>
          <a:prstGeom prst="roundRect">
            <a:avLst>
              <a:gd name="adj" fmla="val 50000"/>
            </a:avLst>
          </a:prstGeom>
          <a:solidFill>
            <a:srgbClr val="1618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422900"/>
            <a:ext cx="10363200" cy="254000"/>
          </a:xfrm>
          <a:prstGeom prst="rect">
            <a:avLst/>
          </a:prstGeom>
          <a:noFill/>
        </p:spPr>
        <p:txBody>
          <a:bodyPr wrap="none" lIns="0" rIns="0" tIns="0" bIns="0">
            <a:noAutofit/>
          </a:bodyPr>
          <a:lstStyle/>
          <a:p>
            <a:pPr>
              <a:lnSpc>
                <a:spcPts val="1770"/>
              </a:lnSpc>
              <a:spcAft>
                <a:spcPts val="0"/>
              </a:spcAft>
              <a:defRPr sz="1500" b="1">
                <a:solidFill>
                  <a:srgbClr val="FFFDF8"/>
                </a:solidFill>
                <a:latin typeface="Arial"/>
              </a:defRPr>
            </a:pPr>
            <a:r>
              <a:t>Prosíme hodnotitele: zkuste web na telefonu i ovládání jen klávesnicí.</a:t>
            </a:r>
          </a:p>
        </p:txBody>
      </p:sp>
      <p:sp>
        <p:nvSpPr>
          <p:cNvPr id="34" name="TextBox 33"/>
          <p:cNvSpPr txBox="1"/>
          <p:nvPr/>
        </p:nvSpPr>
        <p:spPr>
          <a:xfrm>
            <a:off x="609600" y="6451600"/>
            <a:ext cx="7620000" cy="190500"/>
          </a:xfrm>
          <a:prstGeom prst="rect">
            <a:avLst/>
          </a:prstGeom>
          <a:noFill/>
        </p:spPr>
        <p:txBody>
          <a:bodyPr wrap="none" lIns="0" rIns="0" tIns="0" bIns="0">
            <a:noAutofit/>
          </a:bodyPr>
          <a:lstStyle/>
          <a:p>
            <a:pPr>
              <a:lnSpc>
                <a:spcPts val="1180"/>
              </a:lnSpc>
              <a:spcAft>
                <a:spcPts val="0"/>
              </a:spcAft>
              <a:defRPr sz="1000" b="0">
                <a:solidFill>
                  <a:srgbClr val="555C67"/>
                </a:solidFill>
                <a:latin typeface="Arial"/>
              </a:defRPr>
            </a:pPr>
            <a:r>
              <a:t>1.–3. srpna 2027 · Výstaviště Praha · Michal Ladra, Matěj Mlejnek, Jan Martínek</a:t>
            </a:r>
          </a:p>
        </p:txBody>
      </p:sp>
      <p:sp>
        <p:nvSpPr>
          <p:cNvPr id="35" name="TextBox 34"/>
          <p:cNvSpPr txBox="1"/>
          <p:nvPr/>
        </p:nvSpPr>
        <p:spPr>
          <a:xfrm>
            <a:off x="11074400" y="6438900"/>
            <a:ext cx="508000" cy="203200"/>
          </a:xfrm>
          <a:prstGeom prst="rect">
            <a:avLst/>
          </a:prstGeom>
          <a:noFill/>
        </p:spPr>
        <p:txBody>
          <a:bodyPr wrap="none" lIns="0" rIns="0" tIns="0" bIns="0">
            <a:noAutofit/>
          </a:bodyPr>
          <a:lstStyle/>
          <a:p>
            <a:pPr>
              <a:lnSpc>
                <a:spcPts val="1297"/>
              </a:lnSpc>
              <a:spcAft>
                <a:spcPts val="0"/>
              </a:spcAft>
              <a:defRPr sz="1100" b="1">
                <a:solidFill>
                  <a:srgbClr val="555C67"/>
                </a:solidFill>
                <a:latin typeface="Arial"/>
              </a:defRPr>
            </a:pPr>
            <a:r>
              <a:t>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5080000" cy="190500"/>
          </a:xfrm>
          <a:prstGeom prst="rect">
            <a:avLst/>
          </a:prstGeom>
          <a:noFill/>
        </p:spPr>
        <p:txBody>
          <a:bodyPr wrap="none" lIns="0" rIns="0" tIns="0" bIns="0">
            <a:noAutofit/>
          </a:bodyPr>
          <a:lstStyle/>
          <a:p>
            <a:pPr>
              <a:lnSpc>
                <a:spcPts val="1180"/>
              </a:lnSpc>
              <a:spcAft>
                <a:spcPts val="0"/>
              </a:spcAft>
              <a:defRPr sz="1000" b="1">
                <a:solidFill>
                  <a:srgbClr val="16181D"/>
                </a:solidFill>
                <a:latin typeface="Arial"/>
              </a:defRPr>
            </a:pPr>
            <a:r>
              <a:t>PRAGUE PULSE FEST · CVIČENÍ 5</a:t>
            </a:r>
          </a:p>
        </p:txBody>
      </p:sp>
      <p:sp>
        <p:nvSpPr>
          <p:cNvPr id="4" name="Rounded Rectangle 3"/>
          <p:cNvSpPr/>
          <p:nvPr/>
        </p:nvSpPr>
        <p:spPr>
          <a:xfrm>
            <a:off x="95250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8806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2362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591800" y="368300"/>
            <a:ext cx="279400" cy="63500"/>
          </a:xfrm>
          <a:prstGeom prst="roundRect">
            <a:avLst>
              <a:gd name="adj" fmla="val 50000"/>
            </a:avLst>
          </a:prstGeom>
          <a:solidFill>
            <a:srgbClr val="D8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7400" y="368300"/>
            <a:ext cx="279400" cy="63500"/>
          </a:xfrm>
          <a:prstGeom prst="roundRect">
            <a:avLst>
              <a:gd name="adj" fmla="val 50000"/>
            </a:avLst>
          </a:prstGeom>
          <a:solidFill>
            <a:srgbClr val="D8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303000" y="368300"/>
            <a:ext cx="279400" cy="63500"/>
          </a:xfrm>
          <a:prstGeom prst="roundRect">
            <a:avLst>
              <a:gd name="adj" fmla="val 50000"/>
            </a:avLst>
          </a:prstGeom>
          <a:solidFill>
            <a:srgbClr val="D8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600" y="736600"/>
            <a:ext cx="10972800" cy="558800"/>
          </a:xfrm>
          <a:prstGeom prst="rect">
            <a:avLst/>
          </a:prstGeom>
          <a:noFill/>
        </p:spPr>
        <p:txBody>
          <a:bodyPr wrap="none" lIns="0" rIns="0" tIns="0" bIns="0">
            <a:noAutofit/>
          </a:bodyPr>
          <a:lstStyle/>
          <a:p>
            <a:pPr>
              <a:lnSpc>
                <a:spcPts val="4011"/>
              </a:lnSpc>
              <a:spcAft>
                <a:spcPts val="0"/>
              </a:spcAft>
              <a:defRPr sz="3400" b="1">
                <a:solidFill>
                  <a:srgbClr val="16181D"/>
                </a:solidFill>
                <a:latin typeface="Arial"/>
              </a:defRPr>
            </a:pPr>
            <a:r>
              <a:t>Scénáře 1 a 2 k vyzkoušení</a:t>
            </a:r>
          </a:p>
        </p:txBody>
      </p:sp>
      <p:sp>
        <p:nvSpPr>
          <p:cNvPr id="11" name="TextBox 10"/>
          <p:cNvSpPr txBox="1"/>
          <p:nvPr/>
        </p:nvSpPr>
        <p:spPr>
          <a:xfrm>
            <a:off x="609600" y="1371600"/>
            <a:ext cx="10972800" cy="304800"/>
          </a:xfrm>
          <a:prstGeom prst="rect">
            <a:avLst/>
          </a:prstGeom>
          <a:noFill/>
        </p:spPr>
        <p:txBody>
          <a:bodyPr wrap="none" lIns="0" rIns="0" tIns="0" bIns="0">
            <a:noAutofit/>
          </a:bodyPr>
          <a:lstStyle/>
          <a:p>
            <a:pPr>
              <a:lnSpc>
                <a:spcPts val="2005"/>
              </a:lnSpc>
              <a:spcAft>
                <a:spcPts val="0"/>
              </a:spcAft>
              <a:defRPr sz="1700" b="0">
                <a:solidFill>
                  <a:srgbClr val="555C67"/>
                </a:solidFill>
                <a:latin typeface="Arial"/>
              </a:defRPr>
            </a:pPr>
            <a:r>
              <a:t>Druhý tým je projde sám podle našich kroků.</a:t>
            </a:r>
          </a:p>
        </p:txBody>
      </p:sp>
      <p:sp>
        <p:nvSpPr>
          <p:cNvPr id="12" name="Rounded Rectangle 11"/>
          <p:cNvSpPr/>
          <p:nvPr/>
        </p:nvSpPr>
        <p:spPr>
          <a:xfrm>
            <a:off x="609600" y="1905000"/>
            <a:ext cx="4851400" cy="355600"/>
          </a:xfrm>
          <a:prstGeom prst="roundRect">
            <a:avLst>
              <a:gd name="adj" fmla="val 50000"/>
            </a:avLst>
          </a:prstGeom>
          <a:solidFill>
            <a:srgbClr val="1618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800" y="2000250"/>
            <a:ext cx="4445000" cy="228600"/>
          </a:xfrm>
          <a:prstGeom prst="rect">
            <a:avLst/>
          </a:prstGeom>
          <a:noFill/>
        </p:spPr>
        <p:txBody>
          <a:bodyPr wrap="none" lIns="0" rIns="0" tIns="0" bIns="0">
            <a:noAutofit/>
          </a:bodyPr>
          <a:lstStyle/>
          <a:p>
            <a:pPr>
              <a:lnSpc>
                <a:spcPts val="1534"/>
              </a:lnSpc>
              <a:spcAft>
                <a:spcPts val="0"/>
              </a:spcAft>
              <a:defRPr sz="1300" b="1">
                <a:solidFill>
                  <a:srgbClr val="FFFDF8"/>
                </a:solidFill>
                <a:latin typeface="Arial"/>
              </a:defRPr>
            </a:pPr>
            <a:r>
              <a:t>Scénář 1 · Sestavím si vlastní program</a:t>
            </a:r>
          </a:p>
        </p:txBody>
      </p:sp>
      <p:sp>
        <p:nvSpPr>
          <p:cNvPr id="14" name="Rounded Rectangle 13"/>
          <p:cNvSpPr/>
          <p:nvPr/>
        </p:nvSpPr>
        <p:spPr>
          <a:xfrm>
            <a:off x="6731000" y="1905000"/>
            <a:ext cx="4851400" cy="355600"/>
          </a:xfrm>
          <a:prstGeom prst="roundRect">
            <a:avLst>
              <a:gd name="adj" fmla="val 50000"/>
            </a:avLst>
          </a:prstGeom>
          <a:solidFill>
            <a:srgbClr val="1D7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34200" y="2000250"/>
            <a:ext cx="4445000" cy="228600"/>
          </a:xfrm>
          <a:prstGeom prst="rect">
            <a:avLst/>
          </a:prstGeom>
          <a:noFill/>
        </p:spPr>
        <p:txBody>
          <a:bodyPr wrap="none" lIns="0" rIns="0" tIns="0" bIns="0">
            <a:noAutofit/>
          </a:bodyPr>
          <a:lstStyle/>
          <a:p>
            <a:pPr>
              <a:lnSpc>
                <a:spcPts val="1534"/>
              </a:lnSpc>
              <a:spcAft>
                <a:spcPts val="0"/>
              </a:spcAft>
              <a:defRPr sz="1300" b="1">
                <a:solidFill>
                  <a:srgbClr val="FFFDF8"/>
                </a:solidFill>
                <a:latin typeface="Arial"/>
              </a:defRPr>
            </a:pPr>
            <a:r>
              <a:t>Scénář 2 · Chci lístek na svého interpreta</a:t>
            </a:r>
          </a:p>
        </p:txBody>
      </p:sp>
      <p:cxnSp>
        <p:nvCxnSpPr>
          <p:cNvPr id="16" name="Connector 15"/>
          <p:cNvCxnSpPr/>
          <p:nvPr/>
        </p:nvCxnSpPr>
        <p:spPr>
          <a:xfrm>
            <a:off x="6096000" y="1905000"/>
            <a:ext cx="0" cy="4038600"/>
          </a:xfrm>
          <a:prstGeom prst="line">
            <a:avLst/>
          </a:prstGeom>
          <a:ln w="19050">
            <a:solidFill>
              <a:srgbClr val="D8D0C0"/>
            </a:solidFill>
            <a:prstDash val="dash"/>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9600" y="2413000"/>
            <a:ext cx="2286000" cy="2997200"/>
          </a:xfrm>
          <a:prstGeom prst="roundRect">
            <a:avLst>
              <a:gd name="adj" fmla="val 7777"/>
            </a:avLst>
          </a:prstGeom>
          <a:solidFill>
            <a:srgbClr val="0507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3"/>
          <a:stretch>
            <a:fillRect/>
          </a:stretch>
        </p:blipFill>
        <p:spPr>
          <a:xfrm>
            <a:off x="685800" y="2489200"/>
            <a:ext cx="2133600" cy="2844800"/>
          </a:xfrm>
          <a:prstGeom prst="rect">
            <a:avLst/>
          </a:prstGeom>
        </p:spPr>
      </p:pic>
      <p:sp>
        <p:nvSpPr>
          <p:cNvPr id="19" name="TextBox 18"/>
          <p:cNvSpPr txBox="1"/>
          <p:nvPr/>
        </p:nvSpPr>
        <p:spPr>
          <a:xfrm>
            <a:off x="2908300" y="3759200"/>
            <a:ext cx="279400" cy="292100"/>
          </a:xfrm>
          <a:prstGeom prst="rect">
            <a:avLst/>
          </a:prstGeom>
          <a:noFill/>
        </p:spPr>
        <p:txBody>
          <a:bodyPr wrap="none" lIns="0" rIns="0" tIns="0" bIns="0">
            <a:noAutofit/>
          </a:bodyPr>
          <a:lstStyle/>
          <a:p>
            <a:pPr>
              <a:lnSpc>
                <a:spcPts val="2005"/>
              </a:lnSpc>
              <a:spcAft>
                <a:spcPts val="0"/>
              </a:spcAft>
              <a:defRPr sz="1700" b="1">
                <a:solidFill>
                  <a:srgbClr val="C9481A"/>
                </a:solidFill>
                <a:latin typeface="Arial"/>
              </a:defRPr>
            </a:pPr>
            <a:r>
              <a:t>→</a:t>
            </a:r>
          </a:p>
        </p:txBody>
      </p:sp>
      <p:sp>
        <p:nvSpPr>
          <p:cNvPr id="20" name="Oval 19"/>
          <p:cNvSpPr/>
          <p:nvPr/>
        </p:nvSpPr>
        <p:spPr>
          <a:xfrm>
            <a:off x="609600" y="5537200"/>
            <a:ext cx="304800" cy="304800"/>
          </a:xfrm>
          <a:prstGeom prst="ellipse">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9621" y="5625592"/>
            <a:ext cx="110157" cy="215900"/>
          </a:xfrm>
          <a:prstGeom prst="rect">
            <a:avLst/>
          </a:prstGeom>
          <a:noFill/>
        </p:spPr>
        <p:txBody>
          <a:bodyPr wrap="none" lIns="0" rIns="0" tIns="0" bIns="0">
            <a:noAutofit/>
          </a:bodyPr>
          <a:lstStyle/>
          <a:p>
            <a:pPr>
              <a:lnSpc>
                <a:spcPts val="1416"/>
              </a:lnSpc>
              <a:spcAft>
                <a:spcPts val="0"/>
              </a:spcAft>
              <a:defRPr sz="1200" b="1">
                <a:solidFill>
                  <a:srgbClr val="16181D"/>
                </a:solidFill>
                <a:latin typeface="Arial"/>
              </a:defRPr>
            </a:pPr>
            <a:r>
              <a:t>1</a:t>
            </a:r>
          </a:p>
        </p:txBody>
      </p:sp>
      <p:sp>
        <p:nvSpPr>
          <p:cNvPr id="22" name="TextBox 21"/>
          <p:cNvSpPr txBox="1"/>
          <p:nvPr/>
        </p:nvSpPr>
        <p:spPr>
          <a:xfrm>
            <a:off x="1016000" y="5562600"/>
            <a:ext cx="1879600" cy="444500"/>
          </a:xfrm>
          <a:prstGeom prst="rect">
            <a:avLst/>
          </a:prstGeom>
          <a:noFill/>
        </p:spPr>
        <p:txBody>
          <a:bodyPr wrap="none" lIns="0" rIns="0" tIns="0" bIns="0">
            <a:noAutofit/>
          </a:bodyPr>
          <a:lstStyle/>
          <a:p>
            <a:pPr>
              <a:lnSpc>
                <a:spcPts val="1534"/>
              </a:lnSpc>
              <a:spcAft>
                <a:spcPts val="0"/>
              </a:spcAft>
              <a:defRPr sz="1300" b="0">
                <a:solidFill>
                  <a:srgbClr val="16181D"/>
                </a:solidFill>
                <a:latin typeface="Arial"/>
              </a:defRPr>
            </a:pPr>
            <a:r>
              <a:t>Vyberu 1. srpna a River</a:t>
            </a:r>
          </a:p>
          <a:p>
            <a:pPr>
              <a:lnSpc>
                <a:spcPts val="1534"/>
              </a:lnSpc>
              <a:spcAft>
                <a:spcPts val="0"/>
              </a:spcAft>
              <a:defRPr sz="1300" b="0">
                <a:solidFill>
                  <a:srgbClr val="16181D"/>
                </a:solidFill>
                <a:latin typeface="Arial"/>
              </a:defRPr>
            </a:pPr>
            <a:r>
              <a:t>Stage</a:t>
            </a:r>
          </a:p>
        </p:txBody>
      </p:sp>
      <p:sp>
        <p:nvSpPr>
          <p:cNvPr id="23" name="Rounded Rectangle 22"/>
          <p:cNvSpPr/>
          <p:nvPr/>
        </p:nvSpPr>
        <p:spPr>
          <a:xfrm>
            <a:off x="3175000" y="2413000"/>
            <a:ext cx="2286000" cy="2997200"/>
          </a:xfrm>
          <a:prstGeom prst="roundRect">
            <a:avLst>
              <a:gd name="adj" fmla="val 7777"/>
            </a:avLst>
          </a:prstGeom>
          <a:solidFill>
            <a:srgbClr val="0507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4"/>
          <a:stretch>
            <a:fillRect/>
          </a:stretch>
        </p:blipFill>
        <p:spPr>
          <a:xfrm>
            <a:off x="3251200" y="2489200"/>
            <a:ext cx="2133600" cy="2844800"/>
          </a:xfrm>
          <a:prstGeom prst="rect">
            <a:avLst/>
          </a:prstGeom>
        </p:spPr>
      </p:pic>
      <p:sp>
        <p:nvSpPr>
          <p:cNvPr id="25" name="Oval 24"/>
          <p:cNvSpPr/>
          <p:nvPr/>
        </p:nvSpPr>
        <p:spPr>
          <a:xfrm>
            <a:off x="3175000" y="5537200"/>
            <a:ext cx="304800" cy="304800"/>
          </a:xfrm>
          <a:prstGeom prst="ellipse">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85021" y="5625592"/>
            <a:ext cx="110157" cy="215900"/>
          </a:xfrm>
          <a:prstGeom prst="rect">
            <a:avLst/>
          </a:prstGeom>
          <a:noFill/>
        </p:spPr>
        <p:txBody>
          <a:bodyPr wrap="none" lIns="0" rIns="0" tIns="0" bIns="0">
            <a:noAutofit/>
          </a:bodyPr>
          <a:lstStyle/>
          <a:p>
            <a:pPr>
              <a:lnSpc>
                <a:spcPts val="1416"/>
              </a:lnSpc>
              <a:spcAft>
                <a:spcPts val="0"/>
              </a:spcAft>
              <a:defRPr sz="1200" b="1">
                <a:solidFill>
                  <a:srgbClr val="16181D"/>
                </a:solidFill>
                <a:latin typeface="Arial"/>
              </a:defRPr>
            </a:pPr>
            <a:r>
              <a:t>2</a:t>
            </a:r>
          </a:p>
        </p:txBody>
      </p:sp>
      <p:sp>
        <p:nvSpPr>
          <p:cNvPr id="27" name="TextBox 26"/>
          <p:cNvSpPr txBox="1"/>
          <p:nvPr/>
        </p:nvSpPr>
        <p:spPr>
          <a:xfrm>
            <a:off x="3581400" y="5562600"/>
            <a:ext cx="1879600" cy="444500"/>
          </a:xfrm>
          <a:prstGeom prst="rect">
            <a:avLst/>
          </a:prstGeom>
          <a:noFill/>
        </p:spPr>
        <p:txBody>
          <a:bodyPr wrap="none" lIns="0" rIns="0" tIns="0" bIns="0">
            <a:noAutofit/>
          </a:bodyPr>
          <a:lstStyle/>
          <a:p>
            <a:pPr>
              <a:lnSpc>
                <a:spcPts val="1534"/>
              </a:lnSpc>
              <a:spcAft>
                <a:spcPts val="0"/>
              </a:spcAft>
              <a:defRPr sz="1300" b="0">
                <a:solidFill>
                  <a:srgbClr val="16181D"/>
                </a:solidFill>
                <a:latin typeface="Arial"/>
              </a:defRPr>
            </a:pPr>
            <a:r>
              <a:t>Koncert si uložím do</a:t>
            </a:r>
          </a:p>
          <a:p>
            <a:pPr>
              <a:lnSpc>
                <a:spcPts val="1534"/>
              </a:lnSpc>
              <a:spcAft>
                <a:spcPts val="0"/>
              </a:spcAft>
              <a:defRPr sz="1300" b="0">
                <a:solidFill>
                  <a:srgbClr val="16181D"/>
                </a:solidFill>
                <a:latin typeface="Arial"/>
              </a:defRPr>
            </a:pPr>
            <a:r>
              <a:t>svého programu</a:t>
            </a:r>
          </a:p>
        </p:txBody>
      </p:sp>
      <p:sp>
        <p:nvSpPr>
          <p:cNvPr id="28" name="Rounded Rectangle 27"/>
          <p:cNvSpPr/>
          <p:nvPr/>
        </p:nvSpPr>
        <p:spPr>
          <a:xfrm>
            <a:off x="6731000" y="2413000"/>
            <a:ext cx="2286000" cy="2997200"/>
          </a:xfrm>
          <a:prstGeom prst="roundRect">
            <a:avLst>
              <a:gd name="adj" fmla="val 7777"/>
            </a:avLst>
          </a:prstGeom>
          <a:solidFill>
            <a:srgbClr val="0507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5"/>
          <a:stretch>
            <a:fillRect/>
          </a:stretch>
        </p:blipFill>
        <p:spPr>
          <a:xfrm>
            <a:off x="6807200" y="2489200"/>
            <a:ext cx="2133600" cy="2844800"/>
          </a:xfrm>
          <a:prstGeom prst="rect">
            <a:avLst/>
          </a:prstGeom>
        </p:spPr>
      </p:pic>
      <p:sp>
        <p:nvSpPr>
          <p:cNvPr id="30" name="TextBox 29"/>
          <p:cNvSpPr txBox="1"/>
          <p:nvPr/>
        </p:nvSpPr>
        <p:spPr>
          <a:xfrm>
            <a:off x="9029700" y="3759200"/>
            <a:ext cx="279400" cy="292100"/>
          </a:xfrm>
          <a:prstGeom prst="rect">
            <a:avLst/>
          </a:prstGeom>
          <a:noFill/>
        </p:spPr>
        <p:txBody>
          <a:bodyPr wrap="none" lIns="0" rIns="0" tIns="0" bIns="0">
            <a:noAutofit/>
          </a:bodyPr>
          <a:lstStyle/>
          <a:p>
            <a:pPr>
              <a:lnSpc>
                <a:spcPts val="2005"/>
              </a:lnSpc>
              <a:spcAft>
                <a:spcPts val="0"/>
              </a:spcAft>
              <a:defRPr sz="1700" b="1">
                <a:solidFill>
                  <a:srgbClr val="C9481A"/>
                </a:solidFill>
                <a:latin typeface="Arial"/>
              </a:defRPr>
            </a:pPr>
            <a:r>
              <a:t>→</a:t>
            </a:r>
          </a:p>
        </p:txBody>
      </p:sp>
      <p:sp>
        <p:nvSpPr>
          <p:cNvPr id="31" name="Oval 30"/>
          <p:cNvSpPr/>
          <p:nvPr/>
        </p:nvSpPr>
        <p:spPr>
          <a:xfrm>
            <a:off x="6731000" y="5537200"/>
            <a:ext cx="304800" cy="304800"/>
          </a:xfrm>
          <a:prstGeom prst="ellipse">
            <a:avLst/>
          </a:prstGeom>
          <a:solidFill>
            <a:srgbClr val="7FD3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41021" y="5625592"/>
            <a:ext cx="110157" cy="215900"/>
          </a:xfrm>
          <a:prstGeom prst="rect">
            <a:avLst/>
          </a:prstGeom>
          <a:noFill/>
        </p:spPr>
        <p:txBody>
          <a:bodyPr wrap="none" lIns="0" rIns="0" tIns="0" bIns="0">
            <a:noAutofit/>
          </a:bodyPr>
          <a:lstStyle/>
          <a:p>
            <a:pPr>
              <a:lnSpc>
                <a:spcPts val="1416"/>
              </a:lnSpc>
              <a:spcAft>
                <a:spcPts val="0"/>
              </a:spcAft>
              <a:defRPr sz="1200" b="1">
                <a:solidFill>
                  <a:srgbClr val="16181D"/>
                </a:solidFill>
                <a:latin typeface="Arial"/>
              </a:defRPr>
            </a:pPr>
            <a:r>
              <a:t>3</a:t>
            </a:r>
          </a:p>
        </p:txBody>
      </p:sp>
      <p:sp>
        <p:nvSpPr>
          <p:cNvPr id="33" name="TextBox 32"/>
          <p:cNvSpPr txBox="1"/>
          <p:nvPr/>
        </p:nvSpPr>
        <p:spPr>
          <a:xfrm>
            <a:off x="7137400" y="5562600"/>
            <a:ext cx="1879600" cy="444500"/>
          </a:xfrm>
          <a:prstGeom prst="rect">
            <a:avLst/>
          </a:prstGeom>
          <a:noFill/>
        </p:spPr>
        <p:txBody>
          <a:bodyPr wrap="none" lIns="0" rIns="0" tIns="0" bIns="0">
            <a:noAutofit/>
          </a:bodyPr>
          <a:lstStyle/>
          <a:p>
            <a:pPr>
              <a:lnSpc>
                <a:spcPts val="1534"/>
              </a:lnSpc>
              <a:spcAft>
                <a:spcPts val="0"/>
              </a:spcAft>
              <a:defRPr sz="1300" b="0">
                <a:solidFill>
                  <a:srgbClr val="16181D"/>
                </a:solidFill>
                <a:latin typeface="Arial"/>
              </a:defRPr>
            </a:pPr>
            <a:r>
              <a:t>Napíšu „DARK“ a najdu</a:t>
            </a:r>
          </a:p>
          <a:p>
            <a:pPr>
              <a:lnSpc>
                <a:spcPts val="1534"/>
              </a:lnSpc>
              <a:spcAft>
                <a:spcPts val="0"/>
              </a:spcAft>
              <a:defRPr sz="1300" b="0">
                <a:solidFill>
                  <a:srgbClr val="16181D"/>
                </a:solidFill>
                <a:latin typeface="Arial"/>
              </a:defRPr>
            </a:pPr>
            <a:r>
              <a:t>DARKZY</a:t>
            </a:r>
          </a:p>
        </p:txBody>
      </p:sp>
      <p:sp>
        <p:nvSpPr>
          <p:cNvPr id="34" name="Rounded Rectangle 33"/>
          <p:cNvSpPr/>
          <p:nvPr/>
        </p:nvSpPr>
        <p:spPr>
          <a:xfrm>
            <a:off x="9296400" y="2413000"/>
            <a:ext cx="2286000" cy="2997200"/>
          </a:xfrm>
          <a:prstGeom prst="roundRect">
            <a:avLst>
              <a:gd name="adj" fmla="val 7777"/>
            </a:avLst>
          </a:prstGeom>
          <a:solidFill>
            <a:srgbClr val="0507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mage.png"/>
          <p:cNvPicPr>
            <a:picLocks noChangeAspect="1"/>
          </p:cNvPicPr>
          <p:nvPr/>
        </p:nvPicPr>
        <p:blipFill>
          <a:blip r:embed="rId6"/>
          <a:stretch>
            <a:fillRect/>
          </a:stretch>
        </p:blipFill>
        <p:spPr>
          <a:xfrm>
            <a:off x="9372600" y="2489200"/>
            <a:ext cx="2133600" cy="2844800"/>
          </a:xfrm>
          <a:prstGeom prst="rect">
            <a:avLst/>
          </a:prstGeom>
        </p:spPr>
      </p:pic>
      <p:sp>
        <p:nvSpPr>
          <p:cNvPr id="36" name="Oval 35"/>
          <p:cNvSpPr/>
          <p:nvPr/>
        </p:nvSpPr>
        <p:spPr>
          <a:xfrm>
            <a:off x="9296400" y="5537200"/>
            <a:ext cx="304800" cy="304800"/>
          </a:xfrm>
          <a:prstGeom prst="ellipse">
            <a:avLst/>
          </a:prstGeom>
          <a:solidFill>
            <a:srgbClr val="7FD3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406421" y="5625592"/>
            <a:ext cx="110157" cy="215900"/>
          </a:xfrm>
          <a:prstGeom prst="rect">
            <a:avLst/>
          </a:prstGeom>
          <a:noFill/>
        </p:spPr>
        <p:txBody>
          <a:bodyPr wrap="none" lIns="0" rIns="0" tIns="0" bIns="0">
            <a:noAutofit/>
          </a:bodyPr>
          <a:lstStyle/>
          <a:p>
            <a:pPr>
              <a:lnSpc>
                <a:spcPts val="1416"/>
              </a:lnSpc>
              <a:spcAft>
                <a:spcPts val="0"/>
              </a:spcAft>
              <a:defRPr sz="1200" b="1">
                <a:solidFill>
                  <a:srgbClr val="16181D"/>
                </a:solidFill>
                <a:latin typeface="Arial"/>
              </a:defRPr>
            </a:pPr>
            <a:r>
              <a:t>4</a:t>
            </a:r>
          </a:p>
        </p:txBody>
      </p:sp>
      <p:sp>
        <p:nvSpPr>
          <p:cNvPr id="38" name="TextBox 37"/>
          <p:cNvSpPr txBox="1"/>
          <p:nvPr/>
        </p:nvSpPr>
        <p:spPr>
          <a:xfrm>
            <a:off x="9702800" y="5562600"/>
            <a:ext cx="1879600" cy="444500"/>
          </a:xfrm>
          <a:prstGeom prst="rect">
            <a:avLst/>
          </a:prstGeom>
          <a:noFill/>
        </p:spPr>
        <p:txBody>
          <a:bodyPr wrap="none" lIns="0" rIns="0" tIns="0" bIns="0">
            <a:noAutofit/>
          </a:bodyPr>
          <a:lstStyle/>
          <a:p>
            <a:pPr>
              <a:lnSpc>
                <a:spcPts val="1534"/>
              </a:lnSpc>
              <a:spcAft>
                <a:spcPts val="0"/>
              </a:spcAft>
              <a:defRPr sz="1300" b="0">
                <a:solidFill>
                  <a:srgbClr val="16181D"/>
                </a:solidFill>
                <a:latin typeface="Arial"/>
              </a:defRPr>
            </a:pPr>
            <a:r>
              <a:t>Web sám vybere</a:t>
            </a:r>
          </a:p>
          <a:p>
            <a:pPr>
              <a:lnSpc>
                <a:spcPts val="1534"/>
              </a:lnSpc>
              <a:spcAft>
                <a:spcPts val="0"/>
              </a:spcAft>
              <a:defRPr sz="1300" b="0">
                <a:solidFill>
                  <a:srgbClr val="16181D"/>
                </a:solidFill>
                <a:latin typeface="Arial"/>
              </a:defRPr>
            </a:pPr>
            <a:r>
              <a:t>správný den a scénu</a:t>
            </a:r>
          </a:p>
        </p:txBody>
      </p:sp>
      <p:sp>
        <p:nvSpPr>
          <p:cNvPr id="39" name="TextBox 38"/>
          <p:cNvSpPr txBox="1"/>
          <p:nvPr/>
        </p:nvSpPr>
        <p:spPr>
          <a:xfrm>
            <a:off x="609600" y="6451600"/>
            <a:ext cx="7620000" cy="190500"/>
          </a:xfrm>
          <a:prstGeom prst="rect">
            <a:avLst/>
          </a:prstGeom>
          <a:noFill/>
        </p:spPr>
        <p:txBody>
          <a:bodyPr wrap="none" lIns="0" rIns="0" tIns="0" bIns="0">
            <a:noAutofit/>
          </a:bodyPr>
          <a:lstStyle/>
          <a:p>
            <a:pPr>
              <a:lnSpc>
                <a:spcPts val="1180"/>
              </a:lnSpc>
              <a:spcAft>
                <a:spcPts val="0"/>
              </a:spcAft>
              <a:defRPr sz="1000" b="0">
                <a:solidFill>
                  <a:srgbClr val="555C67"/>
                </a:solidFill>
                <a:latin typeface="Arial"/>
              </a:defRPr>
            </a:pPr>
            <a:r>
              <a:t>1.–3. srpna 2027 · Výstaviště Praha · Michal Ladra, Matěj Mlejnek, Jan Martínek</a:t>
            </a:r>
          </a:p>
        </p:txBody>
      </p:sp>
      <p:sp>
        <p:nvSpPr>
          <p:cNvPr id="40" name="TextBox 39"/>
          <p:cNvSpPr txBox="1"/>
          <p:nvPr/>
        </p:nvSpPr>
        <p:spPr>
          <a:xfrm>
            <a:off x="11074400" y="6438900"/>
            <a:ext cx="508000" cy="203200"/>
          </a:xfrm>
          <a:prstGeom prst="rect">
            <a:avLst/>
          </a:prstGeom>
          <a:noFill/>
        </p:spPr>
        <p:txBody>
          <a:bodyPr wrap="none" lIns="0" rIns="0" tIns="0" bIns="0">
            <a:noAutofit/>
          </a:bodyPr>
          <a:lstStyle/>
          <a:p>
            <a:pPr>
              <a:lnSpc>
                <a:spcPts val="1297"/>
              </a:lnSpc>
              <a:spcAft>
                <a:spcPts val="0"/>
              </a:spcAft>
              <a:defRPr sz="1100" b="1">
                <a:solidFill>
                  <a:srgbClr val="555C67"/>
                </a:solidFill>
                <a:latin typeface="Arial"/>
              </a:defRPr>
            </a:pPr>
            <a:r>
              <a:t>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5080000" cy="190500"/>
          </a:xfrm>
          <a:prstGeom prst="rect">
            <a:avLst/>
          </a:prstGeom>
          <a:noFill/>
        </p:spPr>
        <p:txBody>
          <a:bodyPr wrap="none" lIns="0" rIns="0" tIns="0" bIns="0">
            <a:noAutofit/>
          </a:bodyPr>
          <a:lstStyle/>
          <a:p>
            <a:pPr>
              <a:lnSpc>
                <a:spcPts val="1180"/>
              </a:lnSpc>
              <a:spcAft>
                <a:spcPts val="0"/>
              </a:spcAft>
              <a:defRPr sz="1000" b="1">
                <a:solidFill>
                  <a:srgbClr val="16181D"/>
                </a:solidFill>
                <a:latin typeface="Arial"/>
              </a:defRPr>
            </a:pPr>
            <a:r>
              <a:t>PRAGUE PULSE FEST · CVIČENÍ 5</a:t>
            </a:r>
          </a:p>
        </p:txBody>
      </p:sp>
      <p:sp>
        <p:nvSpPr>
          <p:cNvPr id="4" name="Rounded Rectangle 3"/>
          <p:cNvSpPr/>
          <p:nvPr/>
        </p:nvSpPr>
        <p:spPr>
          <a:xfrm>
            <a:off x="95250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8806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2362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5918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7400" y="368300"/>
            <a:ext cx="279400" cy="63500"/>
          </a:xfrm>
          <a:prstGeom prst="roundRect">
            <a:avLst>
              <a:gd name="adj" fmla="val 50000"/>
            </a:avLst>
          </a:prstGeom>
          <a:solidFill>
            <a:srgbClr val="D8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303000" y="368300"/>
            <a:ext cx="279400" cy="63500"/>
          </a:xfrm>
          <a:prstGeom prst="roundRect">
            <a:avLst>
              <a:gd name="adj" fmla="val 50000"/>
            </a:avLst>
          </a:prstGeom>
          <a:solidFill>
            <a:srgbClr val="D8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600" y="736600"/>
            <a:ext cx="10972800" cy="558800"/>
          </a:xfrm>
          <a:prstGeom prst="rect">
            <a:avLst/>
          </a:prstGeom>
          <a:noFill/>
        </p:spPr>
        <p:txBody>
          <a:bodyPr wrap="none" lIns="0" rIns="0" tIns="0" bIns="0">
            <a:noAutofit/>
          </a:bodyPr>
          <a:lstStyle/>
          <a:p>
            <a:pPr>
              <a:lnSpc>
                <a:spcPts val="4011"/>
              </a:lnSpc>
              <a:spcAft>
                <a:spcPts val="0"/>
              </a:spcAft>
              <a:defRPr sz="3400" b="1">
                <a:solidFill>
                  <a:srgbClr val="16181D"/>
                </a:solidFill>
                <a:latin typeface="Arial"/>
              </a:defRPr>
            </a:pPr>
            <a:r>
              <a:t>Scénář 3: nákup na dva dny</a:t>
            </a:r>
          </a:p>
        </p:txBody>
      </p:sp>
      <p:sp>
        <p:nvSpPr>
          <p:cNvPr id="11" name="TextBox 10"/>
          <p:cNvSpPr txBox="1"/>
          <p:nvPr/>
        </p:nvSpPr>
        <p:spPr>
          <a:xfrm>
            <a:off x="609600" y="1371600"/>
            <a:ext cx="10972800" cy="304800"/>
          </a:xfrm>
          <a:prstGeom prst="rect">
            <a:avLst/>
          </a:prstGeom>
          <a:noFill/>
        </p:spPr>
        <p:txBody>
          <a:bodyPr wrap="none" lIns="0" rIns="0" tIns="0" bIns="0">
            <a:noAutofit/>
          </a:bodyPr>
          <a:lstStyle/>
          <a:p>
            <a:pPr>
              <a:lnSpc>
                <a:spcPts val="2005"/>
              </a:lnSpc>
              <a:spcAft>
                <a:spcPts val="0"/>
              </a:spcAft>
              <a:defRPr sz="1700" b="0">
                <a:solidFill>
                  <a:srgbClr val="555C67"/>
                </a:solidFill>
                <a:latin typeface="Arial"/>
              </a:defRPr>
            </a:pPr>
            <a:r>
              <a:t>Host bez registrace koupí dvě vstupenky VIP, stan a použije slevový kód.</a:t>
            </a:r>
          </a:p>
        </p:txBody>
      </p:sp>
      <p:sp>
        <p:nvSpPr>
          <p:cNvPr id="12" name="Rounded Rectangle 11"/>
          <p:cNvSpPr/>
          <p:nvPr/>
        </p:nvSpPr>
        <p:spPr>
          <a:xfrm>
            <a:off x="609600" y="1905000"/>
            <a:ext cx="4851400" cy="355600"/>
          </a:xfrm>
          <a:prstGeom prst="roundRect">
            <a:avLst>
              <a:gd name="adj" fmla="val 50000"/>
            </a:avLst>
          </a:prstGeom>
          <a:solidFill>
            <a:srgbClr val="1618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800" y="2000250"/>
            <a:ext cx="4445000" cy="228600"/>
          </a:xfrm>
          <a:prstGeom prst="rect">
            <a:avLst/>
          </a:prstGeom>
          <a:noFill/>
        </p:spPr>
        <p:txBody>
          <a:bodyPr wrap="none" lIns="0" rIns="0" tIns="0" bIns="0">
            <a:noAutofit/>
          </a:bodyPr>
          <a:lstStyle/>
          <a:p>
            <a:pPr>
              <a:lnSpc>
                <a:spcPts val="1534"/>
              </a:lnSpc>
              <a:spcAft>
                <a:spcPts val="0"/>
              </a:spcAft>
              <a:defRPr sz="1300" b="1">
                <a:solidFill>
                  <a:srgbClr val="FFFDF8"/>
                </a:solidFill>
                <a:latin typeface="Arial"/>
              </a:defRPr>
            </a:pPr>
            <a:r>
              <a:t>Výběr vstupenek</a:t>
            </a:r>
          </a:p>
        </p:txBody>
      </p:sp>
      <p:sp>
        <p:nvSpPr>
          <p:cNvPr id="14" name="Rounded Rectangle 13"/>
          <p:cNvSpPr/>
          <p:nvPr/>
        </p:nvSpPr>
        <p:spPr>
          <a:xfrm>
            <a:off x="6731000" y="1905000"/>
            <a:ext cx="4851400" cy="355600"/>
          </a:xfrm>
          <a:prstGeom prst="roundRect">
            <a:avLst>
              <a:gd name="adj" fmla="val 50000"/>
            </a:avLst>
          </a:prstGeom>
          <a:solidFill>
            <a:srgbClr val="1D7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34200" y="2000250"/>
            <a:ext cx="4445000" cy="228600"/>
          </a:xfrm>
          <a:prstGeom prst="rect">
            <a:avLst/>
          </a:prstGeom>
          <a:noFill/>
        </p:spPr>
        <p:txBody>
          <a:bodyPr wrap="none" lIns="0" rIns="0" tIns="0" bIns="0">
            <a:noAutofit/>
          </a:bodyPr>
          <a:lstStyle/>
          <a:p>
            <a:pPr>
              <a:lnSpc>
                <a:spcPts val="1534"/>
              </a:lnSpc>
              <a:spcAft>
                <a:spcPts val="0"/>
              </a:spcAft>
              <a:defRPr sz="1300" b="1">
                <a:solidFill>
                  <a:srgbClr val="FFFDF8"/>
                </a:solidFill>
                <a:latin typeface="Arial"/>
              </a:defRPr>
            </a:pPr>
            <a:r>
              <a:t>Košík a vstupenka</a:t>
            </a:r>
          </a:p>
        </p:txBody>
      </p:sp>
      <p:cxnSp>
        <p:nvCxnSpPr>
          <p:cNvPr id="16" name="Connector 15"/>
          <p:cNvCxnSpPr/>
          <p:nvPr/>
        </p:nvCxnSpPr>
        <p:spPr>
          <a:xfrm>
            <a:off x="6096000" y="1905000"/>
            <a:ext cx="0" cy="4038600"/>
          </a:xfrm>
          <a:prstGeom prst="line">
            <a:avLst/>
          </a:prstGeom>
          <a:ln w="19050">
            <a:solidFill>
              <a:srgbClr val="D8D0C0"/>
            </a:solidFill>
            <a:prstDash val="dash"/>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9600" y="2413000"/>
            <a:ext cx="2286000" cy="2997200"/>
          </a:xfrm>
          <a:prstGeom prst="roundRect">
            <a:avLst>
              <a:gd name="adj" fmla="val 7777"/>
            </a:avLst>
          </a:prstGeom>
          <a:solidFill>
            <a:srgbClr val="0507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3"/>
          <a:stretch>
            <a:fillRect/>
          </a:stretch>
        </p:blipFill>
        <p:spPr>
          <a:xfrm>
            <a:off x="685800" y="2489200"/>
            <a:ext cx="2133600" cy="2844800"/>
          </a:xfrm>
          <a:prstGeom prst="rect">
            <a:avLst/>
          </a:prstGeom>
        </p:spPr>
      </p:pic>
      <p:sp>
        <p:nvSpPr>
          <p:cNvPr id="19" name="TextBox 18"/>
          <p:cNvSpPr txBox="1"/>
          <p:nvPr/>
        </p:nvSpPr>
        <p:spPr>
          <a:xfrm>
            <a:off x="2908300" y="3759200"/>
            <a:ext cx="279400" cy="292100"/>
          </a:xfrm>
          <a:prstGeom prst="rect">
            <a:avLst/>
          </a:prstGeom>
          <a:noFill/>
        </p:spPr>
        <p:txBody>
          <a:bodyPr wrap="none" lIns="0" rIns="0" tIns="0" bIns="0">
            <a:noAutofit/>
          </a:bodyPr>
          <a:lstStyle/>
          <a:p>
            <a:pPr>
              <a:lnSpc>
                <a:spcPts val="2005"/>
              </a:lnSpc>
              <a:spcAft>
                <a:spcPts val="0"/>
              </a:spcAft>
              <a:defRPr sz="1700" b="1">
                <a:solidFill>
                  <a:srgbClr val="C9481A"/>
                </a:solidFill>
                <a:latin typeface="Arial"/>
              </a:defRPr>
            </a:pPr>
            <a:r>
              <a:t>→</a:t>
            </a:r>
          </a:p>
        </p:txBody>
      </p:sp>
      <p:sp>
        <p:nvSpPr>
          <p:cNvPr id="20" name="Oval 19"/>
          <p:cNvSpPr/>
          <p:nvPr/>
        </p:nvSpPr>
        <p:spPr>
          <a:xfrm>
            <a:off x="609600" y="5537200"/>
            <a:ext cx="304800" cy="304800"/>
          </a:xfrm>
          <a:prstGeom prst="ellipse">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9621" y="5625592"/>
            <a:ext cx="110157" cy="215900"/>
          </a:xfrm>
          <a:prstGeom prst="rect">
            <a:avLst/>
          </a:prstGeom>
          <a:noFill/>
        </p:spPr>
        <p:txBody>
          <a:bodyPr wrap="none" lIns="0" rIns="0" tIns="0" bIns="0">
            <a:noAutofit/>
          </a:bodyPr>
          <a:lstStyle/>
          <a:p>
            <a:pPr>
              <a:lnSpc>
                <a:spcPts val="1416"/>
              </a:lnSpc>
              <a:spcAft>
                <a:spcPts val="0"/>
              </a:spcAft>
              <a:defRPr sz="1200" b="1">
                <a:solidFill>
                  <a:srgbClr val="16181D"/>
                </a:solidFill>
                <a:latin typeface="Arial"/>
              </a:defRPr>
            </a:pPr>
            <a:r>
              <a:t>1</a:t>
            </a:r>
          </a:p>
        </p:txBody>
      </p:sp>
      <p:sp>
        <p:nvSpPr>
          <p:cNvPr id="22" name="TextBox 21"/>
          <p:cNvSpPr txBox="1"/>
          <p:nvPr/>
        </p:nvSpPr>
        <p:spPr>
          <a:xfrm>
            <a:off x="1016000" y="5562600"/>
            <a:ext cx="1879600" cy="444500"/>
          </a:xfrm>
          <a:prstGeom prst="rect">
            <a:avLst/>
          </a:prstGeom>
          <a:noFill/>
        </p:spPr>
        <p:txBody>
          <a:bodyPr wrap="none" lIns="0" rIns="0" tIns="0" bIns="0">
            <a:noAutofit/>
          </a:bodyPr>
          <a:lstStyle/>
          <a:p>
            <a:pPr>
              <a:lnSpc>
                <a:spcPts val="1534"/>
              </a:lnSpc>
              <a:spcAft>
                <a:spcPts val="0"/>
              </a:spcAft>
              <a:defRPr sz="1300" b="0">
                <a:solidFill>
                  <a:srgbClr val="16181D"/>
                </a:solidFill>
                <a:latin typeface="Arial"/>
              </a:defRPr>
            </a:pPr>
            <a:r>
              <a:t>Vybere 1. a 3. srpna</a:t>
            </a:r>
          </a:p>
        </p:txBody>
      </p:sp>
      <p:sp>
        <p:nvSpPr>
          <p:cNvPr id="23" name="Rounded Rectangle 22"/>
          <p:cNvSpPr/>
          <p:nvPr/>
        </p:nvSpPr>
        <p:spPr>
          <a:xfrm>
            <a:off x="3175000" y="2413000"/>
            <a:ext cx="2286000" cy="2997200"/>
          </a:xfrm>
          <a:prstGeom prst="roundRect">
            <a:avLst>
              <a:gd name="adj" fmla="val 7777"/>
            </a:avLst>
          </a:prstGeom>
          <a:solidFill>
            <a:srgbClr val="0507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4"/>
          <a:stretch>
            <a:fillRect/>
          </a:stretch>
        </p:blipFill>
        <p:spPr>
          <a:xfrm>
            <a:off x="3251200" y="2489200"/>
            <a:ext cx="2133600" cy="2844800"/>
          </a:xfrm>
          <a:prstGeom prst="rect">
            <a:avLst/>
          </a:prstGeom>
        </p:spPr>
      </p:pic>
      <p:sp>
        <p:nvSpPr>
          <p:cNvPr id="25" name="Oval 24"/>
          <p:cNvSpPr/>
          <p:nvPr/>
        </p:nvSpPr>
        <p:spPr>
          <a:xfrm>
            <a:off x="3175000" y="5537200"/>
            <a:ext cx="304800" cy="304800"/>
          </a:xfrm>
          <a:prstGeom prst="ellipse">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85021" y="5625592"/>
            <a:ext cx="110157" cy="215900"/>
          </a:xfrm>
          <a:prstGeom prst="rect">
            <a:avLst/>
          </a:prstGeom>
          <a:noFill/>
        </p:spPr>
        <p:txBody>
          <a:bodyPr wrap="none" lIns="0" rIns="0" tIns="0" bIns="0">
            <a:noAutofit/>
          </a:bodyPr>
          <a:lstStyle/>
          <a:p>
            <a:pPr>
              <a:lnSpc>
                <a:spcPts val="1416"/>
              </a:lnSpc>
              <a:spcAft>
                <a:spcPts val="0"/>
              </a:spcAft>
              <a:defRPr sz="1200" b="1">
                <a:solidFill>
                  <a:srgbClr val="16181D"/>
                </a:solidFill>
                <a:latin typeface="Arial"/>
              </a:defRPr>
            </a:pPr>
            <a:r>
              <a:t>2</a:t>
            </a:r>
          </a:p>
        </p:txBody>
      </p:sp>
      <p:sp>
        <p:nvSpPr>
          <p:cNvPr id="27" name="TextBox 26"/>
          <p:cNvSpPr txBox="1"/>
          <p:nvPr/>
        </p:nvSpPr>
        <p:spPr>
          <a:xfrm>
            <a:off x="3581400" y="5562600"/>
            <a:ext cx="1879600" cy="444500"/>
          </a:xfrm>
          <a:prstGeom prst="rect">
            <a:avLst/>
          </a:prstGeom>
          <a:noFill/>
        </p:spPr>
        <p:txBody>
          <a:bodyPr wrap="none" lIns="0" rIns="0" tIns="0" bIns="0">
            <a:noAutofit/>
          </a:bodyPr>
          <a:lstStyle/>
          <a:p>
            <a:pPr>
              <a:lnSpc>
                <a:spcPts val="1534"/>
              </a:lnSpc>
              <a:spcAft>
                <a:spcPts val="0"/>
              </a:spcAft>
              <a:defRPr sz="1300" b="0">
                <a:solidFill>
                  <a:srgbClr val="16181D"/>
                </a:solidFill>
                <a:latin typeface="Arial"/>
              </a:defRPr>
            </a:pPr>
            <a:r>
              <a:t>Klikne na dvě sedadla</a:t>
            </a:r>
          </a:p>
          <a:p>
            <a:pPr>
              <a:lnSpc>
                <a:spcPts val="1534"/>
              </a:lnSpc>
              <a:spcAft>
                <a:spcPts val="0"/>
              </a:spcAft>
              <a:defRPr sz="1300" b="0">
                <a:solidFill>
                  <a:srgbClr val="16181D"/>
                </a:solidFill>
                <a:latin typeface="Arial"/>
              </a:defRPr>
            </a:pPr>
            <a:r>
              <a:t>VIP</a:t>
            </a:r>
          </a:p>
        </p:txBody>
      </p:sp>
      <p:sp>
        <p:nvSpPr>
          <p:cNvPr id="28" name="Rounded Rectangle 27"/>
          <p:cNvSpPr/>
          <p:nvPr/>
        </p:nvSpPr>
        <p:spPr>
          <a:xfrm>
            <a:off x="6731000" y="2413000"/>
            <a:ext cx="2286000" cy="2997200"/>
          </a:xfrm>
          <a:prstGeom prst="roundRect">
            <a:avLst>
              <a:gd name="adj" fmla="val 7777"/>
            </a:avLst>
          </a:prstGeom>
          <a:solidFill>
            <a:srgbClr val="0507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5"/>
          <a:stretch>
            <a:fillRect/>
          </a:stretch>
        </p:blipFill>
        <p:spPr>
          <a:xfrm>
            <a:off x="6807200" y="2489200"/>
            <a:ext cx="2133600" cy="2844800"/>
          </a:xfrm>
          <a:prstGeom prst="rect">
            <a:avLst/>
          </a:prstGeom>
        </p:spPr>
      </p:pic>
      <p:sp>
        <p:nvSpPr>
          <p:cNvPr id="30" name="TextBox 29"/>
          <p:cNvSpPr txBox="1"/>
          <p:nvPr/>
        </p:nvSpPr>
        <p:spPr>
          <a:xfrm>
            <a:off x="9029700" y="3759200"/>
            <a:ext cx="279400" cy="292100"/>
          </a:xfrm>
          <a:prstGeom prst="rect">
            <a:avLst/>
          </a:prstGeom>
          <a:noFill/>
        </p:spPr>
        <p:txBody>
          <a:bodyPr wrap="none" lIns="0" rIns="0" tIns="0" bIns="0">
            <a:noAutofit/>
          </a:bodyPr>
          <a:lstStyle/>
          <a:p>
            <a:pPr>
              <a:lnSpc>
                <a:spcPts val="2005"/>
              </a:lnSpc>
              <a:spcAft>
                <a:spcPts val="0"/>
              </a:spcAft>
              <a:defRPr sz="1700" b="1">
                <a:solidFill>
                  <a:srgbClr val="C9481A"/>
                </a:solidFill>
                <a:latin typeface="Arial"/>
              </a:defRPr>
            </a:pPr>
            <a:r>
              <a:t>→</a:t>
            </a:r>
          </a:p>
        </p:txBody>
      </p:sp>
      <p:sp>
        <p:nvSpPr>
          <p:cNvPr id="31" name="Oval 30"/>
          <p:cNvSpPr/>
          <p:nvPr/>
        </p:nvSpPr>
        <p:spPr>
          <a:xfrm>
            <a:off x="6731000" y="5537200"/>
            <a:ext cx="304800" cy="304800"/>
          </a:xfrm>
          <a:prstGeom prst="ellipse">
            <a:avLst/>
          </a:prstGeom>
          <a:solidFill>
            <a:srgbClr val="7FD3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41021" y="5625592"/>
            <a:ext cx="110157" cy="215900"/>
          </a:xfrm>
          <a:prstGeom prst="rect">
            <a:avLst/>
          </a:prstGeom>
          <a:noFill/>
        </p:spPr>
        <p:txBody>
          <a:bodyPr wrap="none" lIns="0" rIns="0" tIns="0" bIns="0">
            <a:noAutofit/>
          </a:bodyPr>
          <a:lstStyle/>
          <a:p>
            <a:pPr>
              <a:lnSpc>
                <a:spcPts val="1416"/>
              </a:lnSpc>
              <a:spcAft>
                <a:spcPts val="0"/>
              </a:spcAft>
              <a:defRPr sz="1200" b="1">
                <a:solidFill>
                  <a:srgbClr val="16181D"/>
                </a:solidFill>
                <a:latin typeface="Arial"/>
              </a:defRPr>
            </a:pPr>
            <a:r>
              <a:t>3</a:t>
            </a:r>
          </a:p>
        </p:txBody>
      </p:sp>
      <p:sp>
        <p:nvSpPr>
          <p:cNvPr id="33" name="TextBox 32"/>
          <p:cNvSpPr txBox="1"/>
          <p:nvPr/>
        </p:nvSpPr>
        <p:spPr>
          <a:xfrm>
            <a:off x="7137400" y="5562600"/>
            <a:ext cx="1879600" cy="444500"/>
          </a:xfrm>
          <a:prstGeom prst="rect">
            <a:avLst/>
          </a:prstGeom>
          <a:noFill/>
        </p:spPr>
        <p:txBody>
          <a:bodyPr wrap="none" lIns="0" rIns="0" tIns="0" bIns="0">
            <a:noAutofit/>
          </a:bodyPr>
          <a:lstStyle/>
          <a:p>
            <a:pPr>
              <a:lnSpc>
                <a:spcPts val="1534"/>
              </a:lnSpc>
              <a:spcAft>
                <a:spcPts val="0"/>
              </a:spcAft>
              <a:defRPr sz="1300" b="0">
                <a:solidFill>
                  <a:srgbClr val="16181D"/>
                </a:solidFill>
                <a:latin typeface="Arial"/>
              </a:defRPr>
            </a:pPr>
            <a:r>
              <a:t>Sleva a stan: celkem</a:t>
            </a:r>
          </a:p>
          <a:p>
            <a:pPr>
              <a:lnSpc>
                <a:spcPts val="1534"/>
              </a:lnSpc>
              <a:spcAft>
                <a:spcPts val="0"/>
              </a:spcAft>
              <a:defRPr sz="1300" b="0">
                <a:solidFill>
                  <a:srgbClr val="16181D"/>
                </a:solidFill>
                <a:latin typeface="Arial"/>
              </a:defRPr>
            </a:pPr>
            <a:r>
              <a:t>2 774 Kč</a:t>
            </a:r>
          </a:p>
        </p:txBody>
      </p:sp>
      <p:sp>
        <p:nvSpPr>
          <p:cNvPr id="34" name="Rounded Rectangle 33"/>
          <p:cNvSpPr/>
          <p:nvPr/>
        </p:nvSpPr>
        <p:spPr>
          <a:xfrm>
            <a:off x="9296400" y="2413000"/>
            <a:ext cx="2286000" cy="2997200"/>
          </a:xfrm>
          <a:prstGeom prst="roundRect">
            <a:avLst>
              <a:gd name="adj" fmla="val 7777"/>
            </a:avLst>
          </a:prstGeom>
          <a:solidFill>
            <a:srgbClr val="0507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mage.png"/>
          <p:cNvPicPr>
            <a:picLocks noChangeAspect="1"/>
          </p:cNvPicPr>
          <p:nvPr/>
        </p:nvPicPr>
        <p:blipFill>
          <a:blip r:embed="rId6"/>
          <a:stretch>
            <a:fillRect/>
          </a:stretch>
        </p:blipFill>
        <p:spPr>
          <a:xfrm>
            <a:off x="9372600" y="2489200"/>
            <a:ext cx="2133600" cy="2844800"/>
          </a:xfrm>
          <a:prstGeom prst="rect">
            <a:avLst/>
          </a:prstGeom>
        </p:spPr>
      </p:pic>
      <p:sp>
        <p:nvSpPr>
          <p:cNvPr id="36" name="Oval 35"/>
          <p:cNvSpPr/>
          <p:nvPr/>
        </p:nvSpPr>
        <p:spPr>
          <a:xfrm>
            <a:off x="9296400" y="5537200"/>
            <a:ext cx="304800" cy="304800"/>
          </a:xfrm>
          <a:prstGeom prst="ellipse">
            <a:avLst/>
          </a:prstGeom>
          <a:solidFill>
            <a:srgbClr val="7FD3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406421" y="5625592"/>
            <a:ext cx="110157" cy="215900"/>
          </a:xfrm>
          <a:prstGeom prst="rect">
            <a:avLst/>
          </a:prstGeom>
          <a:noFill/>
        </p:spPr>
        <p:txBody>
          <a:bodyPr wrap="none" lIns="0" rIns="0" tIns="0" bIns="0">
            <a:noAutofit/>
          </a:bodyPr>
          <a:lstStyle/>
          <a:p>
            <a:pPr>
              <a:lnSpc>
                <a:spcPts val="1416"/>
              </a:lnSpc>
              <a:spcAft>
                <a:spcPts val="0"/>
              </a:spcAft>
              <a:defRPr sz="1200" b="1">
                <a:solidFill>
                  <a:srgbClr val="16181D"/>
                </a:solidFill>
                <a:latin typeface="Arial"/>
              </a:defRPr>
            </a:pPr>
            <a:r>
              <a:t>4</a:t>
            </a:r>
          </a:p>
        </p:txBody>
      </p:sp>
      <p:sp>
        <p:nvSpPr>
          <p:cNvPr id="38" name="TextBox 37"/>
          <p:cNvSpPr txBox="1"/>
          <p:nvPr/>
        </p:nvSpPr>
        <p:spPr>
          <a:xfrm>
            <a:off x="9702800" y="5562600"/>
            <a:ext cx="1879600" cy="444500"/>
          </a:xfrm>
          <a:prstGeom prst="rect">
            <a:avLst/>
          </a:prstGeom>
          <a:noFill/>
        </p:spPr>
        <p:txBody>
          <a:bodyPr wrap="none" lIns="0" rIns="0" tIns="0" bIns="0">
            <a:noAutofit/>
          </a:bodyPr>
          <a:lstStyle/>
          <a:p>
            <a:pPr>
              <a:lnSpc>
                <a:spcPts val="1534"/>
              </a:lnSpc>
              <a:spcAft>
                <a:spcPts val="0"/>
              </a:spcAft>
              <a:defRPr sz="1300" b="0">
                <a:solidFill>
                  <a:srgbClr val="16181D"/>
                </a:solidFill>
                <a:latin typeface="Arial"/>
              </a:defRPr>
            </a:pPr>
            <a:r>
              <a:t>Stáhne vstupenku jako</a:t>
            </a:r>
          </a:p>
          <a:p>
            <a:pPr>
              <a:lnSpc>
                <a:spcPts val="1534"/>
              </a:lnSpc>
              <a:spcAft>
                <a:spcPts val="0"/>
              </a:spcAft>
              <a:defRPr sz="1300" b="0">
                <a:solidFill>
                  <a:srgbClr val="16181D"/>
                </a:solidFill>
                <a:latin typeface="Arial"/>
              </a:defRPr>
            </a:pPr>
            <a:r>
              <a:t>PDF</a:t>
            </a:r>
          </a:p>
        </p:txBody>
      </p:sp>
      <p:sp>
        <p:nvSpPr>
          <p:cNvPr id="39" name="TextBox 38"/>
          <p:cNvSpPr txBox="1"/>
          <p:nvPr/>
        </p:nvSpPr>
        <p:spPr>
          <a:xfrm>
            <a:off x="609600" y="6451600"/>
            <a:ext cx="7620000" cy="190500"/>
          </a:xfrm>
          <a:prstGeom prst="rect">
            <a:avLst/>
          </a:prstGeom>
          <a:noFill/>
        </p:spPr>
        <p:txBody>
          <a:bodyPr wrap="none" lIns="0" rIns="0" tIns="0" bIns="0">
            <a:noAutofit/>
          </a:bodyPr>
          <a:lstStyle/>
          <a:p>
            <a:pPr>
              <a:lnSpc>
                <a:spcPts val="1180"/>
              </a:lnSpc>
              <a:spcAft>
                <a:spcPts val="0"/>
              </a:spcAft>
              <a:defRPr sz="1000" b="0">
                <a:solidFill>
                  <a:srgbClr val="555C67"/>
                </a:solidFill>
                <a:latin typeface="Arial"/>
              </a:defRPr>
            </a:pPr>
            <a:r>
              <a:t>1.–3. srpna 2027 · Výstaviště Praha · Michal Ladra, Matěj Mlejnek, Jan Martínek</a:t>
            </a:r>
          </a:p>
        </p:txBody>
      </p:sp>
      <p:sp>
        <p:nvSpPr>
          <p:cNvPr id="40" name="TextBox 39"/>
          <p:cNvSpPr txBox="1"/>
          <p:nvPr/>
        </p:nvSpPr>
        <p:spPr>
          <a:xfrm>
            <a:off x="11074400" y="6438900"/>
            <a:ext cx="508000" cy="203200"/>
          </a:xfrm>
          <a:prstGeom prst="rect">
            <a:avLst/>
          </a:prstGeom>
          <a:noFill/>
        </p:spPr>
        <p:txBody>
          <a:bodyPr wrap="none" lIns="0" rIns="0" tIns="0" bIns="0">
            <a:noAutofit/>
          </a:bodyPr>
          <a:lstStyle/>
          <a:p>
            <a:pPr>
              <a:lnSpc>
                <a:spcPts val="1297"/>
              </a:lnSpc>
              <a:spcAft>
                <a:spcPts val="0"/>
              </a:spcAft>
              <a:defRPr sz="1100" b="1">
                <a:solidFill>
                  <a:srgbClr val="555C67"/>
                </a:solidFill>
                <a:latin typeface="Arial"/>
              </a:defRPr>
            </a:pPr>
            <a:r>
              <a:t>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5080000" cy="190500"/>
          </a:xfrm>
          <a:prstGeom prst="rect">
            <a:avLst/>
          </a:prstGeom>
          <a:noFill/>
        </p:spPr>
        <p:txBody>
          <a:bodyPr wrap="none" lIns="0" rIns="0" tIns="0" bIns="0">
            <a:noAutofit/>
          </a:bodyPr>
          <a:lstStyle/>
          <a:p>
            <a:pPr>
              <a:lnSpc>
                <a:spcPts val="1180"/>
              </a:lnSpc>
              <a:spcAft>
                <a:spcPts val="0"/>
              </a:spcAft>
              <a:defRPr sz="1000" b="1">
                <a:solidFill>
                  <a:srgbClr val="16181D"/>
                </a:solidFill>
                <a:latin typeface="Arial"/>
              </a:defRPr>
            </a:pPr>
            <a:r>
              <a:t>PRAGUE PULSE FEST · CVIČENÍ 5</a:t>
            </a:r>
          </a:p>
        </p:txBody>
      </p:sp>
      <p:sp>
        <p:nvSpPr>
          <p:cNvPr id="4" name="Rounded Rectangle 3"/>
          <p:cNvSpPr/>
          <p:nvPr/>
        </p:nvSpPr>
        <p:spPr>
          <a:xfrm>
            <a:off x="95250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8806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2362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5918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74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303000" y="368300"/>
            <a:ext cx="279400" cy="63500"/>
          </a:xfrm>
          <a:prstGeom prst="roundRect">
            <a:avLst>
              <a:gd name="adj" fmla="val 50000"/>
            </a:avLst>
          </a:prstGeom>
          <a:solidFill>
            <a:srgbClr val="D8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600" y="736600"/>
            <a:ext cx="10972800" cy="558800"/>
          </a:xfrm>
          <a:prstGeom prst="rect">
            <a:avLst/>
          </a:prstGeom>
          <a:noFill/>
        </p:spPr>
        <p:txBody>
          <a:bodyPr wrap="none" lIns="0" rIns="0" tIns="0" bIns="0">
            <a:noAutofit/>
          </a:bodyPr>
          <a:lstStyle/>
          <a:p>
            <a:pPr>
              <a:lnSpc>
                <a:spcPts val="4011"/>
              </a:lnSpc>
              <a:spcAft>
                <a:spcPts val="0"/>
              </a:spcAft>
              <a:defRPr sz="3400" b="1">
                <a:solidFill>
                  <a:srgbClr val="16181D"/>
                </a:solidFill>
                <a:latin typeface="Arial"/>
              </a:defRPr>
            </a:pPr>
            <a:r>
              <a:t>Co jsme před předáním opravili</a:t>
            </a:r>
          </a:p>
        </p:txBody>
      </p:sp>
      <p:sp>
        <p:nvSpPr>
          <p:cNvPr id="11" name="TextBox 10"/>
          <p:cNvSpPr txBox="1"/>
          <p:nvPr/>
        </p:nvSpPr>
        <p:spPr>
          <a:xfrm>
            <a:off x="609600" y="1371600"/>
            <a:ext cx="10972800" cy="304800"/>
          </a:xfrm>
          <a:prstGeom prst="rect">
            <a:avLst/>
          </a:prstGeom>
          <a:noFill/>
        </p:spPr>
        <p:txBody>
          <a:bodyPr wrap="none" lIns="0" rIns="0" tIns="0" bIns="0">
            <a:noAutofit/>
          </a:bodyPr>
          <a:lstStyle/>
          <a:p>
            <a:pPr>
              <a:lnSpc>
                <a:spcPts val="2005"/>
              </a:lnSpc>
              <a:spcAft>
                <a:spcPts val="0"/>
              </a:spcAft>
              <a:defRPr sz="1700" b="0">
                <a:solidFill>
                  <a:srgbClr val="555C67"/>
                </a:solidFill>
                <a:latin typeface="Arial"/>
              </a:defRPr>
            </a:pPr>
            <a:r>
              <a:t>Web jsme sami prošli jako návštěvníci. Našli a opravili jsme 20 chyb.</a:t>
            </a:r>
          </a:p>
        </p:txBody>
      </p:sp>
      <p:sp>
        <p:nvSpPr>
          <p:cNvPr id="12" name="Rounded Rectangle 11"/>
          <p:cNvSpPr/>
          <p:nvPr/>
        </p:nvSpPr>
        <p:spPr>
          <a:xfrm>
            <a:off x="609600" y="1905000"/>
            <a:ext cx="2590800" cy="2997200"/>
          </a:xfrm>
          <a:prstGeom prst="roundRect">
            <a:avLst>
              <a:gd name="adj" fmla="val 4901"/>
            </a:avLst>
          </a:prstGeom>
          <a:solidFill>
            <a:srgbClr val="FFFDF8"/>
          </a:solidFill>
          <a:ln w="13970">
            <a:solidFill>
              <a:srgbClr val="E2D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8200" y="2184400"/>
            <a:ext cx="431800" cy="431800"/>
          </a:xfrm>
          <a:prstGeom prst="ellipse">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4063" y="2309622"/>
            <a:ext cx="145473" cy="279400"/>
          </a:xfrm>
          <a:prstGeom prst="rect">
            <a:avLst/>
          </a:prstGeom>
          <a:noFill/>
        </p:spPr>
        <p:txBody>
          <a:bodyPr wrap="none" lIns="0" rIns="0" tIns="0" bIns="0">
            <a:noAutofit/>
          </a:bodyPr>
          <a:lstStyle/>
          <a:p>
            <a:pPr>
              <a:lnSpc>
                <a:spcPts val="2005"/>
              </a:lnSpc>
              <a:spcAft>
                <a:spcPts val="0"/>
              </a:spcAft>
              <a:defRPr sz="1700" b="1">
                <a:solidFill>
                  <a:srgbClr val="16181D"/>
                </a:solidFill>
                <a:latin typeface="Arial"/>
              </a:defRPr>
            </a:pPr>
            <a:r>
              <a:t>1</a:t>
            </a:r>
          </a:p>
        </p:txBody>
      </p:sp>
      <p:sp>
        <p:nvSpPr>
          <p:cNvPr id="15" name="TextBox 14"/>
          <p:cNvSpPr txBox="1"/>
          <p:nvPr/>
        </p:nvSpPr>
        <p:spPr>
          <a:xfrm>
            <a:off x="838200" y="2870200"/>
            <a:ext cx="2159000" cy="617219"/>
          </a:xfrm>
          <a:prstGeom prst="rect">
            <a:avLst/>
          </a:prstGeom>
          <a:noFill/>
        </p:spPr>
        <p:txBody>
          <a:bodyPr wrap="none" lIns="0" rIns="0" tIns="0" bIns="0">
            <a:noAutofit/>
          </a:bodyPr>
          <a:lstStyle/>
          <a:p>
            <a:pPr>
              <a:lnSpc>
                <a:spcPts val="2360"/>
              </a:lnSpc>
              <a:spcAft>
                <a:spcPts val="0"/>
              </a:spcAft>
              <a:defRPr sz="2000" b="1">
                <a:solidFill>
                  <a:srgbClr val="16181D"/>
                </a:solidFill>
                <a:latin typeface="Arial"/>
              </a:defRPr>
            </a:pPr>
            <a:r>
              <a:t>Údaje ve</a:t>
            </a:r>
          </a:p>
          <a:p>
            <a:pPr>
              <a:lnSpc>
                <a:spcPts val="2360"/>
              </a:lnSpc>
              <a:spcAft>
                <a:spcPts val="0"/>
              </a:spcAft>
              <a:defRPr sz="2000" b="1">
                <a:solidFill>
                  <a:srgbClr val="16181D"/>
                </a:solidFill>
                <a:latin typeface="Arial"/>
              </a:defRPr>
            </a:pPr>
            <a:r>
              <a:t>formuláři</a:t>
            </a:r>
          </a:p>
        </p:txBody>
      </p:sp>
      <p:sp>
        <p:nvSpPr>
          <p:cNvPr id="16" name="TextBox 15"/>
          <p:cNvSpPr txBox="1"/>
          <p:nvPr/>
        </p:nvSpPr>
        <p:spPr>
          <a:xfrm>
            <a:off x="838200" y="3563620"/>
            <a:ext cx="2159000" cy="1287780"/>
          </a:xfrm>
          <a:prstGeom prst="rect">
            <a:avLst/>
          </a:prstGeom>
          <a:noFill/>
        </p:spPr>
        <p:txBody>
          <a:bodyPr wrap="none" lIns="0" rIns="0" tIns="0" bIns="0">
            <a:noAutofit/>
          </a:bodyPr>
          <a:lstStyle/>
          <a:p>
            <a:pPr>
              <a:lnSpc>
                <a:spcPts val="1950"/>
              </a:lnSpc>
              <a:spcAft>
                <a:spcPts val="0"/>
              </a:spcAft>
              <a:defRPr sz="1500" b="0">
                <a:solidFill>
                  <a:srgbClr val="555C67"/>
                </a:solidFill>
                <a:latin typeface="Arial"/>
              </a:defRPr>
            </a:pPr>
            <a:r>
              <a:t>Po odebrání vstupenky z</a:t>
            </a:r>
          </a:p>
          <a:p>
            <a:pPr>
              <a:lnSpc>
                <a:spcPts val="1950"/>
              </a:lnSpc>
              <a:spcAft>
                <a:spcPts val="0"/>
              </a:spcAft>
              <a:defRPr sz="1500" b="0">
                <a:solidFill>
                  <a:srgbClr val="555C67"/>
                </a:solidFill>
                <a:latin typeface="Arial"/>
              </a:defRPr>
            </a:pPr>
            <a:r>
              <a:t>košíku zmizely vyplněné</a:t>
            </a:r>
          </a:p>
          <a:p>
            <a:pPr>
              <a:lnSpc>
                <a:spcPts val="1950"/>
              </a:lnSpc>
              <a:spcAft>
                <a:spcPts val="0"/>
              </a:spcAft>
              <a:defRPr sz="1500" b="0">
                <a:solidFill>
                  <a:srgbClr val="555C67"/>
                </a:solidFill>
                <a:latin typeface="Arial"/>
              </a:defRPr>
            </a:pPr>
            <a:r>
              <a:t>údaje. Teď zůstanou.</a:t>
            </a:r>
          </a:p>
        </p:txBody>
      </p:sp>
      <p:sp>
        <p:nvSpPr>
          <p:cNvPr id="17" name="Rounded Rectangle 16"/>
          <p:cNvSpPr/>
          <p:nvPr/>
        </p:nvSpPr>
        <p:spPr>
          <a:xfrm>
            <a:off x="3429000" y="1905000"/>
            <a:ext cx="2590800" cy="2997200"/>
          </a:xfrm>
          <a:prstGeom prst="roundRect">
            <a:avLst>
              <a:gd name="adj" fmla="val 4901"/>
            </a:avLst>
          </a:prstGeom>
          <a:solidFill>
            <a:srgbClr val="FFFDF8"/>
          </a:solidFill>
          <a:ln w="13970">
            <a:solidFill>
              <a:srgbClr val="E2D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57600" y="2184400"/>
            <a:ext cx="431800" cy="431800"/>
          </a:xfrm>
          <a:prstGeom prst="ellipse">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13463" y="2309622"/>
            <a:ext cx="145473" cy="279400"/>
          </a:xfrm>
          <a:prstGeom prst="rect">
            <a:avLst/>
          </a:prstGeom>
          <a:noFill/>
        </p:spPr>
        <p:txBody>
          <a:bodyPr wrap="none" lIns="0" rIns="0" tIns="0" bIns="0">
            <a:noAutofit/>
          </a:bodyPr>
          <a:lstStyle/>
          <a:p>
            <a:pPr>
              <a:lnSpc>
                <a:spcPts val="2005"/>
              </a:lnSpc>
              <a:spcAft>
                <a:spcPts val="0"/>
              </a:spcAft>
              <a:defRPr sz="1700" b="1">
                <a:solidFill>
                  <a:srgbClr val="16181D"/>
                </a:solidFill>
                <a:latin typeface="Arial"/>
              </a:defRPr>
            </a:pPr>
            <a:r>
              <a:t>2</a:t>
            </a:r>
          </a:p>
        </p:txBody>
      </p:sp>
      <p:sp>
        <p:nvSpPr>
          <p:cNvPr id="20" name="TextBox 19"/>
          <p:cNvSpPr txBox="1"/>
          <p:nvPr/>
        </p:nvSpPr>
        <p:spPr>
          <a:xfrm>
            <a:off x="3657600" y="2870200"/>
            <a:ext cx="2159000" cy="317500"/>
          </a:xfrm>
          <a:prstGeom prst="rect">
            <a:avLst/>
          </a:prstGeom>
          <a:noFill/>
        </p:spPr>
        <p:txBody>
          <a:bodyPr wrap="none" lIns="0" rIns="0" tIns="0" bIns="0">
            <a:noAutofit/>
          </a:bodyPr>
          <a:lstStyle/>
          <a:p>
            <a:pPr>
              <a:lnSpc>
                <a:spcPts val="2360"/>
              </a:lnSpc>
              <a:spcAft>
                <a:spcPts val="0"/>
              </a:spcAft>
              <a:defRPr sz="2000" b="1">
                <a:solidFill>
                  <a:srgbClr val="16181D"/>
                </a:solidFill>
                <a:latin typeface="Arial"/>
              </a:defRPr>
            </a:pPr>
            <a:r>
              <a:t>Malý telefon</a:t>
            </a:r>
          </a:p>
        </p:txBody>
      </p:sp>
      <p:sp>
        <p:nvSpPr>
          <p:cNvPr id="21" name="TextBox 20"/>
          <p:cNvSpPr txBox="1"/>
          <p:nvPr/>
        </p:nvSpPr>
        <p:spPr>
          <a:xfrm>
            <a:off x="3657600" y="3263900"/>
            <a:ext cx="2159000" cy="1587500"/>
          </a:xfrm>
          <a:prstGeom prst="rect">
            <a:avLst/>
          </a:prstGeom>
          <a:noFill/>
        </p:spPr>
        <p:txBody>
          <a:bodyPr wrap="none" lIns="0" rIns="0" tIns="0" bIns="0">
            <a:noAutofit/>
          </a:bodyPr>
          <a:lstStyle/>
          <a:p>
            <a:pPr>
              <a:lnSpc>
                <a:spcPts val="1950"/>
              </a:lnSpc>
              <a:spcAft>
                <a:spcPts val="0"/>
              </a:spcAft>
              <a:defRPr sz="1500" b="0">
                <a:solidFill>
                  <a:srgbClr val="555C67"/>
                </a:solidFill>
                <a:latin typeface="Arial"/>
              </a:defRPr>
            </a:pPr>
            <a:r>
              <a:t>Na nejužší obrazovce</a:t>
            </a:r>
          </a:p>
          <a:p>
            <a:pPr>
              <a:lnSpc>
                <a:spcPts val="1950"/>
              </a:lnSpc>
              <a:spcAft>
                <a:spcPts val="0"/>
              </a:spcAft>
              <a:defRPr sz="1500" b="0">
                <a:solidFill>
                  <a:srgbClr val="555C67"/>
                </a:solidFill>
                <a:latin typeface="Arial"/>
              </a:defRPr>
            </a:pPr>
            <a:r>
              <a:t>přetékal odpočet i</a:t>
            </a:r>
          </a:p>
          <a:p>
            <a:pPr>
              <a:lnSpc>
                <a:spcPts val="1950"/>
              </a:lnSpc>
              <a:spcAft>
                <a:spcPts val="0"/>
              </a:spcAft>
              <a:defRPr sz="1500" b="0">
                <a:solidFill>
                  <a:srgbClr val="555C67"/>
                </a:solidFill>
                <a:latin typeface="Arial"/>
              </a:defRPr>
            </a:pPr>
            <a:r>
              <a:t>souhlas. Teď se vše</a:t>
            </a:r>
          </a:p>
          <a:p>
            <a:pPr>
              <a:lnSpc>
                <a:spcPts val="1950"/>
              </a:lnSpc>
              <a:spcAft>
                <a:spcPts val="0"/>
              </a:spcAft>
              <a:defRPr sz="1500" b="0">
                <a:solidFill>
                  <a:srgbClr val="555C67"/>
                </a:solidFill>
                <a:latin typeface="Arial"/>
              </a:defRPr>
            </a:pPr>
            <a:r>
              <a:t>vejde.</a:t>
            </a:r>
          </a:p>
        </p:txBody>
      </p:sp>
      <p:sp>
        <p:nvSpPr>
          <p:cNvPr id="22" name="Rounded Rectangle 21"/>
          <p:cNvSpPr/>
          <p:nvPr/>
        </p:nvSpPr>
        <p:spPr>
          <a:xfrm>
            <a:off x="6248400" y="1905000"/>
            <a:ext cx="2590800" cy="2997200"/>
          </a:xfrm>
          <a:prstGeom prst="roundRect">
            <a:avLst>
              <a:gd name="adj" fmla="val 4901"/>
            </a:avLst>
          </a:prstGeom>
          <a:solidFill>
            <a:srgbClr val="FFFDF8"/>
          </a:solidFill>
          <a:ln w="13970">
            <a:solidFill>
              <a:srgbClr val="E2D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77000" y="2184400"/>
            <a:ext cx="431800" cy="431800"/>
          </a:xfrm>
          <a:prstGeom prst="ellipse">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32863" y="2309622"/>
            <a:ext cx="145473" cy="279400"/>
          </a:xfrm>
          <a:prstGeom prst="rect">
            <a:avLst/>
          </a:prstGeom>
          <a:noFill/>
        </p:spPr>
        <p:txBody>
          <a:bodyPr wrap="none" lIns="0" rIns="0" tIns="0" bIns="0">
            <a:noAutofit/>
          </a:bodyPr>
          <a:lstStyle/>
          <a:p>
            <a:pPr>
              <a:lnSpc>
                <a:spcPts val="2005"/>
              </a:lnSpc>
              <a:spcAft>
                <a:spcPts val="0"/>
              </a:spcAft>
              <a:defRPr sz="1700" b="1">
                <a:solidFill>
                  <a:srgbClr val="16181D"/>
                </a:solidFill>
                <a:latin typeface="Arial"/>
              </a:defRPr>
            </a:pPr>
            <a:r>
              <a:t>3</a:t>
            </a:r>
          </a:p>
        </p:txBody>
      </p:sp>
      <p:sp>
        <p:nvSpPr>
          <p:cNvPr id="25" name="TextBox 24"/>
          <p:cNvSpPr txBox="1"/>
          <p:nvPr/>
        </p:nvSpPr>
        <p:spPr>
          <a:xfrm>
            <a:off x="6477000" y="2870200"/>
            <a:ext cx="2159000" cy="617219"/>
          </a:xfrm>
          <a:prstGeom prst="rect">
            <a:avLst/>
          </a:prstGeom>
          <a:noFill/>
        </p:spPr>
        <p:txBody>
          <a:bodyPr wrap="none" lIns="0" rIns="0" tIns="0" bIns="0">
            <a:noAutofit/>
          </a:bodyPr>
          <a:lstStyle/>
          <a:p>
            <a:pPr>
              <a:lnSpc>
                <a:spcPts val="2360"/>
              </a:lnSpc>
              <a:spcAft>
                <a:spcPts val="0"/>
              </a:spcAft>
              <a:defRPr sz="2000" b="1">
                <a:solidFill>
                  <a:srgbClr val="16181D"/>
                </a:solidFill>
                <a:latin typeface="Arial"/>
              </a:defRPr>
            </a:pPr>
            <a:r>
              <a:t>Košík ve dvou</a:t>
            </a:r>
          </a:p>
          <a:p>
            <a:pPr>
              <a:lnSpc>
                <a:spcPts val="2360"/>
              </a:lnSpc>
              <a:spcAft>
                <a:spcPts val="0"/>
              </a:spcAft>
              <a:defRPr sz="2000" b="1">
                <a:solidFill>
                  <a:srgbClr val="16181D"/>
                </a:solidFill>
                <a:latin typeface="Arial"/>
              </a:defRPr>
            </a:pPr>
            <a:r>
              <a:t>oknech</a:t>
            </a:r>
          </a:p>
        </p:txBody>
      </p:sp>
      <p:sp>
        <p:nvSpPr>
          <p:cNvPr id="26" name="TextBox 25"/>
          <p:cNvSpPr txBox="1"/>
          <p:nvPr/>
        </p:nvSpPr>
        <p:spPr>
          <a:xfrm>
            <a:off x="6477000" y="3563620"/>
            <a:ext cx="2159000" cy="1287780"/>
          </a:xfrm>
          <a:prstGeom prst="rect">
            <a:avLst/>
          </a:prstGeom>
          <a:noFill/>
        </p:spPr>
        <p:txBody>
          <a:bodyPr wrap="none" lIns="0" rIns="0" tIns="0" bIns="0">
            <a:noAutofit/>
          </a:bodyPr>
          <a:lstStyle/>
          <a:p>
            <a:pPr>
              <a:lnSpc>
                <a:spcPts val="1950"/>
              </a:lnSpc>
              <a:spcAft>
                <a:spcPts val="0"/>
              </a:spcAft>
              <a:defRPr sz="1500" b="0">
                <a:solidFill>
                  <a:srgbClr val="555C67"/>
                </a:solidFill>
                <a:latin typeface="Arial"/>
              </a:defRPr>
            </a:pPr>
            <a:r>
              <a:t>Změna v jiném okně</a:t>
            </a:r>
          </a:p>
          <a:p>
            <a:pPr>
              <a:lnSpc>
                <a:spcPts val="1950"/>
              </a:lnSpc>
              <a:spcAft>
                <a:spcPts val="0"/>
              </a:spcAft>
              <a:defRPr sz="1500" b="0">
                <a:solidFill>
                  <a:srgbClr val="555C67"/>
                </a:solidFill>
                <a:latin typeface="Arial"/>
              </a:defRPr>
            </a:pPr>
            <a:r>
              <a:t>mohla změnit</a:t>
            </a:r>
          </a:p>
          <a:p>
            <a:pPr>
              <a:lnSpc>
                <a:spcPts val="1950"/>
              </a:lnSpc>
              <a:spcAft>
                <a:spcPts val="0"/>
              </a:spcAft>
              <a:defRPr sz="1500" b="0">
                <a:solidFill>
                  <a:srgbClr val="555C67"/>
                </a:solidFill>
                <a:latin typeface="Arial"/>
              </a:defRPr>
            </a:pPr>
            <a:r>
              <a:t>objednávku. Teď ji web</a:t>
            </a:r>
          </a:p>
          <a:p>
            <a:pPr>
              <a:lnSpc>
                <a:spcPts val="1950"/>
              </a:lnSpc>
              <a:spcAft>
                <a:spcPts val="0"/>
              </a:spcAft>
              <a:defRPr sz="1500" b="0">
                <a:solidFill>
                  <a:srgbClr val="555C67"/>
                </a:solidFill>
                <a:latin typeface="Arial"/>
              </a:defRPr>
            </a:pPr>
            <a:r>
              <a:t>nechá potvrdit znovu.</a:t>
            </a:r>
          </a:p>
        </p:txBody>
      </p:sp>
      <p:sp>
        <p:nvSpPr>
          <p:cNvPr id="27" name="Rounded Rectangle 26"/>
          <p:cNvSpPr/>
          <p:nvPr/>
        </p:nvSpPr>
        <p:spPr>
          <a:xfrm>
            <a:off x="9067800" y="1905000"/>
            <a:ext cx="2590800" cy="2997200"/>
          </a:xfrm>
          <a:prstGeom prst="roundRect">
            <a:avLst>
              <a:gd name="adj" fmla="val 4901"/>
            </a:avLst>
          </a:prstGeom>
          <a:solidFill>
            <a:srgbClr val="FFFDF8"/>
          </a:solidFill>
          <a:ln w="13970">
            <a:solidFill>
              <a:srgbClr val="E2D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96400" y="2184400"/>
            <a:ext cx="431800" cy="431800"/>
          </a:xfrm>
          <a:prstGeom prst="ellipse">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52263" y="2309622"/>
            <a:ext cx="145473" cy="279400"/>
          </a:xfrm>
          <a:prstGeom prst="rect">
            <a:avLst/>
          </a:prstGeom>
          <a:noFill/>
        </p:spPr>
        <p:txBody>
          <a:bodyPr wrap="none" lIns="0" rIns="0" tIns="0" bIns="0">
            <a:noAutofit/>
          </a:bodyPr>
          <a:lstStyle/>
          <a:p>
            <a:pPr>
              <a:lnSpc>
                <a:spcPts val="2005"/>
              </a:lnSpc>
              <a:spcAft>
                <a:spcPts val="0"/>
              </a:spcAft>
              <a:defRPr sz="1700" b="1">
                <a:solidFill>
                  <a:srgbClr val="16181D"/>
                </a:solidFill>
                <a:latin typeface="Arial"/>
              </a:defRPr>
            </a:pPr>
            <a:r>
              <a:t>4</a:t>
            </a:r>
          </a:p>
        </p:txBody>
      </p:sp>
      <p:sp>
        <p:nvSpPr>
          <p:cNvPr id="30" name="TextBox 29"/>
          <p:cNvSpPr txBox="1"/>
          <p:nvPr/>
        </p:nvSpPr>
        <p:spPr>
          <a:xfrm>
            <a:off x="9296400" y="2870200"/>
            <a:ext cx="2159000" cy="617219"/>
          </a:xfrm>
          <a:prstGeom prst="rect">
            <a:avLst/>
          </a:prstGeom>
          <a:noFill/>
        </p:spPr>
        <p:txBody>
          <a:bodyPr wrap="none" lIns="0" rIns="0" tIns="0" bIns="0">
            <a:noAutofit/>
          </a:bodyPr>
          <a:lstStyle/>
          <a:p>
            <a:pPr>
              <a:lnSpc>
                <a:spcPts val="2360"/>
              </a:lnSpc>
              <a:spcAft>
                <a:spcPts val="0"/>
              </a:spcAft>
              <a:defRPr sz="2000" b="1">
                <a:solidFill>
                  <a:srgbClr val="16181D"/>
                </a:solidFill>
                <a:latin typeface="Arial"/>
              </a:defRPr>
            </a:pPr>
            <a:r>
              <a:t>Koncerty ve</a:t>
            </a:r>
          </a:p>
          <a:p>
            <a:pPr>
              <a:lnSpc>
                <a:spcPts val="2360"/>
              </a:lnSpc>
              <a:spcAft>
                <a:spcPts val="0"/>
              </a:spcAft>
              <a:defRPr sz="2000" b="1">
                <a:solidFill>
                  <a:srgbClr val="16181D"/>
                </a:solidFill>
                <a:latin typeface="Arial"/>
              </a:defRPr>
            </a:pPr>
            <a:r>
              <a:t>stejný čas</a:t>
            </a:r>
          </a:p>
        </p:txBody>
      </p:sp>
      <p:sp>
        <p:nvSpPr>
          <p:cNvPr id="31" name="TextBox 30"/>
          <p:cNvSpPr txBox="1"/>
          <p:nvPr/>
        </p:nvSpPr>
        <p:spPr>
          <a:xfrm>
            <a:off x="9296400" y="3563620"/>
            <a:ext cx="2159000" cy="1287780"/>
          </a:xfrm>
          <a:prstGeom prst="rect">
            <a:avLst/>
          </a:prstGeom>
          <a:noFill/>
        </p:spPr>
        <p:txBody>
          <a:bodyPr wrap="none" lIns="0" rIns="0" tIns="0" bIns="0">
            <a:noAutofit/>
          </a:bodyPr>
          <a:lstStyle/>
          <a:p>
            <a:pPr>
              <a:lnSpc>
                <a:spcPts val="1950"/>
              </a:lnSpc>
              <a:spcAft>
                <a:spcPts val="0"/>
              </a:spcAft>
              <a:defRPr sz="1500" b="0">
                <a:solidFill>
                  <a:srgbClr val="555C67"/>
                </a:solidFill>
                <a:latin typeface="Arial"/>
              </a:defRPr>
            </a:pPr>
            <a:r>
              <a:t>Web neupozornil na dva</a:t>
            </a:r>
          </a:p>
          <a:p>
            <a:pPr>
              <a:lnSpc>
                <a:spcPts val="1950"/>
              </a:lnSpc>
              <a:spcAft>
                <a:spcPts val="0"/>
              </a:spcAft>
              <a:defRPr sz="1500" b="0">
                <a:solidFill>
                  <a:srgbClr val="555C67"/>
                </a:solidFill>
                <a:latin typeface="Arial"/>
              </a:defRPr>
            </a:pPr>
            <a:r>
              <a:t>uložené koncerty</a:t>
            </a:r>
          </a:p>
          <a:p>
            <a:pPr>
              <a:lnSpc>
                <a:spcPts val="1950"/>
              </a:lnSpc>
              <a:spcAft>
                <a:spcPts val="0"/>
              </a:spcAft>
              <a:defRPr sz="1500" b="0">
                <a:solidFill>
                  <a:srgbClr val="555C67"/>
                </a:solidFill>
                <a:latin typeface="Arial"/>
              </a:defRPr>
            </a:pPr>
            <a:r>
              <a:t>najednou. Teď upozorní.</a:t>
            </a:r>
          </a:p>
        </p:txBody>
      </p:sp>
      <p:sp>
        <p:nvSpPr>
          <p:cNvPr id="32" name="Rounded Rectangle 31"/>
          <p:cNvSpPr/>
          <p:nvPr/>
        </p:nvSpPr>
        <p:spPr>
          <a:xfrm>
            <a:off x="609600" y="5232400"/>
            <a:ext cx="10972800" cy="558800"/>
          </a:xfrm>
          <a:prstGeom prst="roundRect">
            <a:avLst>
              <a:gd name="adj" fmla="val 50000"/>
            </a:avLst>
          </a:prstGeom>
          <a:solidFill>
            <a:srgbClr val="1618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422900"/>
            <a:ext cx="10363200" cy="254000"/>
          </a:xfrm>
          <a:prstGeom prst="rect">
            <a:avLst/>
          </a:prstGeom>
          <a:noFill/>
        </p:spPr>
        <p:txBody>
          <a:bodyPr wrap="none" lIns="0" rIns="0" tIns="0" bIns="0">
            <a:noAutofit/>
          </a:bodyPr>
          <a:lstStyle/>
          <a:p>
            <a:pPr>
              <a:lnSpc>
                <a:spcPts val="1770"/>
              </a:lnSpc>
              <a:spcAft>
                <a:spcPts val="0"/>
              </a:spcAft>
              <a:defRPr sz="1500" b="1">
                <a:solidFill>
                  <a:srgbClr val="FFFDF8"/>
                </a:solidFill>
                <a:latin typeface="Arial"/>
              </a:defRPr>
            </a:pPr>
            <a:r>
              <a:t>AI nám pomáhala chyby opravit. Že oprava funguje, hlídají naše automatické testy.</a:t>
            </a:r>
          </a:p>
        </p:txBody>
      </p:sp>
      <p:sp>
        <p:nvSpPr>
          <p:cNvPr id="34" name="TextBox 33"/>
          <p:cNvSpPr txBox="1"/>
          <p:nvPr/>
        </p:nvSpPr>
        <p:spPr>
          <a:xfrm>
            <a:off x="609600" y="6451600"/>
            <a:ext cx="7620000" cy="190500"/>
          </a:xfrm>
          <a:prstGeom prst="rect">
            <a:avLst/>
          </a:prstGeom>
          <a:noFill/>
        </p:spPr>
        <p:txBody>
          <a:bodyPr wrap="none" lIns="0" rIns="0" tIns="0" bIns="0">
            <a:noAutofit/>
          </a:bodyPr>
          <a:lstStyle/>
          <a:p>
            <a:pPr>
              <a:lnSpc>
                <a:spcPts val="1180"/>
              </a:lnSpc>
              <a:spcAft>
                <a:spcPts val="0"/>
              </a:spcAft>
              <a:defRPr sz="1000" b="0">
                <a:solidFill>
                  <a:srgbClr val="555C67"/>
                </a:solidFill>
                <a:latin typeface="Arial"/>
              </a:defRPr>
            </a:pPr>
            <a:r>
              <a:t>1.–3. srpna 2027 · Výstaviště Praha · Michal Ladra, Matěj Mlejnek, Jan Martínek</a:t>
            </a:r>
          </a:p>
        </p:txBody>
      </p:sp>
      <p:sp>
        <p:nvSpPr>
          <p:cNvPr id="35" name="TextBox 34"/>
          <p:cNvSpPr txBox="1"/>
          <p:nvPr/>
        </p:nvSpPr>
        <p:spPr>
          <a:xfrm>
            <a:off x="11074400" y="6438900"/>
            <a:ext cx="508000" cy="203200"/>
          </a:xfrm>
          <a:prstGeom prst="rect">
            <a:avLst/>
          </a:prstGeom>
          <a:noFill/>
        </p:spPr>
        <p:txBody>
          <a:bodyPr wrap="none" lIns="0" rIns="0" tIns="0" bIns="0">
            <a:noAutofit/>
          </a:bodyPr>
          <a:lstStyle/>
          <a:p>
            <a:pPr>
              <a:lnSpc>
                <a:spcPts val="1297"/>
              </a:lnSpc>
              <a:spcAft>
                <a:spcPts val="0"/>
              </a:spcAft>
              <a:defRPr sz="1100" b="1">
                <a:solidFill>
                  <a:srgbClr val="555C67"/>
                </a:solidFill>
                <a:latin typeface="Arial"/>
              </a:defRPr>
            </a:pPr>
            <a:r>
              <a:t>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5080000" cy="190500"/>
          </a:xfrm>
          <a:prstGeom prst="rect">
            <a:avLst/>
          </a:prstGeom>
          <a:noFill/>
        </p:spPr>
        <p:txBody>
          <a:bodyPr wrap="none" lIns="0" rIns="0" tIns="0" bIns="0">
            <a:noAutofit/>
          </a:bodyPr>
          <a:lstStyle/>
          <a:p>
            <a:pPr>
              <a:lnSpc>
                <a:spcPts val="1180"/>
              </a:lnSpc>
              <a:spcAft>
                <a:spcPts val="0"/>
              </a:spcAft>
              <a:defRPr sz="1000" b="1">
                <a:solidFill>
                  <a:srgbClr val="16181D"/>
                </a:solidFill>
                <a:latin typeface="Arial"/>
              </a:defRPr>
            </a:pPr>
            <a:r>
              <a:t>PRAGUE PULSE FEST · CVIČENÍ 5</a:t>
            </a:r>
          </a:p>
        </p:txBody>
      </p:sp>
      <p:sp>
        <p:nvSpPr>
          <p:cNvPr id="4" name="Rounded Rectangle 3"/>
          <p:cNvSpPr/>
          <p:nvPr/>
        </p:nvSpPr>
        <p:spPr>
          <a:xfrm>
            <a:off x="95250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8806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2362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5918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74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303000" y="368300"/>
            <a:ext cx="279400" cy="63500"/>
          </a:xfrm>
          <a:prstGeom prst="roundRect">
            <a:avLst>
              <a:gd name="adj" fmla="val 50000"/>
            </a:avLst>
          </a:prstGeom>
          <a:solidFill>
            <a:srgbClr val="FF8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600" y="736600"/>
            <a:ext cx="10972800" cy="558800"/>
          </a:xfrm>
          <a:prstGeom prst="rect">
            <a:avLst/>
          </a:prstGeom>
          <a:noFill/>
        </p:spPr>
        <p:txBody>
          <a:bodyPr wrap="none" lIns="0" rIns="0" tIns="0" bIns="0">
            <a:noAutofit/>
          </a:bodyPr>
          <a:lstStyle/>
          <a:p>
            <a:pPr>
              <a:lnSpc>
                <a:spcPts val="4011"/>
              </a:lnSpc>
              <a:spcAft>
                <a:spcPts val="0"/>
              </a:spcAft>
              <a:defRPr sz="3400" b="1">
                <a:solidFill>
                  <a:srgbClr val="16181D"/>
                </a:solidFill>
                <a:latin typeface="Arial"/>
              </a:defRPr>
            </a:pPr>
            <a:r>
              <a:t>Co web zatím neumí</a:t>
            </a:r>
          </a:p>
        </p:txBody>
      </p:sp>
      <p:sp>
        <p:nvSpPr>
          <p:cNvPr id="11" name="TextBox 10"/>
          <p:cNvSpPr txBox="1"/>
          <p:nvPr/>
        </p:nvSpPr>
        <p:spPr>
          <a:xfrm>
            <a:off x="609600" y="1371600"/>
            <a:ext cx="10972800" cy="304800"/>
          </a:xfrm>
          <a:prstGeom prst="rect">
            <a:avLst/>
          </a:prstGeom>
          <a:noFill/>
        </p:spPr>
        <p:txBody>
          <a:bodyPr wrap="none" lIns="0" rIns="0" tIns="0" bIns="0">
            <a:noAutofit/>
          </a:bodyPr>
          <a:lstStyle/>
          <a:p>
            <a:pPr>
              <a:lnSpc>
                <a:spcPts val="2005"/>
              </a:lnSpc>
              <a:spcAft>
                <a:spcPts val="0"/>
              </a:spcAft>
              <a:defRPr sz="1700" b="0">
                <a:solidFill>
                  <a:srgbClr val="555C67"/>
                </a:solidFill>
                <a:latin typeface="Arial"/>
              </a:defRPr>
            </a:pPr>
            <a:r>
              <a:t>Tyto limity říkáme předem, aby je hodnotitelé nemuseli hledat.</a:t>
            </a:r>
          </a:p>
        </p:txBody>
      </p:sp>
      <p:sp>
        <p:nvSpPr>
          <p:cNvPr id="12" name="Rounded Rectangle 11"/>
          <p:cNvSpPr/>
          <p:nvPr/>
        </p:nvSpPr>
        <p:spPr>
          <a:xfrm>
            <a:off x="609600" y="1905000"/>
            <a:ext cx="3454400" cy="1574800"/>
          </a:xfrm>
          <a:prstGeom prst="roundRect">
            <a:avLst>
              <a:gd name="adj" fmla="val 8064"/>
            </a:avLst>
          </a:prstGeom>
          <a:solidFill>
            <a:srgbClr val="FFFDF8"/>
          </a:solidFill>
          <a:ln w="13970">
            <a:solidFill>
              <a:srgbClr val="E2D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3600" y="1905000"/>
            <a:ext cx="508000" cy="50800"/>
          </a:xfrm>
          <a:prstGeom prst="rect">
            <a:avLst/>
          </a:prstGeom>
          <a:solidFill>
            <a:srgbClr val="C9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600" y="2159000"/>
            <a:ext cx="2946400" cy="292100"/>
          </a:xfrm>
          <a:prstGeom prst="rect">
            <a:avLst/>
          </a:prstGeom>
          <a:noFill/>
        </p:spPr>
        <p:txBody>
          <a:bodyPr wrap="none" lIns="0" rIns="0" tIns="0" bIns="0">
            <a:noAutofit/>
          </a:bodyPr>
          <a:lstStyle/>
          <a:p>
            <a:pPr>
              <a:lnSpc>
                <a:spcPts val="2124"/>
              </a:lnSpc>
              <a:spcAft>
                <a:spcPts val="0"/>
              </a:spcAft>
              <a:defRPr sz="1800" b="1">
                <a:solidFill>
                  <a:srgbClr val="C9481A"/>
                </a:solidFill>
                <a:latin typeface="Arial"/>
              </a:defRPr>
            </a:pPr>
            <a:r>
              <a:t>Jen v prohlížeči</a:t>
            </a:r>
          </a:p>
        </p:txBody>
      </p:sp>
      <p:sp>
        <p:nvSpPr>
          <p:cNvPr id="15" name="TextBox 14"/>
          <p:cNvSpPr txBox="1"/>
          <p:nvPr/>
        </p:nvSpPr>
        <p:spPr>
          <a:xfrm>
            <a:off x="863600" y="2565400"/>
            <a:ext cx="2946400" cy="965200"/>
          </a:xfrm>
          <a:prstGeom prst="rect">
            <a:avLst/>
          </a:prstGeom>
          <a:noFill/>
        </p:spPr>
        <p:txBody>
          <a:bodyPr wrap="none" lIns="0" rIns="0" tIns="0" bIns="0">
            <a:noAutofit/>
          </a:bodyPr>
          <a:lstStyle/>
          <a:p>
            <a:pPr>
              <a:lnSpc>
                <a:spcPts val="1950"/>
              </a:lnSpc>
              <a:spcAft>
                <a:spcPts val="0"/>
              </a:spcAft>
              <a:defRPr sz="1500" b="0">
                <a:solidFill>
                  <a:srgbClr val="16181D"/>
                </a:solidFill>
                <a:latin typeface="Arial"/>
              </a:defRPr>
            </a:pPr>
            <a:r>
              <a:t>Účet, košík a nákupy se ukládají v</a:t>
            </a:r>
          </a:p>
          <a:p>
            <a:pPr>
              <a:lnSpc>
                <a:spcPts val="1950"/>
              </a:lnSpc>
              <a:spcAft>
                <a:spcPts val="0"/>
              </a:spcAft>
              <a:defRPr sz="1500" b="0">
                <a:solidFill>
                  <a:srgbClr val="16181D"/>
                </a:solidFill>
                <a:latin typeface="Arial"/>
              </a:defRPr>
            </a:pPr>
            <a:r>
              <a:t>prohlížeči. Na jiném zařízení</a:t>
            </a:r>
          </a:p>
          <a:p>
            <a:pPr>
              <a:lnSpc>
                <a:spcPts val="1950"/>
              </a:lnSpc>
              <a:spcAft>
                <a:spcPts val="0"/>
              </a:spcAft>
              <a:defRPr sz="1500" b="0">
                <a:solidFill>
                  <a:srgbClr val="16181D"/>
                </a:solidFill>
                <a:latin typeface="Arial"/>
              </a:defRPr>
            </a:pPr>
            <a:r>
              <a:t>nejsou.</a:t>
            </a:r>
          </a:p>
        </p:txBody>
      </p:sp>
      <p:sp>
        <p:nvSpPr>
          <p:cNvPr id="16" name="Rounded Rectangle 15"/>
          <p:cNvSpPr/>
          <p:nvPr/>
        </p:nvSpPr>
        <p:spPr>
          <a:xfrm>
            <a:off x="4368800" y="1905000"/>
            <a:ext cx="3454400" cy="1574800"/>
          </a:xfrm>
          <a:prstGeom prst="roundRect">
            <a:avLst>
              <a:gd name="adj" fmla="val 8064"/>
            </a:avLst>
          </a:prstGeom>
          <a:solidFill>
            <a:srgbClr val="FFFDF8"/>
          </a:solidFill>
          <a:ln w="13970">
            <a:solidFill>
              <a:srgbClr val="E2D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22800" y="1905000"/>
            <a:ext cx="508000" cy="50800"/>
          </a:xfrm>
          <a:prstGeom prst="rect">
            <a:avLst/>
          </a:prstGeom>
          <a:solidFill>
            <a:srgbClr val="1D7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22800" y="2159000"/>
            <a:ext cx="2946400" cy="292100"/>
          </a:xfrm>
          <a:prstGeom prst="rect">
            <a:avLst/>
          </a:prstGeom>
          <a:noFill/>
        </p:spPr>
        <p:txBody>
          <a:bodyPr wrap="none" lIns="0" rIns="0" tIns="0" bIns="0">
            <a:noAutofit/>
          </a:bodyPr>
          <a:lstStyle/>
          <a:p>
            <a:pPr>
              <a:lnSpc>
                <a:spcPts val="2124"/>
              </a:lnSpc>
              <a:spcAft>
                <a:spcPts val="0"/>
              </a:spcAft>
              <a:defRPr sz="1800" b="1">
                <a:solidFill>
                  <a:srgbClr val="1D7360"/>
                </a:solidFill>
                <a:latin typeface="Arial"/>
              </a:defRPr>
            </a:pPr>
            <a:r>
              <a:t>Zkušební platba</a:t>
            </a:r>
          </a:p>
        </p:txBody>
      </p:sp>
      <p:sp>
        <p:nvSpPr>
          <p:cNvPr id="19" name="TextBox 18"/>
          <p:cNvSpPr txBox="1"/>
          <p:nvPr/>
        </p:nvSpPr>
        <p:spPr>
          <a:xfrm>
            <a:off x="4622800" y="2565400"/>
            <a:ext cx="2946400" cy="965200"/>
          </a:xfrm>
          <a:prstGeom prst="rect">
            <a:avLst/>
          </a:prstGeom>
          <a:noFill/>
        </p:spPr>
        <p:txBody>
          <a:bodyPr wrap="none" lIns="0" rIns="0" tIns="0" bIns="0">
            <a:noAutofit/>
          </a:bodyPr>
          <a:lstStyle/>
          <a:p>
            <a:pPr>
              <a:lnSpc>
                <a:spcPts val="1950"/>
              </a:lnSpc>
              <a:spcAft>
                <a:spcPts val="0"/>
              </a:spcAft>
              <a:defRPr sz="1500" b="0">
                <a:solidFill>
                  <a:srgbClr val="16181D"/>
                </a:solidFill>
                <a:latin typeface="Arial"/>
              </a:defRPr>
            </a:pPr>
            <a:r>
              <a:t>Nic se doopravdy neplatí a e-mail</a:t>
            </a:r>
          </a:p>
          <a:p>
            <a:pPr>
              <a:lnSpc>
                <a:spcPts val="1950"/>
              </a:lnSpc>
              <a:spcAft>
                <a:spcPts val="0"/>
              </a:spcAft>
              <a:defRPr sz="1500" b="0">
                <a:solidFill>
                  <a:srgbClr val="16181D"/>
                </a:solidFill>
                <a:latin typeface="Arial"/>
              </a:defRPr>
            </a:pPr>
            <a:r>
              <a:t>se neposílá. Vstupenka je PDF.</a:t>
            </a:r>
          </a:p>
        </p:txBody>
      </p:sp>
      <p:sp>
        <p:nvSpPr>
          <p:cNvPr id="20" name="Rounded Rectangle 19"/>
          <p:cNvSpPr/>
          <p:nvPr/>
        </p:nvSpPr>
        <p:spPr>
          <a:xfrm>
            <a:off x="8128000" y="1905000"/>
            <a:ext cx="3454400" cy="1574800"/>
          </a:xfrm>
          <a:prstGeom prst="roundRect">
            <a:avLst>
              <a:gd name="adj" fmla="val 8064"/>
            </a:avLst>
          </a:prstGeom>
          <a:solidFill>
            <a:srgbClr val="FFFDF8"/>
          </a:solidFill>
          <a:ln w="13970">
            <a:solidFill>
              <a:srgbClr val="E2D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82000" y="1905000"/>
            <a:ext cx="508000" cy="50800"/>
          </a:xfrm>
          <a:prstGeom prst="rect">
            <a:avLst/>
          </a:prstGeom>
          <a:solidFill>
            <a:srgbClr val="555C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2000" y="2159000"/>
            <a:ext cx="2946400" cy="292100"/>
          </a:xfrm>
          <a:prstGeom prst="rect">
            <a:avLst/>
          </a:prstGeom>
          <a:noFill/>
        </p:spPr>
        <p:txBody>
          <a:bodyPr wrap="none" lIns="0" rIns="0" tIns="0" bIns="0">
            <a:noAutofit/>
          </a:bodyPr>
          <a:lstStyle/>
          <a:p>
            <a:pPr>
              <a:lnSpc>
                <a:spcPts val="2124"/>
              </a:lnSpc>
              <a:spcAft>
                <a:spcPts val="0"/>
              </a:spcAft>
              <a:defRPr sz="1800" b="1">
                <a:solidFill>
                  <a:srgbClr val="555C67"/>
                </a:solidFill>
                <a:latin typeface="Arial"/>
              </a:defRPr>
            </a:pPr>
            <a:r>
              <a:t>Mapa po souhlasu</a:t>
            </a:r>
          </a:p>
        </p:txBody>
      </p:sp>
      <p:sp>
        <p:nvSpPr>
          <p:cNvPr id="23" name="TextBox 22"/>
          <p:cNvSpPr txBox="1"/>
          <p:nvPr/>
        </p:nvSpPr>
        <p:spPr>
          <a:xfrm>
            <a:off x="8382000" y="2565400"/>
            <a:ext cx="2946400" cy="965200"/>
          </a:xfrm>
          <a:prstGeom prst="rect">
            <a:avLst/>
          </a:prstGeom>
          <a:noFill/>
        </p:spPr>
        <p:txBody>
          <a:bodyPr wrap="none" lIns="0" rIns="0" tIns="0" bIns="0">
            <a:noAutofit/>
          </a:bodyPr>
          <a:lstStyle/>
          <a:p>
            <a:pPr>
              <a:lnSpc>
                <a:spcPts val="1950"/>
              </a:lnSpc>
              <a:spcAft>
                <a:spcPts val="0"/>
              </a:spcAft>
              <a:defRPr sz="1500" b="0">
                <a:solidFill>
                  <a:srgbClr val="16181D"/>
                </a:solidFill>
                <a:latin typeface="Arial"/>
              </a:defRPr>
            </a:pPr>
            <a:r>
              <a:t>Mapa Google se načte až po</a:t>
            </a:r>
          </a:p>
          <a:p>
            <a:pPr>
              <a:lnSpc>
                <a:spcPts val="1950"/>
              </a:lnSpc>
              <a:spcAft>
                <a:spcPts val="0"/>
              </a:spcAft>
              <a:defRPr sz="1500" b="0">
                <a:solidFill>
                  <a:srgbClr val="16181D"/>
                </a:solidFill>
                <a:latin typeface="Arial"/>
              </a:defRPr>
            </a:pPr>
            <a:r>
              <a:t>souhlasu. Jinak je tu náš plánek</a:t>
            </a:r>
          </a:p>
          <a:p>
            <a:pPr>
              <a:lnSpc>
                <a:spcPts val="1950"/>
              </a:lnSpc>
              <a:spcAft>
                <a:spcPts val="0"/>
              </a:spcAft>
              <a:defRPr sz="1500" b="0">
                <a:solidFill>
                  <a:srgbClr val="16181D"/>
                </a:solidFill>
                <a:latin typeface="Arial"/>
              </a:defRPr>
            </a:pPr>
            <a:r>
              <a:t>areálu.</a:t>
            </a:r>
          </a:p>
        </p:txBody>
      </p:sp>
      <p:sp>
        <p:nvSpPr>
          <p:cNvPr id="24" name="Rounded Rectangle 23"/>
          <p:cNvSpPr/>
          <p:nvPr/>
        </p:nvSpPr>
        <p:spPr>
          <a:xfrm>
            <a:off x="609600" y="3784600"/>
            <a:ext cx="10972800" cy="2108200"/>
          </a:xfrm>
          <a:prstGeom prst="roundRect">
            <a:avLst>
              <a:gd name="adj" fmla="val 9638"/>
            </a:avLst>
          </a:prstGeom>
          <a:solidFill>
            <a:srgbClr val="1618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5200" y="4013200"/>
            <a:ext cx="10261600" cy="254000"/>
          </a:xfrm>
          <a:prstGeom prst="rect">
            <a:avLst/>
          </a:prstGeom>
          <a:noFill/>
        </p:spPr>
        <p:txBody>
          <a:bodyPr wrap="none" lIns="0" rIns="0" tIns="0" bIns="0">
            <a:noAutofit/>
          </a:bodyPr>
          <a:lstStyle/>
          <a:p>
            <a:pPr>
              <a:lnSpc>
                <a:spcPts val="1770"/>
              </a:lnSpc>
              <a:spcAft>
                <a:spcPts val="0"/>
              </a:spcAft>
              <a:defRPr sz="1500" b="1">
                <a:solidFill>
                  <a:srgbClr val="FFFDF8"/>
                </a:solidFill>
                <a:latin typeface="Arial"/>
              </a:defRPr>
            </a:pPr>
            <a:r>
              <a:t>Jak jsme ověřili · 30. října 2026</a:t>
            </a:r>
          </a:p>
        </p:txBody>
      </p:sp>
      <p:sp>
        <p:nvSpPr>
          <p:cNvPr id="26" name="TextBox 25"/>
          <p:cNvSpPr txBox="1"/>
          <p:nvPr/>
        </p:nvSpPr>
        <p:spPr>
          <a:xfrm>
            <a:off x="965200" y="4445000"/>
            <a:ext cx="3175000" cy="584200"/>
          </a:xfrm>
          <a:prstGeom prst="rect">
            <a:avLst/>
          </a:prstGeom>
          <a:noFill/>
        </p:spPr>
        <p:txBody>
          <a:bodyPr wrap="none" lIns="0" rIns="0" tIns="0" bIns="0">
            <a:noAutofit/>
          </a:bodyPr>
          <a:lstStyle/>
          <a:p>
            <a:pPr>
              <a:lnSpc>
                <a:spcPts val="4720"/>
              </a:lnSpc>
              <a:spcAft>
                <a:spcPts val="0"/>
              </a:spcAft>
              <a:defRPr sz="4000" b="1">
                <a:solidFill>
                  <a:srgbClr val="FF885D"/>
                </a:solidFill>
                <a:latin typeface="Arial"/>
              </a:defRPr>
            </a:pPr>
            <a:r>
              <a:t>615</a:t>
            </a:r>
          </a:p>
        </p:txBody>
      </p:sp>
      <p:sp>
        <p:nvSpPr>
          <p:cNvPr id="27" name="TextBox 26"/>
          <p:cNvSpPr txBox="1"/>
          <p:nvPr/>
        </p:nvSpPr>
        <p:spPr>
          <a:xfrm>
            <a:off x="965200" y="5080000"/>
            <a:ext cx="3175000" cy="508000"/>
          </a:xfrm>
          <a:prstGeom prst="rect">
            <a:avLst/>
          </a:prstGeom>
          <a:noFill/>
        </p:spPr>
        <p:txBody>
          <a:bodyPr wrap="none" lIns="0" rIns="0" tIns="0" bIns="0">
            <a:noAutofit/>
          </a:bodyPr>
          <a:lstStyle/>
          <a:p>
            <a:pPr>
              <a:lnSpc>
                <a:spcPts val="1750"/>
              </a:lnSpc>
              <a:spcAft>
                <a:spcPts val="0"/>
              </a:spcAft>
              <a:defRPr sz="1400" b="0">
                <a:solidFill>
                  <a:srgbClr val="C4C9D2"/>
                </a:solidFill>
                <a:latin typeface="Arial"/>
              </a:defRPr>
            </a:pPr>
            <a:r>
              <a:t>automatických kontrol v prohlížeči</a:t>
            </a:r>
          </a:p>
          <a:p>
            <a:pPr>
              <a:lnSpc>
                <a:spcPts val="1750"/>
              </a:lnSpc>
              <a:spcAft>
                <a:spcPts val="0"/>
              </a:spcAft>
              <a:defRPr sz="1400" b="0">
                <a:solidFill>
                  <a:srgbClr val="C4C9D2"/>
                </a:solidFill>
                <a:latin typeface="Arial"/>
              </a:defRPr>
            </a:pPr>
            <a:r>
              <a:t>prošlo bez chyby</a:t>
            </a:r>
          </a:p>
        </p:txBody>
      </p:sp>
      <p:sp>
        <p:nvSpPr>
          <p:cNvPr id="28" name="TextBox 27"/>
          <p:cNvSpPr txBox="1"/>
          <p:nvPr/>
        </p:nvSpPr>
        <p:spPr>
          <a:xfrm>
            <a:off x="4546600" y="4445000"/>
            <a:ext cx="3175000" cy="584200"/>
          </a:xfrm>
          <a:prstGeom prst="rect">
            <a:avLst/>
          </a:prstGeom>
          <a:noFill/>
        </p:spPr>
        <p:txBody>
          <a:bodyPr wrap="none" lIns="0" rIns="0" tIns="0" bIns="0">
            <a:noAutofit/>
          </a:bodyPr>
          <a:lstStyle/>
          <a:p>
            <a:pPr>
              <a:lnSpc>
                <a:spcPts val="4720"/>
              </a:lnSpc>
              <a:spcAft>
                <a:spcPts val="0"/>
              </a:spcAft>
              <a:defRPr sz="4000" b="1">
                <a:solidFill>
                  <a:srgbClr val="FF885D"/>
                </a:solidFill>
                <a:latin typeface="Arial"/>
              </a:defRPr>
            </a:pPr>
            <a:r>
              <a:t>13 × 7</a:t>
            </a:r>
          </a:p>
        </p:txBody>
      </p:sp>
      <p:sp>
        <p:nvSpPr>
          <p:cNvPr id="29" name="TextBox 28"/>
          <p:cNvSpPr txBox="1"/>
          <p:nvPr/>
        </p:nvSpPr>
        <p:spPr>
          <a:xfrm>
            <a:off x="4546600" y="5080000"/>
            <a:ext cx="3175000" cy="508000"/>
          </a:xfrm>
          <a:prstGeom prst="rect">
            <a:avLst/>
          </a:prstGeom>
          <a:noFill/>
        </p:spPr>
        <p:txBody>
          <a:bodyPr wrap="none" lIns="0" rIns="0" tIns="0" bIns="0">
            <a:noAutofit/>
          </a:bodyPr>
          <a:lstStyle/>
          <a:p>
            <a:pPr>
              <a:lnSpc>
                <a:spcPts val="1750"/>
              </a:lnSpc>
              <a:spcAft>
                <a:spcPts val="0"/>
              </a:spcAft>
              <a:defRPr sz="1400" b="0">
                <a:solidFill>
                  <a:srgbClr val="C4C9D2"/>
                </a:solidFill>
                <a:latin typeface="Arial"/>
              </a:defRPr>
            </a:pPr>
            <a:r>
              <a:t>stránek a velikostí obrazovky bez</a:t>
            </a:r>
          </a:p>
          <a:p>
            <a:pPr>
              <a:lnSpc>
                <a:spcPts val="1750"/>
              </a:lnSpc>
              <a:spcAft>
                <a:spcPts val="0"/>
              </a:spcAft>
              <a:defRPr sz="1400" b="0">
                <a:solidFill>
                  <a:srgbClr val="C4C9D2"/>
                </a:solidFill>
                <a:latin typeface="Arial"/>
              </a:defRPr>
            </a:pPr>
            <a:r>
              <a:t>přetékání</a:t>
            </a:r>
          </a:p>
        </p:txBody>
      </p:sp>
      <p:sp>
        <p:nvSpPr>
          <p:cNvPr id="30" name="TextBox 29"/>
          <p:cNvSpPr txBox="1"/>
          <p:nvPr/>
        </p:nvSpPr>
        <p:spPr>
          <a:xfrm>
            <a:off x="8128000" y="4445000"/>
            <a:ext cx="3175000" cy="584200"/>
          </a:xfrm>
          <a:prstGeom prst="rect">
            <a:avLst/>
          </a:prstGeom>
          <a:noFill/>
        </p:spPr>
        <p:txBody>
          <a:bodyPr wrap="none" lIns="0" rIns="0" tIns="0" bIns="0">
            <a:noAutofit/>
          </a:bodyPr>
          <a:lstStyle/>
          <a:p>
            <a:pPr>
              <a:lnSpc>
                <a:spcPts val="4720"/>
              </a:lnSpc>
              <a:spcAft>
                <a:spcPts val="0"/>
              </a:spcAft>
              <a:defRPr sz="4000" b="1">
                <a:solidFill>
                  <a:srgbClr val="FF885D"/>
                </a:solidFill>
                <a:latin typeface="Arial"/>
              </a:defRPr>
            </a:pPr>
            <a:r>
              <a:t>2 774 Kč</a:t>
            </a:r>
          </a:p>
        </p:txBody>
      </p:sp>
      <p:sp>
        <p:nvSpPr>
          <p:cNvPr id="31" name="TextBox 30"/>
          <p:cNvSpPr txBox="1"/>
          <p:nvPr/>
        </p:nvSpPr>
        <p:spPr>
          <a:xfrm>
            <a:off x="8128000" y="5080000"/>
            <a:ext cx="3175000" cy="508000"/>
          </a:xfrm>
          <a:prstGeom prst="rect">
            <a:avLst/>
          </a:prstGeom>
          <a:noFill/>
        </p:spPr>
        <p:txBody>
          <a:bodyPr wrap="none" lIns="0" rIns="0" tIns="0" bIns="0">
            <a:noAutofit/>
          </a:bodyPr>
          <a:lstStyle/>
          <a:p>
            <a:pPr>
              <a:lnSpc>
                <a:spcPts val="1750"/>
              </a:lnSpc>
              <a:spcAft>
                <a:spcPts val="0"/>
              </a:spcAft>
              <a:defRPr sz="1400" b="0">
                <a:solidFill>
                  <a:srgbClr val="C4C9D2"/>
                </a:solidFill>
                <a:latin typeface="Arial"/>
              </a:defRPr>
            </a:pPr>
            <a:r>
              <a:t>celková cena scénáře 3 přesně podle</a:t>
            </a:r>
          </a:p>
          <a:p>
            <a:pPr>
              <a:lnSpc>
                <a:spcPts val="1750"/>
              </a:lnSpc>
              <a:spcAft>
                <a:spcPts val="0"/>
              </a:spcAft>
              <a:defRPr sz="1400" b="0">
                <a:solidFill>
                  <a:srgbClr val="C4C9D2"/>
                </a:solidFill>
                <a:latin typeface="Arial"/>
              </a:defRPr>
            </a:pPr>
            <a:r>
              <a:t>specifikace</a:t>
            </a:r>
          </a:p>
        </p:txBody>
      </p:sp>
      <p:sp>
        <p:nvSpPr>
          <p:cNvPr id="32" name="TextBox 31"/>
          <p:cNvSpPr txBox="1"/>
          <p:nvPr/>
        </p:nvSpPr>
        <p:spPr>
          <a:xfrm>
            <a:off x="609600" y="6451600"/>
            <a:ext cx="7620000" cy="190500"/>
          </a:xfrm>
          <a:prstGeom prst="rect">
            <a:avLst/>
          </a:prstGeom>
          <a:noFill/>
        </p:spPr>
        <p:txBody>
          <a:bodyPr wrap="none" lIns="0" rIns="0" tIns="0" bIns="0">
            <a:noAutofit/>
          </a:bodyPr>
          <a:lstStyle/>
          <a:p>
            <a:pPr>
              <a:lnSpc>
                <a:spcPts val="1180"/>
              </a:lnSpc>
              <a:spcAft>
                <a:spcPts val="0"/>
              </a:spcAft>
              <a:defRPr sz="1000" b="0">
                <a:solidFill>
                  <a:srgbClr val="555C67"/>
                </a:solidFill>
                <a:latin typeface="Arial"/>
              </a:defRPr>
            </a:pPr>
            <a:r>
              <a:t>1.–3. srpna 2027 · Výstaviště Praha · Michal Ladra, Matěj Mlejnek, Jan Martínek</a:t>
            </a:r>
          </a:p>
        </p:txBody>
      </p:sp>
      <p:sp>
        <p:nvSpPr>
          <p:cNvPr id="33" name="TextBox 32"/>
          <p:cNvSpPr txBox="1"/>
          <p:nvPr/>
        </p:nvSpPr>
        <p:spPr>
          <a:xfrm>
            <a:off x="11074400" y="6438900"/>
            <a:ext cx="508000" cy="203200"/>
          </a:xfrm>
          <a:prstGeom prst="rect">
            <a:avLst/>
          </a:prstGeom>
          <a:noFill/>
        </p:spPr>
        <p:txBody>
          <a:bodyPr wrap="none" lIns="0" rIns="0" tIns="0" bIns="0">
            <a:noAutofit/>
          </a:bodyPr>
          <a:lstStyle/>
          <a:p>
            <a:pPr>
              <a:lnSpc>
                <a:spcPts val="1297"/>
              </a:lnSpc>
              <a:spcAft>
                <a:spcPts val="0"/>
              </a:spcAft>
              <a:defRPr sz="1100" b="1">
                <a:solidFill>
                  <a:srgbClr val="555C67"/>
                </a:solidFill>
                <a:latin typeface="Arial"/>
              </a:defRPr>
            </a:pPr>
            <a: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Prague Pulse Fest — cvičení 05: Verze připravená pro review</dc:title>
  <dc:subject>Webdesign: návrh, data, uživatelské scénáře a ověření Prague Pulse Fest.</dc:subject>
  <dc:creator>Michal Ladra, Matěj Mlejnek, Jan Martínek</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