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Připravili jsme interaktivní wireframe, který lze otevřít přímo v prohlížeči. Záměrně je jednodušší než finální vizuální návrh, abychom mohli hodnotit navigaci a práci s programem. Nejde o skutečně archivovanou dřívější verzi, ale o nově sestavený reprezentativní milník. Oproti specifikaci jsou nyní přímo průchozí dva scénáře: sestavení programu a vyhledání interpreta. Používáme stejná obsahová data, takže prototyp není jen několik vymyšlených karet.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Navržené funkce navazují přímo na potřeby ze specifikace. Kombinace dne a scény zkracuje program na relevantní část. Oblíbené umožní vrátit se k rozhodnutí a jsou uchované v prohlížeči. Hledání funguje podle části názvu bez ohledu na velikost písmen a diakritiku. Kontextový detail přidává další smysluplnou interakci: z interpreta vede ke koncertu. Samotnou navigaci ani dekorativní pohyb nepočítáme jako jednu ze tří požadovaných funkcí.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 mobil nezačínáme zmenšeným desktopem. Základ tvoří jeden sloupec, krátká navigace a jasné pořadí: identita, hledání, obsah. Filtry i tlačítka se mají zalamovat bez horizontálního posouvání celé stránky. Desktop používá tentýž obsah, jen nabízí více karet vedle sebe. Grid řeší obsahové seznamy a Flexbox navigaci. Už ve wireframu mají formuláře popisky a ovládání viditelný focus. To je levnější ověřit před dopracováním grafiky.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první krátké ukázce otevřeme Program, vybereme první srpen a River Stage. Na výsledku ověříme datum a scénu, ne pouze počet karet. Jeden koncert uložíme a zapneme filtr Jen uložené. Po obnovení je uložený výběr znovu k dispozici. Projdeme také stav bez výsledků, aby bylo jasné, jak filtr změnit. Konkrétní průchod a jeho výsledek popisuje přiložený prototypový validační záznam; test ve vývojovém prohlížeči neznamená test na všech zařízeních.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 druhé ukázce zadáme DARKZY do globálního hledání. Výsledky oddělují účinkující od souvisejících vystoupení. U DARKZY otevřeme dialog s žánrem, popisem a programem. Odkaz do programu zachová kontext interpreta. Kontrolujeme, že údaje pocházejí ze stejné základny a dialog lze zavřít klávesou Escape. Hledaný text se nevkládá jako spustitelné HTML. Návštěvník dostane srozumitelnou zprávu i tehdy, když hledání nic nenajde.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Prototyp ověřuje informační architekturu a dva klíčové průchody. Jeho datové minimum kontroluje builder a browserový test prochází filtry, hledání, uložení i dialog. AI pomohla s návrhem a kódem, ale nepovažujeme její návrh za důkaz použitelnosti. Přijali jsme jednoduché bloky, propojení dat a funkční stavy. Odmítli jsme předstírat nákup v nehotovém wireframu. Skutečné rozhovory s návštěvníky ani testování na fyzickém telefonu nebyly dodány. Další milník ukazuje finální vzhled a širší funkce.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51900" y="0"/>
            <a:ext cx="3340100" cy="68580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2476500" cy="350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6"/>
              </a:lnSpc>
              <a:spcAft>
                <a:spcPts val="0"/>
              </a:spcAft>
              <a:defRPr sz="1820" b="1">
                <a:solidFill>
                  <a:srgbClr val="F4F0E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"/>
            <a:ext cx="2476500" cy="513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46"/>
              </a:lnSpc>
              <a:spcAft>
                <a:spcPts val="0"/>
              </a:spcAft>
              <a:defRPr sz="2860" b="1">
                <a:solidFill>
                  <a:srgbClr val="F4F0E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041400"/>
            <a:ext cx="2641600" cy="196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7"/>
              </a:lnSpc>
              <a:spcAft>
                <a:spcPts val="0"/>
              </a:spcAft>
              <a:defRPr sz="845" b="1">
                <a:solidFill>
                  <a:srgbClr val="F4F0E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536700"/>
            <a:ext cx="7874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F0E7"/>
                </a:solidFill>
                <a:latin typeface="Arial"/>
              </a:defRPr>
            </a:pPr>
            <a:r>
              <a:t>CVIČENÍ 03 / PROTOTYP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2133600"/>
            <a:ext cx="8001000" cy="2095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830"/>
              </a:lnSpc>
              <a:spcAft>
                <a:spcPts val="0"/>
              </a:spcAft>
              <a:defRPr sz="5500" b="1">
                <a:solidFill>
                  <a:srgbClr val="F4F0E7"/>
                </a:solidFill>
                <a:latin typeface="Arial"/>
              </a:defRPr>
            </a:pPr>
            <a:r>
              <a:t>Nejdřív cesta.</a:t>
            </a:r>
          </a:p>
          <a:p>
            <a:pPr>
              <a:lnSpc>
                <a:spcPts val="5830"/>
              </a:lnSpc>
              <a:spcAft>
                <a:spcPts val="0"/>
              </a:spcAft>
              <a:defRPr sz="5500" b="1">
                <a:solidFill>
                  <a:srgbClr val="F4F0E7"/>
                </a:solidFill>
                <a:latin typeface="Arial"/>
              </a:defRPr>
            </a:pPr>
            <a:r>
              <a:t>Potom grafika.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724400"/>
            <a:ext cx="7747000" cy="1104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Aft>
                <a:spcPts val="0"/>
              </a:spcAft>
              <a:defRPr sz="1900" b="0">
                <a:solidFill>
                  <a:srgbClr val="F4F0E7"/>
                </a:solidFill>
                <a:latin typeface="Arial"/>
              </a:defRPr>
            </a:pPr>
            <a:r>
              <a:t>Spustitelný wireframe bez instalace.</a:t>
            </a:r>
          </a:p>
          <a:p>
            <a:pPr>
              <a:lnSpc>
                <a:spcPts val="2356"/>
              </a:lnSpc>
              <a:spcAft>
                <a:spcPts val="0"/>
              </a:spcAft>
              <a:defRPr sz="1900" b="0">
                <a:solidFill>
                  <a:srgbClr val="F4F0E7"/>
                </a:solidFill>
                <a:latin typeface="Arial"/>
              </a:defRPr>
            </a:pPr>
            <a:r>
              <a:t>Dva scénáře, čtyři obsahové části.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0200" y="889000"/>
            <a:ext cx="2667000" cy="961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067"/>
              </a:lnSpc>
              <a:spcAft>
                <a:spcPts val="0"/>
              </a:spcAft>
              <a:defRPr sz="5700" b="1">
                <a:solidFill>
                  <a:srgbClr val="181817"/>
                </a:solidFill>
                <a:latin typeface="Arial"/>
              </a:defRPr>
            </a:pPr>
            <a:r>
              <a:t>1—3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1765300"/>
            <a:ext cx="2667000" cy="551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4"/>
              </a:lnSpc>
              <a:spcAft>
                <a:spcPts val="0"/>
              </a:spcAft>
              <a:defRPr sz="3100" b="1">
                <a:solidFill>
                  <a:srgbClr val="181817"/>
                </a:solidFill>
                <a:latin typeface="Arial"/>
              </a:defRPr>
            </a:pPr>
            <a:r>
              <a:t>SRPEN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0200" y="2247900"/>
            <a:ext cx="2667000" cy="7249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208"/>
              </a:lnSpc>
              <a:spcAft>
                <a:spcPts val="0"/>
              </a:spcAft>
              <a:defRPr sz="4200" b="1">
                <a:solidFill>
                  <a:srgbClr val="181817"/>
                </a:solidFill>
                <a:latin typeface="Arial"/>
              </a:defRPr>
            </a:pPr>
            <a: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0" y="3619500"/>
            <a:ext cx="25400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Aft>
                <a:spcPts val="0"/>
              </a:spcAft>
              <a:defRPr sz="1700" b="1">
                <a:solidFill>
                  <a:srgbClr val="181817"/>
                </a:solidFill>
                <a:latin typeface="Arial"/>
              </a:defRPr>
            </a:pPr>
            <a:r>
              <a:t>PRAHA</a:t>
            </a:r>
          </a:p>
          <a:p>
            <a:pPr>
              <a:lnSpc>
                <a:spcPts val="2108"/>
              </a:lnSpc>
              <a:spcAft>
                <a:spcPts val="0"/>
              </a:spcAft>
              <a:defRPr sz="1700" b="1">
                <a:solidFill>
                  <a:srgbClr val="181817"/>
                </a:solidFill>
                <a:latin typeface="Arial"/>
              </a:defRPr>
            </a:pPr>
            <a:r>
              <a:t>VLTAVA PARK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200" y="5054600"/>
            <a:ext cx="2540000" cy="88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24"/>
              </a:lnSpc>
              <a:spcAft>
                <a:spcPts val="0"/>
              </a:spcAft>
              <a:defRPr sz="2600" b="1">
                <a:solidFill>
                  <a:srgbClr val="181817"/>
                </a:solidFill>
                <a:latin typeface="Arial"/>
              </a:defRPr>
            </a:pPr>
            <a:r>
              <a:t>CVIČENÍ</a:t>
            </a:r>
          </a:p>
          <a:p>
            <a:pPr>
              <a:lnSpc>
                <a:spcPts val="3224"/>
              </a:lnSpc>
              <a:spcAft>
                <a:spcPts val="0"/>
              </a:spcAft>
              <a:defRPr sz="2600" b="1">
                <a:solidFill>
                  <a:srgbClr val="18181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F4F0E7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F4F0E7"/>
                </a:solidFill>
                <a:latin typeface="Arial"/>
              </a:defRPr>
            </a:pPr>
            <a:r>
              <a:t>03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ČTYŘI FUNKCE, NE SLIDESHOW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Interaktivita řeší potřebu.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768600"/>
            <a:ext cx="35560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35560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30353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Zúžit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300" y="3733800"/>
            <a:ext cx="31242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Den + scéna společně mění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skutečný seznam vystoupení.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Méně nesouvisejících výsledků.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768600"/>
            <a:ext cx="35560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768600"/>
            <a:ext cx="35560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3900" y="30353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Uchovat výběr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3733800"/>
            <a:ext cx="31242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Přidání do osobního programu a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filtr „Jen uložené“.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Výběr zůstává po obnovení.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2600" y="2768600"/>
            <a:ext cx="35560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600" y="2768600"/>
            <a:ext cx="35560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8500" y="30353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Najít souvislosti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3733800"/>
            <a:ext cx="31242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Contains hledání + detail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interpreta + návazné koncerty.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Od názvu až k času a scéně.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03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RESPONZIVNÍ HIERARCHIE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Malý displej je výchozí.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768600"/>
            <a:ext cx="54483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Mobil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3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Jeden sloupec, zalamovaná navigace a filtry.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Název a hlavní akce před delším obsahem.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300" y="2768600"/>
            <a:ext cx="54483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3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62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62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Grid rozšíří seznam podle volného prostoru.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Stejná cesta a význam ovládání, více obsahu vedle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sebe.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5676900"/>
            <a:ext cx="111252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3"/>
              </a:lnSpc>
              <a:spcAft>
                <a:spcPts val="0"/>
              </a:spcAft>
              <a:defRPr sz="1320" b="0">
                <a:solidFill>
                  <a:srgbClr val="68635B"/>
                </a:solidFill>
                <a:latin typeface="Arial"/>
              </a:defRPr>
            </a:pPr>
            <a:r>
              <a:t>Pružné rozměry; popisky formulářů; viditelný focus; klávesnice.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03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ŽIVÝ PRŮCHOD PROGRAMEM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S1 / Od přehledu k výběru.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946400"/>
            <a:ext cx="2552700" cy="17653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F4F0E7"/>
                </a:solidFill>
                <a:latin typeface="Arial"/>
              </a:defRPr>
            </a:pPr>
            <a:r>
              <a:t>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F4F0E7"/>
                </a:solidFill>
                <a:latin typeface="Arial"/>
              </a:defRPr>
            </a:pPr>
            <a:r>
              <a:t>Otevřít přehled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8800" y="3657600"/>
            <a:ext cx="2921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181817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2946400"/>
            <a:ext cx="2552700" cy="17653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4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1. srpna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4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181817"/>
                </a:solidFill>
                <a:latin typeface="Arial"/>
              </a:defRPr>
            </a:pPr>
            <a:r>
              <a:t>Vybrat 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6300" y="3657600"/>
            <a:ext cx="2921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181817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2946400"/>
            <a:ext cx="2552700" cy="17653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9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River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181817"/>
                </a:solidFill>
                <a:latin typeface="Arial"/>
              </a:defRPr>
            </a:pPr>
            <a:r>
              <a:t>Zvolit scénu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3800" y="3657600"/>
            <a:ext cx="2921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181817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05900" y="2946400"/>
            <a:ext cx="2552700" cy="17653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64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64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Uloženo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64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181817"/>
                </a:solidFill>
                <a:latin typeface="Arial"/>
              </a:defRPr>
            </a:pPr>
            <a:r>
              <a:t>Obnovit stránku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52070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Aft>
                <a:spcPts val="0"/>
              </a:spcAft>
              <a:defRPr sz="1700" b="0">
                <a:solidFill>
                  <a:srgbClr val="181817"/>
                </a:solidFill>
                <a:latin typeface="Arial"/>
              </a:defRPr>
            </a:pPr>
            <a:r>
              <a:t>Zkontrolovat správný den, scénu a zachování oblíbené akce.</a:t>
            </a:r>
          </a:p>
          <a:p>
            <a:pPr>
              <a:lnSpc>
                <a:spcPts val="2108"/>
              </a:lnSpc>
              <a:spcAft>
                <a:spcPts val="0"/>
              </a:spcAft>
              <a:defRPr sz="1700" b="0">
                <a:solidFill>
                  <a:srgbClr val="181817"/>
                </a:solidFill>
                <a:latin typeface="Arial"/>
              </a:defRPr>
            </a:pPr>
            <a:r>
              <a:t>Prázdný výběr má srozumitelnou cestu zpět.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ŽIVÝ PRŮCHOD HLEDÁNÍM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S2 / Od hledání ke koncertu.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946400"/>
            <a:ext cx="2552700" cy="17653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F4F0E7"/>
                </a:solidFill>
                <a:latin typeface="Arial"/>
              </a:defRPr>
            </a:pPr>
            <a:r>
              <a:t>DARKZY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F4F0E7"/>
                </a:solidFill>
                <a:latin typeface="Arial"/>
              </a:defRPr>
            </a:pPr>
            <a:r>
              <a:t>Zadat dotaz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8800" y="3657600"/>
            <a:ext cx="2921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181817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2946400"/>
            <a:ext cx="2552700" cy="17653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4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4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Výsledky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4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181817"/>
                </a:solidFill>
                <a:latin typeface="Arial"/>
              </a:defRPr>
            </a:pPr>
            <a:r>
              <a:t>Najít interpreta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6300" y="3657600"/>
            <a:ext cx="2921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181817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2946400"/>
            <a:ext cx="2552700" cy="17653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9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DARKZY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9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181817"/>
                </a:solidFill>
                <a:latin typeface="Arial"/>
              </a:defRPr>
            </a:pPr>
            <a:r>
              <a:t>Otevřít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3800" y="3657600"/>
            <a:ext cx="2921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Aft>
                <a:spcPts val="0"/>
              </a:spcAft>
              <a:defRPr sz="2100" b="1">
                <a:solidFill>
                  <a:srgbClr val="181817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05900" y="2946400"/>
            <a:ext cx="2552700" cy="17653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6400" y="3162300"/>
            <a:ext cx="2133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5E2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6400" y="3568700"/>
            <a:ext cx="2133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Program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6400" y="4140200"/>
            <a:ext cx="21336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0">
                <a:solidFill>
                  <a:srgbClr val="181817"/>
                </a:solidFill>
                <a:latin typeface="Arial"/>
              </a:defRPr>
            </a:pPr>
            <a:r>
              <a:t>Zjistit čas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52070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Aft>
                <a:spcPts val="0"/>
              </a:spcAft>
              <a:defRPr sz="1700" b="0">
                <a:solidFill>
                  <a:srgbClr val="181817"/>
                </a:solidFill>
                <a:latin typeface="Arial"/>
              </a:defRPr>
            </a:pPr>
            <a:r>
              <a:t>Hledaný text se zobrazuje jako text.</a:t>
            </a:r>
          </a:p>
          <a:p>
            <a:pPr>
              <a:lnSpc>
                <a:spcPts val="2108"/>
              </a:lnSpc>
              <a:spcAft>
                <a:spcPts val="0"/>
              </a:spcAft>
              <a:defRPr sz="1700" b="0">
                <a:solidFill>
                  <a:srgbClr val="181817"/>
                </a:solidFill>
                <a:latin typeface="Arial"/>
              </a:defRPr>
            </a:pPr>
            <a:r>
              <a:t>Detail a vystoupení používají stejné datové vazby.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03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AI / VALIDACE / DALŠÍ KROK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Co prototyp ověřuje?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768600"/>
            <a:ext cx="54483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3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Ověřené hranice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3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Data a reference; funkční filtry; oblíbené; hledání;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dialog.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Záznam: prototype-validation.md.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300" y="2768600"/>
            <a:ext cx="54483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3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62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Zbývající práce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62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Finální grafika, jazykové mutace, vstupenky a PDF.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Wireframe nepředstírá hotovou objednávku.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5676900"/>
            <a:ext cx="111252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3"/>
              </a:lnSpc>
              <a:spcAft>
                <a:spcPts val="0"/>
              </a:spcAft>
              <a:defRPr sz="1320" b="0">
                <a:solidFill>
                  <a:srgbClr val="68635B"/>
                </a:solidFill>
                <a:latin typeface="Arial"/>
              </a:defRPr>
            </a:pPr>
            <a:r>
              <a:t>AI návrh byl upraven podle scénářů. Uživatelský výzkum není doložen.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Prague Pulse Fest — cvičení 03: UX návrh a interaktivní prototyp</dc:title>
  <dc:subject>Dodatečně připravený milník podle zadání; nikoli doložená historie semestru.</dc:subject>
  <dc:creator>Prague Pulse Fest — projektové podklady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